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306" r:id="rId5"/>
    <p:sldId id="307" r:id="rId6"/>
    <p:sldId id="308" r:id="rId7"/>
    <p:sldId id="260" r:id="rId8"/>
    <p:sldId id="309" r:id="rId9"/>
    <p:sldId id="310" r:id="rId10"/>
    <p:sldId id="265" r:id="rId11"/>
    <p:sldId id="311" r:id="rId12"/>
    <p:sldId id="312" r:id="rId13"/>
    <p:sldId id="313" r:id="rId14"/>
    <p:sldId id="269" r:id="rId15"/>
    <p:sldId id="270" r:id="rId16"/>
    <p:sldId id="271" r:id="rId17"/>
    <p:sldId id="272" r:id="rId18"/>
    <p:sldId id="315" r:id="rId19"/>
    <p:sldId id="316" r:id="rId20"/>
    <p:sldId id="317" r:id="rId21"/>
    <p:sldId id="318" r:id="rId22"/>
    <p:sldId id="319" r:id="rId23"/>
    <p:sldId id="320" r:id="rId24"/>
    <p:sldId id="321" r:id="rId25"/>
    <p:sldId id="281" r:id="rId26"/>
    <p:sldId id="282" r:id="rId27"/>
    <p:sldId id="283" r:id="rId28"/>
    <p:sldId id="284" r:id="rId29"/>
    <p:sldId id="322" r:id="rId30"/>
    <p:sldId id="323" r:id="rId31"/>
    <p:sldId id="324" r:id="rId32"/>
    <p:sldId id="325" r:id="rId33"/>
    <p:sldId id="290" r:id="rId34"/>
    <p:sldId id="327" r:id="rId35"/>
    <p:sldId id="326" r:id="rId36"/>
    <p:sldId id="292" r:id="rId37"/>
    <p:sldId id="296" r:id="rId38"/>
    <p:sldId id="297" r:id="rId39"/>
    <p:sldId id="328" r:id="rId40"/>
    <p:sldId id="300" r:id="rId41"/>
    <p:sldId id="301" r:id="rId42"/>
    <p:sldId id="302" r:id="rId43"/>
    <p:sldId id="303" r:id="rId44"/>
    <p:sldId id="304" r:id="rId45"/>
  </p:sldIdLst>
  <p:sldSz cx="13004800" cy="9753600"/>
  <p:notesSz cx="13004800" cy="97536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2" d="100"/>
          <a:sy n="52" d="100"/>
        </p:scale>
        <p:origin x="2022" y="9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03200" y="8978900"/>
            <a:ext cx="11137900" cy="774700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726754" y="0"/>
            <a:ext cx="5278045" cy="21590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2305684" y="254000"/>
            <a:ext cx="8393430" cy="5740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1" i="0">
                <a:solidFill>
                  <a:srgbClr val="275D90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950720" y="5462016"/>
            <a:ext cx="9103360" cy="24384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rgbClr val="FF0000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pc="-10" dirty="0"/>
              <a:t>Software</a:t>
            </a:r>
            <a:r>
              <a:rPr spc="-50" dirty="0"/>
              <a:t> </a:t>
            </a:r>
            <a:r>
              <a:rPr dirty="0"/>
              <a:t>for</a:t>
            </a:r>
            <a:r>
              <a:rPr spc="-45" dirty="0"/>
              <a:t> </a:t>
            </a:r>
            <a:r>
              <a:rPr dirty="0"/>
              <a:t>Optical</a:t>
            </a:r>
            <a:r>
              <a:rPr spc="-45" dirty="0"/>
              <a:t> </a:t>
            </a:r>
            <a:r>
              <a:rPr dirty="0"/>
              <a:t>Simulations,</a:t>
            </a:r>
            <a:r>
              <a:rPr spc="-45" dirty="0"/>
              <a:t> </a:t>
            </a:r>
            <a:r>
              <a:rPr spc="-20" dirty="0"/>
              <a:t>Trieste,</a:t>
            </a:r>
            <a:r>
              <a:rPr spc="-45" dirty="0"/>
              <a:t> </a:t>
            </a:r>
            <a:r>
              <a:rPr dirty="0"/>
              <a:t>October</a:t>
            </a:r>
            <a:r>
              <a:rPr spc="-45" dirty="0"/>
              <a:t> </a:t>
            </a:r>
            <a:r>
              <a:rPr dirty="0"/>
              <a:t>2016.</a:t>
            </a:r>
            <a:r>
              <a:rPr spc="-45" dirty="0"/>
              <a:t> </a:t>
            </a:r>
            <a:r>
              <a:rPr dirty="0"/>
              <a:t>Ruben</a:t>
            </a:r>
            <a:r>
              <a:rPr spc="-45" dirty="0"/>
              <a:t> </a:t>
            </a:r>
            <a:r>
              <a:rPr spc="-10" dirty="0"/>
              <a:t>Reininger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19/05/2026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rgbClr val="CBCBCB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1" i="0">
                <a:solidFill>
                  <a:srgbClr val="275D90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rgbClr val="FF0000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pc="-10" dirty="0"/>
              <a:t>Software</a:t>
            </a:r>
            <a:r>
              <a:rPr spc="-50" dirty="0"/>
              <a:t> </a:t>
            </a:r>
            <a:r>
              <a:rPr dirty="0"/>
              <a:t>for</a:t>
            </a:r>
            <a:r>
              <a:rPr spc="-45" dirty="0"/>
              <a:t> </a:t>
            </a:r>
            <a:r>
              <a:rPr dirty="0"/>
              <a:t>Optical</a:t>
            </a:r>
            <a:r>
              <a:rPr spc="-45" dirty="0"/>
              <a:t> </a:t>
            </a:r>
            <a:r>
              <a:rPr dirty="0"/>
              <a:t>Simulations,</a:t>
            </a:r>
            <a:r>
              <a:rPr spc="-45" dirty="0"/>
              <a:t> </a:t>
            </a:r>
            <a:r>
              <a:rPr spc="-20" dirty="0"/>
              <a:t>Trieste,</a:t>
            </a:r>
            <a:r>
              <a:rPr spc="-45" dirty="0"/>
              <a:t> </a:t>
            </a:r>
            <a:r>
              <a:rPr dirty="0"/>
              <a:t>October</a:t>
            </a:r>
            <a:r>
              <a:rPr spc="-45" dirty="0"/>
              <a:t> </a:t>
            </a:r>
            <a:r>
              <a:rPr dirty="0"/>
              <a:t>2016.</a:t>
            </a:r>
            <a:r>
              <a:rPr spc="-45" dirty="0"/>
              <a:t> </a:t>
            </a:r>
            <a:r>
              <a:rPr dirty="0"/>
              <a:t>Ruben</a:t>
            </a:r>
            <a:r>
              <a:rPr spc="-45" dirty="0"/>
              <a:t> </a:t>
            </a:r>
            <a:r>
              <a:rPr spc="-10" dirty="0"/>
              <a:t>Reininger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19/05/2026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rgbClr val="CBCBCB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1" i="0">
                <a:solidFill>
                  <a:srgbClr val="275D90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50240" y="2243328"/>
            <a:ext cx="5657088" cy="64373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697472" y="2243328"/>
            <a:ext cx="5657088" cy="64373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pc="-10" dirty="0"/>
              <a:t>Software</a:t>
            </a:r>
            <a:r>
              <a:rPr spc="-50" dirty="0"/>
              <a:t> </a:t>
            </a:r>
            <a:r>
              <a:rPr dirty="0"/>
              <a:t>for</a:t>
            </a:r>
            <a:r>
              <a:rPr spc="-45" dirty="0"/>
              <a:t> </a:t>
            </a:r>
            <a:r>
              <a:rPr dirty="0"/>
              <a:t>Optical</a:t>
            </a:r>
            <a:r>
              <a:rPr spc="-45" dirty="0"/>
              <a:t> </a:t>
            </a:r>
            <a:r>
              <a:rPr dirty="0"/>
              <a:t>Simulations,</a:t>
            </a:r>
            <a:r>
              <a:rPr spc="-45" dirty="0"/>
              <a:t> </a:t>
            </a:r>
            <a:r>
              <a:rPr spc="-20" dirty="0"/>
              <a:t>Trieste,</a:t>
            </a:r>
            <a:r>
              <a:rPr spc="-45" dirty="0"/>
              <a:t> </a:t>
            </a:r>
            <a:r>
              <a:rPr dirty="0"/>
              <a:t>October</a:t>
            </a:r>
            <a:r>
              <a:rPr spc="-45" dirty="0"/>
              <a:t> </a:t>
            </a:r>
            <a:r>
              <a:rPr dirty="0"/>
              <a:t>2016.</a:t>
            </a:r>
            <a:r>
              <a:rPr spc="-45" dirty="0"/>
              <a:t> </a:t>
            </a:r>
            <a:r>
              <a:rPr dirty="0"/>
              <a:t>Ruben</a:t>
            </a:r>
            <a:r>
              <a:rPr spc="-45" dirty="0"/>
              <a:t> </a:t>
            </a:r>
            <a:r>
              <a:rPr spc="-10" dirty="0"/>
              <a:t>Reininger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19/05/2026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rgbClr val="CBCBCB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1" i="0">
                <a:solidFill>
                  <a:srgbClr val="275D90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pc="-10" dirty="0"/>
              <a:t>Software</a:t>
            </a:r>
            <a:r>
              <a:rPr spc="-50" dirty="0"/>
              <a:t> </a:t>
            </a:r>
            <a:r>
              <a:rPr dirty="0"/>
              <a:t>for</a:t>
            </a:r>
            <a:r>
              <a:rPr spc="-45" dirty="0"/>
              <a:t> </a:t>
            </a:r>
            <a:r>
              <a:rPr dirty="0"/>
              <a:t>Optical</a:t>
            </a:r>
            <a:r>
              <a:rPr spc="-45" dirty="0"/>
              <a:t> </a:t>
            </a:r>
            <a:r>
              <a:rPr dirty="0"/>
              <a:t>Simulations,</a:t>
            </a:r>
            <a:r>
              <a:rPr spc="-45" dirty="0"/>
              <a:t> </a:t>
            </a:r>
            <a:r>
              <a:rPr spc="-20" dirty="0"/>
              <a:t>Trieste,</a:t>
            </a:r>
            <a:r>
              <a:rPr spc="-45" dirty="0"/>
              <a:t> </a:t>
            </a:r>
            <a:r>
              <a:rPr dirty="0"/>
              <a:t>October</a:t>
            </a:r>
            <a:r>
              <a:rPr spc="-45" dirty="0"/>
              <a:t> </a:t>
            </a:r>
            <a:r>
              <a:rPr dirty="0"/>
              <a:t>2016.</a:t>
            </a:r>
            <a:r>
              <a:rPr spc="-45" dirty="0"/>
              <a:t> </a:t>
            </a:r>
            <a:r>
              <a:rPr dirty="0"/>
              <a:t>Ruben</a:t>
            </a:r>
            <a:r>
              <a:rPr spc="-45" dirty="0"/>
              <a:t> </a:t>
            </a:r>
            <a:r>
              <a:rPr spc="-10" dirty="0"/>
              <a:t>Reininger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19/05/2026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rgbClr val="CBCBCB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pc="-10" dirty="0"/>
              <a:t>Software</a:t>
            </a:r>
            <a:r>
              <a:rPr spc="-50" dirty="0"/>
              <a:t> </a:t>
            </a:r>
            <a:r>
              <a:rPr dirty="0"/>
              <a:t>for</a:t>
            </a:r>
            <a:r>
              <a:rPr spc="-45" dirty="0"/>
              <a:t> </a:t>
            </a:r>
            <a:r>
              <a:rPr dirty="0"/>
              <a:t>Optical</a:t>
            </a:r>
            <a:r>
              <a:rPr spc="-45" dirty="0"/>
              <a:t> </a:t>
            </a:r>
            <a:r>
              <a:rPr dirty="0"/>
              <a:t>Simulations,</a:t>
            </a:r>
            <a:r>
              <a:rPr spc="-45" dirty="0"/>
              <a:t> </a:t>
            </a:r>
            <a:r>
              <a:rPr spc="-20" dirty="0"/>
              <a:t>Trieste,</a:t>
            </a:r>
            <a:r>
              <a:rPr spc="-45" dirty="0"/>
              <a:t> </a:t>
            </a:r>
            <a:r>
              <a:rPr dirty="0"/>
              <a:t>October</a:t>
            </a:r>
            <a:r>
              <a:rPr spc="-45" dirty="0"/>
              <a:t> </a:t>
            </a:r>
            <a:r>
              <a:rPr dirty="0"/>
              <a:t>2016.</a:t>
            </a:r>
            <a:r>
              <a:rPr spc="-45" dirty="0"/>
              <a:t> </a:t>
            </a:r>
            <a:r>
              <a:rPr dirty="0"/>
              <a:t>Ruben</a:t>
            </a:r>
            <a:r>
              <a:rPr spc="-45" dirty="0"/>
              <a:t> </a:t>
            </a:r>
            <a:r>
              <a:rPr spc="-10" dirty="0"/>
              <a:t>Reininger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19/05/2026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rgbClr val="CBCBCB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203200" y="8978900"/>
            <a:ext cx="11137900" cy="77470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158240" y="254000"/>
            <a:ext cx="10688319" cy="5740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1" i="0">
                <a:solidFill>
                  <a:srgbClr val="275D90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68938" y="2862995"/>
            <a:ext cx="6724015" cy="28854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rgbClr val="FF0000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409700" y="9356923"/>
            <a:ext cx="6002020" cy="2736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pc="-10" dirty="0"/>
              <a:t>Software</a:t>
            </a:r>
            <a:r>
              <a:rPr spc="-50" dirty="0"/>
              <a:t> </a:t>
            </a:r>
            <a:r>
              <a:rPr dirty="0"/>
              <a:t>for</a:t>
            </a:r>
            <a:r>
              <a:rPr spc="-45" dirty="0"/>
              <a:t> </a:t>
            </a:r>
            <a:r>
              <a:rPr dirty="0"/>
              <a:t>Optical</a:t>
            </a:r>
            <a:r>
              <a:rPr spc="-45" dirty="0"/>
              <a:t> </a:t>
            </a:r>
            <a:r>
              <a:rPr dirty="0"/>
              <a:t>Simulations,</a:t>
            </a:r>
            <a:r>
              <a:rPr spc="-45" dirty="0"/>
              <a:t> </a:t>
            </a:r>
            <a:r>
              <a:rPr spc="-20" dirty="0"/>
              <a:t>Trieste,</a:t>
            </a:r>
            <a:r>
              <a:rPr spc="-45" dirty="0"/>
              <a:t> </a:t>
            </a:r>
            <a:r>
              <a:rPr dirty="0"/>
              <a:t>October</a:t>
            </a:r>
            <a:r>
              <a:rPr spc="-45" dirty="0"/>
              <a:t> </a:t>
            </a:r>
            <a:r>
              <a:rPr dirty="0"/>
              <a:t>2016.</a:t>
            </a:r>
            <a:r>
              <a:rPr spc="-45" dirty="0"/>
              <a:t> </a:t>
            </a:r>
            <a:r>
              <a:rPr dirty="0"/>
              <a:t>Ruben</a:t>
            </a:r>
            <a:r>
              <a:rPr spc="-45" dirty="0"/>
              <a:t> </a:t>
            </a:r>
            <a:r>
              <a:rPr spc="-10" dirty="0"/>
              <a:t>Reininger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50240" y="9070848"/>
            <a:ext cx="2991104" cy="4876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19/05/2026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2115800" y="9368408"/>
            <a:ext cx="269240" cy="2425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0" i="0">
                <a:solidFill>
                  <a:srgbClr val="CBCBCB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25" dirty="0"/>
              <a:t>‹#›</a:t>
            </a:fld>
            <a:endParaRPr spc="-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i.org/10.1016/S0168-9002(97)00401-4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i.org/10.1016/S0168-9002(97)00401-4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7" Type="http://schemas.openxmlformats.org/officeDocument/2006/relationships/image" Target="../media/image2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9.jpg"/><Relationship Id="rId7" Type="http://schemas.openxmlformats.org/officeDocument/2006/relationships/image" Target="../media/image2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11" Type="http://schemas.openxmlformats.org/officeDocument/2006/relationships/image" Target="../media/image26.png"/><Relationship Id="rId5" Type="http://schemas.openxmlformats.org/officeDocument/2006/relationships/image" Target="../media/image21.png"/><Relationship Id="rId10" Type="http://schemas.openxmlformats.org/officeDocument/2006/relationships/image" Target="../media/image25.png"/><Relationship Id="rId4" Type="http://schemas.openxmlformats.org/officeDocument/2006/relationships/image" Target="../media/image20.png"/><Relationship Id="rId9" Type="http://schemas.openxmlformats.org/officeDocument/2006/relationships/image" Target="../media/image2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38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i.org/10.1016/S0168-9002(97)00401-4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43.png"/><Relationship Id="rId4" Type="http://schemas.openxmlformats.org/officeDocument/2006/relationships/image" Target="../media/image4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49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46.png"/><Relationship Id="rId4" Type="http://schemas.openxmlformats.org/officeDocument/2006/relationships/image" Target="../media/image4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7" Type="http://schemas.openxmlformats.org/officeDocument/2006/relationships/image" Target="../media/image53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6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oi.org/10.1016/j.nima.2004.09.007" TargetMode="Externa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1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9.jpg"/><Relationship Id="rId4" Type="http://schemas.openxmlformats.org/officeDocument/2006/relationships/image" Target="../media/image58.jp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jp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jpg"/><Relationship Id="rId5" Type="http://schemas.openxmlformats.org/officeDocument/2006/relationships/image" Target="../media/image65.jpg"/><Relationship Id="rId4" Type="http://schemas.openxmlformats.org/officeDocument/2006/relationships/image" Target="../media/image64.jp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jpg"/><Relationship Id="rId3" Type="http://schemas.openxmlformats.org/officeDocument/2006/relationships/image" Target="../media/image66.jpg"/><Relationship Id="rId7" Type="http://schemas.openxmlformats.org/officeDocument/2006/relationships/image" Target="../media/image58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jpg"/><Relationship Id="rId5" Type="http://schemas.openxmlformats.org/officeDocument/2006/relationships/image" Target="../media/image64.jpg"/><Relationship Id="rId4" Type="http://schemas.openxmlformats.org/officeDocument/2006/relationships/image" Target="../media/image67.jp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315700" y="9182100"/>
            <a:ext cx="1371600" cy="330200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0" y="9690100"/>
            <a:ext cx="12598400" cy="63500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36600" y="0"/>
            <a:ext cx="12268200" cy="1574800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1295400" y="1968500"/>
            <a:ext cx="10148570" cy="6654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144520" algn="l"/>
              </a:tabLst>
            </a:pPr>
            <a:r>
              <a:rPr sz="4200" dirty="0"/>
              <a:t>Advances</a:t>
            </a:r>
            <a:r>
              <a:rPr sz="4200" spc="-110" dirty="0"/>
              <a:t> </a:t>
            </a:r>
            <a:r>
              <a:rPr sz="4200" spc="-25" dirty="0"/>
              <a:t>in</a:t>
            </a:r>
            <a:r>
              <a:rPr sz="4200" dirty="0"/>
              <a:t>	Soft</a:t>
            </a:r>
            <a:r>
              <a:rPr sz="4200" spc="-55" dirty="0"/>
              <a:t> </a:t>
            </a:r>
            <a:r>
              <a:rPr sz="4200" spc="-20" dirty="0"/>
              <a:t>X-</a:t>
            </a:r>
            <a:r>
              <a:rPr sz="4200" dirty="0"/>
              <a:t>Ray</a:t>
            </a:r>
            <a:r>
              <a:rPr sz="4200" spc="-50" dirty="0"/>
              <a:t> </a:t>
            </a:r>
            <a:r>
              <a:rPr sz="4200" dirty="0"/>
              <a:t>beamlines</a:t>
            </a:r>
            <a:r>
              <a:rPr sz="4200" spc="-55" dirty="0"/>
              <a:t> </a:t>
            </a:r>
            <a:r>
              <a:rPr sz="4200" spc="-10" dirty="0"/>
              <a:t>design</a:t>
            </a:r>
            <a:endParaRPr sz="4200"/>
          </a:p>
        </p:txBody>
      </p:sp>
      <p:sp>
        <p:nvSpPr>
          <p:cNvPr id="6" name="object 6"/>
          <p:cNvSpPr txBox="1"/>
          <p:nvPr/>
        </p:nvSpPr>
        <p:spPr>
          <a:xfrm>
            <a:off x="850316" y="4127842"/>
            <a:ext cx="113030" cy="1088390"/>
          </a:xfrm>
          <a:prstGeom prst="rect">
            <a:avLst/>
          </a:prstGeom>
        </p:spPr>
        <p:txBody>
          <a:bodyPr vert="horz" wrap="square" lIns="0" tIns="2006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580"/>
              </a:spcBef>
            </a:pPr>
            <a:r>
              <a:rPr sz="2250" b="1" spc="-50" dirty="0">
                <a:solidFill>
                  <a:srgbClr val="275D90"/>
                </a:solidFill>
                <a:latin typeface="Calibri"/>
                <a:cs typeface="Calibri"/>
              </a:rPr>
              <a:t>-</a:t>
            </a:r>
            <a:endParaRPr sz="225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485"/>
              </a:spcBef>
            </a:pPr>
            <a:r>
              <a:rPr sz="2250" b="1" spc="-50" dirty="0">
                <a:solidFill>
                  <a:srgbClr val="275D90"/>
                </a:solidFill>
                <a:latin typeface="Calibri"/>
                <a:cs typeface="Calibri"/>
              </a:rPr>
              <a:t>-</a:t>
            </a:r>
            <a:endParaRPr sz="2250">
              <a:latin typeface="Calibri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193800" y="4178300"/>
            <a:ext cx="7115809" cy="1092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6700"/>
              </a:lnSpc>
              <a:spcBef>
                <a:spcPts val="95"/>
              </a:spcBef>
            </a:pPr>
            <a:r>
              <a:rPr sz="3000" b="1" spc="-10" dirty="0">
                <a:solidFill>
                  <a:srgbClr val="424242"/>
                </a:solidFill>
                <a:latin typeface="Calibri"/>
                <a:cs typeface="Calibri"/>
              </a:rPr>
              <a:t>Software</a:t>
            </a:r>
            <a:r>
              <a:rPr sz="3000" b="1" spc="-110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3000" b="1" dirty="0">
                <a:solidFill>
                  <a:srgbClr val="424242"/>
                </a:solidFill>
                <a:latin typeface="Calibri"/>
                <a:cs typeface="Calibri"/>
              </a:rPr>
              <a:t>for</a:t>
            </a:r>
            <a:r>
              <a:rPr sz="3000" b="1" spc="-105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3000" b="1" dirty="0">
                <a:solidFill>
                  <a:srgbClr val="424242"/>
                </a:solidFill>
                <a:latin typeface="Calibri"/>
                <a:cs typeface="Calibri"/>
              </a:rPr>
              <a:t>Optical</a:t>
            </a:r>
            <a:r>
              <a:rPr sz="3000" b="1" spc="-110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3000" b="1" dirty="0">
                <a:solidFill>
                  <a:srgbClr val="424242"/>
                </a:solidFill>
                <a:latin typeface="Calibri"/>
                <a:cs typeface="Calibri"/>
              </a:rPr>
              <a:t>Simulations</a:t>
            </a:r>
            <a:r>
              <a:rPr sz="3000" b="1" spc="-105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3000" b="1" spc="-10" dirty="0">
                <a:solidFill>
                  <a:srgbClr val="424242"/>
                </a:solidFill>
                <a:latin typeface="Calibri"/>
                <a:cs typeface="Calibri"/>
              </a:rPr>
              <a:t>WORKSHOP </a:t>
            </a:r>
            <a:r>
              <a:rPr sz="3000" b="1" spc="-25" dirty="0">
                <a:solidFill>
                  <a:srgbClr val="424242"/>
                </a:solidFill>
                <a:latin typeface="Calibri"/>
                <a:cs typeface="Calibri"/>
              </a:rPr>
              <a:t>Trieste</a:t>
            </a:r>
            <a:r>
              <a:rPr sz="3000" b="1" spc="-60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3000" b="1" dirty="0">
                <a:solidFill>
                  <a:srgbClr val="424242"/>
                </a:solidFill>
                <a:latin typeface="Calibri"/>
                <a:cs typeface="Calibri"/>
              </a:rPr>
              <a:t>October</a:t>
            </a:r>
            <a:r>
              <a:rPr sz="3000" b="1" spc="-60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3000" b="1" spc="-20" dirty="0">
                <a:solidFill>
                  <a:srgbClr val="424242"/>
                </a:solidFill>
                <a:latin typeface="Calibri"/>
                <a:cs typeface="Calibri"/>
              </a:rPr>
              <a:t>3-</a:t>
            </a:r>
            <a:r>
              <a:rPr sz="3000" b="1" dirty="0">
                <a:solidFill>
                  <a:srgbClr val="424242"/>
                </a:solidFill>
                <a:latin typeface="Calibri"/>
                <a:cs typeface="Calibri"/>
              </a:rPr>
              <a:t>7,</a:t>
            </a:r>
            <a:r>
              <a:rPr sz="3000" b="1" spc="-65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3000" b="1" spc="-20" dirty="0">
                <a:solidFill>
                  <a:srgbClr val="424242"/>
                </a:solidFill>
                <a:latin typeface="Calibri"/>
                <a:cs typeface="Calibri"/>
              </a:rPr>
              <a:t>2016</a:t>
            </a:r>
            <a:endParaRPr sz="3000">
              <a:latin typeface="Calibri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50316" y="6253087"/>
            <a:ext cx="113030" cy="1619885"/>
          </a:xfrm>
          <a:prstGeom prst="rect">
            <a:avLst/>
          </a:prstGeom>
        </p:spPr>
        <p:txBody>
          <a:bodyPr vert="horz" wrap="square" lIns="0" tIns="2006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580"/>
              </a:spcBef>
            </a:pPr>
            <a:r>
              <a:rPr sz="2250" spc="-50" dirty="0">
                <a:solidFill>
                  <a:srgbClr val="275D90"/>
                </a:solidFill>
                <a:latin typeface="Calibri"/>
                <a:cs typeface="Calibri"/>
              </a:rPr>
              <a:t>-</a:t>
            </a:r>
            <a:endParaRPr sz="225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485"/>
              </a:spcBef>
            </a:pPr>
            <a:r>
              <a:rPr sz="2250" spc="-50" dirty="0">
                <a:solidFill>
                  <a:srgbClr val="275D90"/>
                </a:solidFill>
                <a:latin typeface="Calibri"/>
                <a:cs typeface="Calibri"/>
              </a:rPr>
              <a:t>-</a:t>
            </a:r>
            <a:endParaRPr sz="225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485"/>
              </a:spcBef>
            </a:pPr>
            <a:r>
              <a:rPr sz="2250" spc="-50" dirty="0">
                <a:solidFill>
                  <a:srgbClr val="275D90"/>
                </a:solidFill>
                <a:latin typeface="Calibri"/>
                <a:cs typeface="Calibri"/>
              </a:rPr>
              <a:t>-</a:t>
            </a:r>
            <a:endParaRPr sz="225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193800" y="6311900"/>
            <a:ext cx="7527290" cy="1612900"/>
          </a:xfrm>
          <a:prstGeom prst="rect">
            <a:avLst/>
          </a:prstGeom>
        </p:spPr>
        <p:txBody>
          <a:bodyPr vert="horz" wrap="square" lIns="0" tIns="889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00"/>
              </a:spcBef>
            </a:pPr>
            <a:r>
              <a:rPr sz="3000" dirty="0">
                <a:solidFill>
                  <a:srgbClr val="424242"/>
                </a:solidFill>
                <a:latin typeface="Calibri"/>
                <a:cs typeface="Calibri"/>
              </a:rPr>
              <a:t>Ruben</a:t>
            </a:r>
            <a:r>
              <a:rPr sz="3000" spc="-5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3000" spc="-10" dirty="0">
                <a:solidFill>
                  <a:srgbClr val="424242"/>
                </a:solidFill>
                <a:latin typeface="Calibri"/>
                <a:cs typeface="Calibri"/>
              </a:rPr>
              <a:t>Reininger</a:t>
            </a:r>
            <a:endParaRPr sz="3000" dirty="0">
              <a:latin typeface="Calibri"/>
              <a:cs typeface="Calibri"/>
            </a:endParaRPr>
          </a:p>
          <a:p>
            <a:pPr marL="12700" marR="5080">
              <a:lnSpc>
                <a:spcPct val="113900"/>
              </a:lnSpc>
              <a:spcBef>
                <a:spcPts val="100"/>
              </a:spcBef>
            </a:pPr>
            <a:r>
              <a:rPr sz="3000" dirty="0">
                <a:solidFill>
                  <a:srgbClr val="424242"/>
                </a:solidFill>
                <a:latin typeface="Calibri"/>
                <a:cs typeface="Calibri"/>
              </a:rPr>
              <a:t>X</a:t>
            </a:r>
            <a:r>
              <a:rPr sz="3000" spc="-60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3000" dirty="0">
                <a:solidFill>
                  <a:srgbClr val="424242"/>
                </a:solidFill>
                <a:latin typeface="Calibri"/>
                <a:cs typeface="Calibri"/>
              </a:rPr>
              <a:t>ray</a:t>
            </a:r>
            <a:r>
              <a:rPr sz="3000" spc="-55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3000" dirty="0">
                <a:solidFill>
                  <a:srgbClr val="424242"/>
                </a:solidFill>
                <a:latin typeface="Calibri"/>
                <a:cs typeface="Calibri"/>
              </a:rPr>
              <a:t>Science</a:t>
            </a:r>
            <a:r>
              <a:rPr sz="3000" spc="-60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3000" dirty="0">
                <a:solidFill>
                  <a:srgbClr val="424242"/>
                </a:solidFill>
                <a:latin typeface="Calibri"/>
                <a:cs typeface="Calibri"/>
              </a:rPr>
              <a:t>Division</a:t>
            </a:r>
            <a:r>
              <a:rPr sz="3000" spc="-55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3000" dirty="0">
                <a:solidFill>
                  <a:srgbClr val="424242"/>
                </a:solidFill>
                <a:latin typeface="Calibri"/>
                <a:cs typeface="Calibri"/>
              </a:rPr>
              <a:t>/</a:t>
            </a:r>
            <a:r>
              <a:rPr sz="3000" spc="-60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3000" dirty="0">
                <a:solidFill>
                  <a:srgbClr val="424242"/>
                </a:solidFill>
                <a:latin typeface="Calibri"/>
                <a:cs typeface="Calibri"/>
              </a:rPr>
              <a:t>Advanced</a:t>
            </a:r>
            <a:r>
              <a:rPr sz="3000" spc="-55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3000" dirty="0">
                <a:solidFill>
                  <a:srgbClr val="424242"/>
                </a:solidFill>
                <a:latin typeface="Calibri"/>
                <a:cs typeface="Calibri"/>
              </a:rPr>
              <a:t>Photon</a:t>
            </a:r>
            <a:r>
              <a:rPr sz="3000" spc="-60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3000" spc="-10" dirty="0">
                <a:solidFill>
                  <a:srgbClr val="424242"/>
                </a:solidFill>
                <a:latin typeface="Calibri"/>
                <a:cs typeface="Calibri"/>
              </a:rPr>
              <a:t>Source </a:t>
            </a:r>
            <a:r>
              <a:rPr sz="3000" dirty="0">
                <a:solidFill>
                  <a:srgbClr val="424242"/>
                </a:solidFill>
                <a:latin typeface="Calibri"/>
                <a:cs typeface="Calibri"/>
              </a:rPr>
              <a:t>Argonne</a:t>
            </a:r>
            <a:r>
              <a:rPr sz="3000" spc="-125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3000" dirty="0">
                <a:solidFill>
                  <a:srgbClr val="424242"/>
                </a:solidFill>
                <a:latin typeface="Calibri"/>
                <a:cs typeface="Calibri"/>
              </a:rPr>
              <a:t>National</a:t>
            </a:r>
            <a:r>
              <a:rPr sz="3000" spc="-120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3000" spc="-10" dirty="0">
                <a:solidFill>
                  <a:srgbClr val="424242"/>
                </a:solidFill>
                <a:latin typeface="Calibri"/>
                <a:cs typeface="Calibri"/>
              </a:rPr>
              <a:t>Laboratory</a:t>
            </a:r>
            <a:endParaRPr sz="3000" dirty="0">
              <a:latin typeface="Calibri"/>
              <a:cs typeface="Calibr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4788941-C4B9-40EB-AA19-C9474DE284C0}"/>
              </a:ext>
            </a:extLst>
          </p:cNvPr>
          <p:cNvSpPr txBox="1"/>
          <p:nvPr/>
        </p:nvSpPr>
        <p:spPr>
          <a:xfrm>
            <a:off x="850316" y="8458200"/>
            <a:ext cx="998222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This version has been edited and adapted by Manuel Sanchez del Rio for:</a:t>
            </a:r>
            <a:br>
              <a:rPr lang="en-US" b="1" dirty="0">
                <a:solidFill>
                  <a:srgbClr val="FF0000"/>
                </a:solidFill>
              </a:rPr>
            </a:br>
            <a:r>
              <a:rPr lang="en-US" b="1" dirty="0">
                <a:solidFill>
                  <a:srgbClr val="FF0000"/>
                </a:solidFill>
              </a:rPr>
              <a:t>Beamline Optics Design and Simulation Workshop, DESY, Hamburg  19-22 May 2025 and </a:t>
            </a:r>
          </a:p>
          <a:p>
            <a:r>
              <a:rPr lang="en-US" b="1" dirty="0">
                <a:solidFill>
                  <a:srgbClr val="FF0000"/>
                </a:solidFill>
              </a:rPr>
              <a:t>ESRF-ENRICH OASYS School, Grenoble  20-22 May 2026</a:t>
            </a:r>
            <a:endParaRPr lang="en-GB" b="1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726754" y="0"/>
            <a:ext cx="5278045" cy="203200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505325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Outlook</a:t>
            </a: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39140" y="2436415"/>
            <a:ext cx="372070" cy="334863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39140" y="3074689"/>
            <a:ext cx="372070" cy="334863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39140" y="3712963"/>
            <a:ext cx="372070" cy="334863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39140" y="4351237"/>
            <a:ext cx="372070" cy="334863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39140" y="4989511"/>
            <a:ext cx="372070" cy="334863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1092200" y="2186939"/>
            <a:ext cx="6692265" cy="3225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8100"/>
              </a:lnSpc>
              <a:spcBef>
                <a:spcPts val="95"/>
              </a:spcBef>
            </a:pPr>
            <a:r>
              <a:rPr sz="3600" spc="-35" dirty="0">
                <a:solidFill>
                  <a:srgbClr val="424242"/>
                </a:solidFill>
                <a:latin typeface="Calibri"/>
                <a:cs typeface="Calibri"/>
              </a:rPr>
              <a:t>Toroidal</a:t>
            </a:r>
            <a:r>
              <a:rPr sz="3600" spc="-160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3600" dirty="0">
                <a:solidFill>
                  <a:srgbClr val="424242"/>
                </a:solidFill>
                <a:latin typeface="Calibri"/>
                <a:cs typeface="Calibri"/>
              </a:rPr>
              <a:t>Grating</a:t>
            </a:r>
            <a:r>
              <a:rPr sz="3600" spc="-155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3600" dirty="0">
                <a:solidFill>
                  <a:srgbClr val="424242"/>
                </a:solidFill>
                <a:latin typeface="Calibri"/>
                <a:cs typeface="Calibri"/>
              </a:rPr>
              <a:t>Optical</a:t>
            </a:r>
            <a:r>
              <a:rPr sz="3600" spc="-155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3600" dirty="0">
                <a:solidFill>
                  <a:srgbClr val="424242"/>
                </a:solidFill>
                <a:latin typeface="Calibri"/>
                <a:cs typeface="Calibri"/>
              </a:rPr>
              <a:t>Path</a:t>
            </a:r>
            <a:r>
              <a:rPr sz="3600" spc="-160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3600" spc="-10" dirty="0">
                <a:solidFill>
                  <a:srgbClr val="424242"/>
                </a:solidFill>
                <a:latin typeface="Calibri"/>
                <a:cs typeface="Calibri"/>
              </a:rPr>
              <a:t>Length Formulas</a:t>
            </a:r>
            <a:endParaRPr sz="3600">
              <a:latin typeface="Calibri"/>
              <a:cs typeface="Calibri"/>
            </a:endParaRPr>
          </a:p>
          <a:p>
            <a:pPr marL="12700" marR="4958715">
              <a:lnSpc>
                <a:spcPct val="115700"/>
              </a:lnSpc>
              <a:spcBef>
                <a:spcPts val="5"/>
              </a:spcBef>
            </a:pPr>
            <a:r>
              <a:rPr sz="3600" spc="-10" dirty="0">
                <a:solidFill>
                  <a:srgbClr val="424242"/>
                </a:solidFill>
                <a:latin typeface="Calibri"/>
                <a:cs typeface="Calibri"/>
              </a:rPr>
              <a:t>Formulas </a:t>
            </a:r>
            <a:r>
              <a:rPr sz="3600" spc="-25" dirty="0">
                <a:solidFill>
                  <a:srgbClr val="424242"/>
                </a:solidFill>
                <a:latin typeface="Calibri"/>
                <a:cs typeface="Calibri"/>
              </a:rPr>
              <a:t>SGM</a:t>
            </a:r>
            <a:endParaRPr sz="36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80"/>
              </a:spcBef>
            </a:pPr>
            <a:r>
              <a:rPr sz="3600" spc="-10" dirty="0">
                <a:solidFill>
                  <a:srgbClr val="424242"/>
                </a:solidFill>
                <a:latin typeface="Calibri"/>
                <a:cs typeface="Calibri"/>
              </a:rPr>
              <a:t>Vertical</a:t>
            </a:r>
            <a:r>
              <a:rPr sz="3600" spc="-175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3600" dirty="0">
                <a:solidFill>
                  <a:srgbClr val="424242"/>
                </a:solidFill>
                <a:latin typeface="Calibri"/>
                <a:cs typeface="Calibri"/>
              </a:rPr>
              <a:t>collimated</a:t>
            </a:r>
            <a:r>
              <a:rPr sz="3600" spc="-175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3600" spc="-25" dirty="0">
                <a:solidFill>
                  <a:srgbClr val="424242"/>
                </a:solidFill>
                <a:latin typeface="Calibri"/>
                <a:cs typeface="Calibri"/>
              </a:rPr>
              <a:t>PGM</a:t>
            </a:r>
            <a:endParaRPr sz="3600">
              <a:latin typeface="Calibri"/>
              <a:cs typeface="Calibri"/>
            </a:endParaRPr>
          </a:p>
        </p:txBody>
      </p:sp>
      <p:pic>
        <p:nvPicPr>
          <p:cNvPr id="10" name="object 1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39140" y="5627784"/>
            <a:ext cx="372070" cy="334863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39140" y="6266058"/>
            <a:ext cx="372070" cy="334863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1092200" y="5400040"/>
            <a:ext cx="4352290" cy="1295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5700"/>
              </a:lnSpc>
              <a:spcBef>
                <a:spcPts val="100"/>
              </a:spcBef>
            </a:pPr>
            <a:r>
              <a:rPr sz="3600" dirty="0">
                <a:solidFill>
                  <a:srgbClr val="424242"/>
                </a:solidFill>
                <a:latin typeface="Calibri"/>
                <a:cs typeface="Calibri"/>
              </a:rPr>
              <a:t>Follath</a:t>
            </a:r>
            <a:r>
              <a:rPr sz="3600" spc="-150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3600" dirty="0">
                <a:solidFill>
                  <a:srgbClr val="424242"/>
                </a:solidFill>
                <a:latin typeface="Calibri"/>
                <a:cs typeface="Calibri"/>
              </a:rPr>
              <a:t>collimated</a:t>
            </a:r>
            <a:r>
              <a:rPr sz="3600" spc="-150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3600" spc="-25" dirty="0">
                <a:solidFill>
                  <a:srgbClr val="424242"/>
                </a:solidFill>
                <a:latin typeface="Calibri"/>
                <a:cs typeface="Calibri"/>
              </a:rPr>
              <a:t>PGM </a:t>
            </a:r>
            <a:r>
              <a:rPr sz="3600" dirty="0">
                <a:solidFill>
                  <a:srgbClr val="424242"/>
                </a:solidFill>
                <a:latin typeface="Calibri"/>
                <a:cs typeface="Calibri"/>
              </a:rPr>
              <a:t>FVLS </a:t>
            </a:r>
            <a:r>
              <a:rPr sz="3600" spc="-25" dirty="0">
                <a:solidFill>
                  <a:srgbClr val="424242"/>
                </a:solidFill>
                <a:latin typeface="Calibri"/>
                <a:cs typeface="Calibri"/>
              </a:rPr>
              <a:t>PGM</a:t>
            </a:r>
            <a:endParaRPr sz="3600">
              <a:latin typeface="Calibri"/>
              <a:cs typeface="Calibri"/>
            </a:endParaRPr>
          </a:p>
        </p:txBody>
      </p:sp>
      <p:sp>
        <p:nvSpPr>
          <p:cNvPr id="14" name="object 1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pc="-10" dirty="0"/>
              <a:t>Software</a:t>
            </a:r>
            <a:r>
              <a:rPr spc="-50" dirty="0"/>
              <a:t> </a:t>
            </a:r>
            <a:r>
              <a:rPr dirty="0"/>
              <a:t>for</a:t>
            </a:r>
            <a:r>
              <a:rPr spc="-45" dirty="0"/>
              <a:t> </a:t>
            </a:r>
            <a:r>
              <a:rPr dirty="0"/>
              <a:t>Optical</a:t>
            </a:r>
            <a:r>
              <a:rPr spc="-45" dirty="0"/>
              <a:t> </a:t>
            </a:r>
            <a:r>
              <a:rPr dirty="0"/>
              <a:t>Simulations,</a:t>
            </a:r>
            <a:r>
              <a:rPr spc="-45" dirty="0"/>
              <a:t> </a:t>
            </a:r>
            <a:r>
              <a:rPr spc="-20" dirty="0"/>
              <a:t>Trieste,</a:t>
            </a:r>
            <a:r>
              <a:rPr spc="-45" dirty="0"/>
              <a:t> </a:t>
            </a:r>
            <a:r>
              <a:rPr dirty="0"/>
              <a:t>October</a:t>
            </a:r>
            <a:r>
              <a:rPr spc="-45" dirty="0"/>
              <a:t> </a:t>
            </a:r>
            <a:r>
              <a:rPr dirty="0"/>
              <a:t>2016.</a:t>
            </a:r>
            <a:r>
              <a:rPr spc="-45" dirty="0"/>
              <a:t> </a:t>
            </a:r>
            <a:r>
              <a:rPr dirty="0"/>
              <a:t>Ruben</a:t>
            </a:r>
            <a:r>
              <a:rPr spc="-45" dirty="0"/>
              <a:t> </a:t>
            </a:r>
            <a:r>
              <a:rPr spc="-10" dirty="0"/>
              <a:t>Reininger</a:t>
            </a: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25" dirty="0"/>
              <a:t>2</a:t>
            </a:fld>
            <a:endParaRPr spc="-25" dirty="0"/>
          </a:p>
        </p:txBody>
      </p:sp>
      <p:sp>
        <p:nvSpPr>
          <p:cNvPr id="16" name="object 16"/>
          <p:cNvSpPr txBox="1"/>
          <p:nvPr/>
        </p:nvSpPr>
        <p:spPr>
          <a:xfrm>
            <a:off x="1069339" y="9384967"/>
            <a:ext cx="72390" cy="211454"/>
          </a:xfrm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sz="1200" spc="-50" dirty="0">
                <a:solidFill>
                  <a:srgbClr val="275D90"/>
                </a:solidFill>
                <a:latin typeface="Calibri"/>
                <a:cs typeface="Calibri"/>
              </a:rPr>
              <a:t>-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6057899" y="5651500"/>
            <a:ext cx="6946899" cy="76431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Arial MT"/>
                <a:cs typeface="Arial MT"/>
              </a:rPr>
              <a:t>R.</a:t>
            </a:r>
            <a:r>
              <a:rPr sz="2400" spc="-55" dirty="0">
                <a:latin typeface="Arial MT"/>
                <a:cs typeface="Arial MT"/>
              </a:rPr>
              <a:t> </a:t>
            </a:r>
            <a:r>
              <a:rPr sz="2400" dirty="0">
                <a:latin typeface="Arial MT"/>
                <a:cs typeface="Arial MT"/>
              </a:rPr>
              <a:t>Follath</a:t>
            </a:r>
            <a:r>
              <a:rPr sz="2400" spc="-35" dirty="0">
                <a:latin typeface="Arial MT"/>
                <a:cs typeface="Arial MT"/>
              </a:rPr>
              <a:t> </a:t>
            </a:r>
            <a:r>
              <a:rPr sz="2400" dirty="0">
                <a:latin typeface="Arial MT"/>
                <a:cs typeface="Arial MT"/>
              </a:rPr>
              <a:t>and</a:t>
            </a:r>
            <a:r>
              <a:rPr sz="2400" spc="-40" dirty="0">
                <a:latin typeface="Arial MT"/>
                <a:cs typeface="Arial MT"/>
              </a:rPr>
              <a:t> </a:t>
            </a:r>
            <a:r>
              <a:rPr sz="2400" spc="-110" dirty="0">
                <a:latin typeface="Arial MT"/>
                <a:cs typeface="Arial MT"/>
              </a:rPr>
              <a:t>F.</a:t>
            </a:r>
            <a:r>
              <a:rPr sz="2400" spc="-40" dirty="0">
                <a:latin typeface="Arial MT"/>
                <a:cs typeface="Arial MT"/>
              </a:rPr>
              <a:t> </a:t>
            </a:r>
            <a:r>
              <a:rPr sz="2400" dirty="0">
                <a:latin typeface="Arial MT"/>
                <a:cs typeface="Arial MT"/>
              </a:rPr>
              <a:t>Senf,</a:t>
            </a:r>
            <a:r>
              <a:rPr sz="2400" spc="-40" dirty="0">
                <a:latin typeface="Arial MT"/>
                <a:cs typeface="Arial MT"/>
              </a:rPr>
              <a:t> </a:t>
            </a:r>
            <a:r>
              <a:rPr sz="2400" spc="-10" dirty="0">
                <a:latin typeface="Arial MT"/>
                <a:cs typeface="Arial MT"/>
              </a:rPr>
              <a:t>NIM</a:t>
            </a:r>
            <a:r>
              <a:rPr sz="2400" spc="-155" dirty="0">
                <a:latin typeface="Arial MT"/>
                <a:cs typeface="Arial MT"/>
              </a:rPr>
              <a:t> </a:t>
            </a:r>
            <a:r>
              <a:rPr sz="2400" dirty="0">
                <a:latin typeface="Arial MT"/>
                <a:cs typeface="Arial MT"/>
              </a:rPr>
              <a:t>A</a:t>
            </a:r>
            <a:r>
              <a:rPr sz="2400" spc="-165" dirty="0">
                <a:latin typeface="Arial MT"/>
                <a:cs typeface="Arial MT"/>
              </a:rPr>
              <a:t> </a:t>
            </a:r>
            <a:r>
              <a:rPr sz="2400" b="1" dirty="0">
                <a:latin typeface="Arial"/>
                <a:cs typeface="Arial"/>
              </a:rPr>
              <a:t>390</a:t>
            </a:r>
            <a:r>
              <a:rPr sz="2400" dirty="0">
                <a:latin typeface="Arial MT"/>
                <a:cs typeface="Arial MT"/>
              </a:rPr>
              <a:t>,</a:t>
            </a:r>
            <a:r>
              <a:rPr sz="2400" spc="-45" dirty="0">
                <a:latin typeface="Arial MT"/>
                <a:cs typeface="Arial MT"/>
              </a:rPr>
              <a:t> </a:t>
            </a:r>
            <a:r>
              <a:rPr sz="2400" dirty="0">
                <a:latin typeface="Arial MT"/>
                <a:cs typeface="Arial MT"/>
              </a:rPr>
              <a:t>388</a:t>
            </a:r>
            <a:r>
              <a:rPr sz="2400" spc="-35" dirty="0">
                <a:latin typeface="Arial MT"/>
                <a:cs typeface="Arial MT"/>
              </a:rPr>
              <a:t> </a:t>
            </a:r>
            <a:r>
              <a:rPr sz="2400" spc="-10" dirty="0">
                <a:latin typeface="Arial MT"/>
                <a:cs typeface="Arial MT"/>
              </a:rPr>
              <a:t>(1997)</a:t>
            </a:r>
            <a:endParaRPr lang="en-US" sz="2400" spc="-1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GB" sz="2400" dirty="0">
                <a:latin typeface="Arial MT"/>
                <a:cs typeface="Arial MT"/>
                <a:hlinkClick r:id="rId4"/>
              </a:rPr>
              <a:t>https://doi.org/10.1016/S0168-9002(97)00401-4</a:t>
            </a:r>
            <a:r>
              <a:rPr lang="en-GB" sz="2400" dirty="0">
                <a:latin typeface="Arial MT"/>
                <a:cs typeface="Arial MT"/>
              </a:rPr>
              <a:t> </a:t>
            </a:r>
            <a:endParaRPr sz="24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726754" y="0"/>
            <a:ext cx="5278045" cy="203200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505325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Outlook</a:t>
            </a: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39140" y="2436415"/>
            <a:ext cx="372070" cy="334863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39140" y="3074689"/>
            <a:ext cx="372070" cy="334863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39140" y="3712963"/>
            <a:ext cx="372070" cy="334863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39140" y="4351237"/>
            <a:ext cx="372070" cy="334863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39140" y="4989511"/>
            <a:ext cx="372070" cy="334863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1092200" y="2186939"/>
            <a:ext cx="6692265" cy="3225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18100"/>
              </a:lnSpc>
              <a:spcBef>
                <a:spcPts val="95"/>
              </a:spcBef>
            </a:pPr>
            <a:r>
              <a:rPr sz="3600" spc="-35" dirty="0">
                <a:solidFill>
                  <a:srgbClr val="424242"/>
                </a:solidFill>
                <a:latin typeface="Calibri"/>
                <a:cs typeface="Calibri"/>
              </a:rPr>
              <a:t>Toroidal</a:t>
            </a:r>
            <a:r>
              <a:rPr sz="3600" spc="-160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3600" dirty="0">
                <a:solidFill>
                  <a:srgbClr val="424242"/>
                </a:solidFill>
                <a:latin typeface="Calibri"/>
                <a:cs typeface="Calibri"/>
              </a:rPr>
              <a:t>Grating</a:t>
            </a:r>
            <a:r>
              <a:rPr sz="3600" spc="-155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3600" dirty="0">
                <a:solidFill>
                  <a:srgbClr val="424242"/>
                </a:solidFill>
                <a:latin typeface="Calibri"/>
                <a:cs typeface="Calibri"/>
              </a:rPr>
              <a:t>Optical</a:t>
            </a:r>
            <a:r>
              <a:rPr sz="3600" spc="-155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3600" dirty="0">
                <a:solidFill>
                  <a:srgbClr val="424242"/>
                </a:solidFill>
                <a:latin typeface="Calibri"/>
                <a:cs typeface="Calibri"/>
              </a:rPr>
              <a:t>Path</a:t>
            </a:r>
            <a:r>
              <a:rPr sz="3600" spc="-160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3600" spc="-10" dirty="0">
                <a:solidFill>
                  <a:srgbClr val="424242"/>
                </a:solidFill>
                <a:latin typeface="Calibri"/>
                <a:cs typeface="Calibri"/>
              </a:rPr>
              <a:t>Length Formulas</a:t>
            </a:r>
            <a:endParaRPr sz="3600">
              <a:latin typeface="Calibri"/>
              <a:cs typeface="Calibri"/>
            </a:endParaRPr>
          </a:p>
          <a:p>
            <a:pPr marL="12700" marR="4958715">
              <a:lnSpc>
                <a:spcPct val="115700"/>
              </a:lnSpc>
              <a:spcBef>
                <a:spcPts val="5"/>
              </a:spcBef>
            </a:pPr>
            <a:r>
              <a:rPr sz="3600" spc="-10" dirty="0">
                <a:solidFill>
                  <a:srgbClr val="424242"/>
                </a:solidFill>
                <a:latin typeface="Calibri"/>
                <a:cs typeface="Calibri"/>
              </a:rPr>
              <a:t>Formulas </a:t>
            </a:r>
            <a:r>
              <a:rPr sz="3600" spc="-25" dirty="0">
                <a:solidFill>
                  <a:srgbClr val="424242"/>
                </a:solidFill>
                <a:latin typeface="Calibri"/>
                <a:cs typeface="Calibri"/>
              </a:rPr>
              <a:t>SGM</a:t>
            </a:r>
            <a:endParaRPr sz="36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680"/>
              </a:spcBef>
            </a:pPr>
            <a:r>
              <a:rPr sz="3600" spc="-10" dirty="0">
                <a:solidFill>
                  <a:srgbClr val="424242"/>
                </a:solidFill>
                <a:latin typeface="Calibri"/>
                <a:cs typeface="Calibri"/>
              </a:rPr>
              <a:t>Vertical</a:t>
            </a:r>
            <a:r>
              <a:rPr sz="3600" spc="-175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3600" dirty="0">
                <a:solidFill>
                  <a:srgbClr val="424242"/>
                </a:solidFill>
                <a:latin typeface="Calibri"/>
                <a:cs typeface="Calibri"/>
              </a:rPr>
              <a:t>collimated</a:t>
            </a:r>
            <a:r>
              <a:rPr sz="3600" spc="-175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3600" spc="-25" dirty="0">
                <a:solidFill>
                  <a:srgbClr val="424242"/>
                </a:solidFill>
                <a:latin typeface="Calibri"/>
                <a:cs typeface="Calibri"/>
              </a:rPr>
              <a:t>PGM</a:t>
            </a:r>
            <a:endParaRPr sz="3600">
              <a:latin typeface="Calibri"/>
              <a:cs typeface="Calibri"/>
            </a:endParaRPr>
          </a:p>
        </p:txBody>
      </p:sp>
      <p:pic>
        <p:nvPicPr>
          <p:cNvPr id="10" name="object 1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39140" y="5627784"/>
            <a:ext cx="372070" cy="334863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39140" y="6266058"/>
            <a:ext cx="372070" cy="334863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1092200" y="5400040"/>
            <a:ext cx="4352290" cy="1295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5700"/>
              </a:lnSpc>
              <a:spcBef>
                <a:spcPts val="100"/>
              </a:spcBef>
            </a:pPr>
            <a:r>
              <a:rPr sz="3600" dirty="0">
                <a:solidFill>
                  <a:srgbClr val="424242"/>
                </a:solidFill>
                <a:latin typeface="Calibri"/>
                <a:cs typeface="Calibri"/>
              </a:rPr>
              <a:t>Follath</a:t>
            </a:r>
            <a:r>
              <a:rPr sz="3600" spc="-150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3600" dirty="0">
                <a:solidFill>
                  <a:srgbClr val="424242"/>
                </a:solidFill>
                <a:latin typeface="Calibri"/>
                <a:cs typeface="Calibri"/>
              </a:rPr>
              <a:t>collimated</a:t>
            </a:r>
            <a:r>
              <a:rPr sz="3600" spc="-150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3600" spc="-25" dirty="0">
                <a:solidFill>
                  <a:srgbClr val="424242"/>
                </a:solidFill>
                <a:latin typeface="Calibri"/>
                <a:cs typeface="Calibri"/>
              </a:rPr>
              <a:t>PGM </a:t>
            </a:r>
            <a:r>
              <a:rPr sz="3600" dirty="0">
                <a:solidFill>
                  <a:srgbClr val="424242"/>
                </a:solidFill>
                <a:latin typeface="Calibri"/>
                <a:cs typeface="Calibri"/>
              </a:rPr>
              <a:t>FVLS </a:t>
            </a:r>
            <a:r>
              <a:rPr sz="3600" spc="-25" dirty="0">
                <a:solidFill>
                  <a:srgbClr val="424242"/>
                </a:solidFill>
                <a:latin typeface="Calibri"/>
                <a:cs typeface="Calibri"/>
              </a:rPr>
              <a:t>PGM</a:t>
            </a:r>
            <a:endParaRPr sz="3600">
              <a:latin typeface="Calibri"/>
              <a:cs typeface="Calibri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pc="-10" dirty="0"/>
              <a:t>Software</a:t>
            </a:r>
            <a:r>
              <a:rPr spc="-50" dirty="0"/>
              <a:t> </a:t>
            </a:r>
            <a:r>
              <a:rPr dirty="0"/>
              <a:t>for</a:t>
            </a:r>
            <a:r>
              <a:rPr spc="-45" dirty="0"/>
              <a:t> </a:t>
            </a:r>
            <a:r>
              <a:rPr dirty="0"/>
              <a:t>Optical</a:t>
            </a:r>
            <a:r>
              <a:rPr spc="-45" dirty="0"/>
              <a:t> </a:t>
            </a:r>
            <a:r>
              <a:rPr dirty="0"/>
              <a:t>Simulations,</a:t>
            </a:r>
            <a:r>
              <a:rPr spc="-45" dirty="0"/>
              <a:t> </a:t>
            </a:r>
            <a:r>
              <a:rPr spc="-20" dirty="0"/>
              <a:t>Trieste,</a:t>
            </a:r>
            <a:r>
              <a:rPr spc="-45" dirty="0"/>
              <a:t> </a:t>
            </a:r>
            <a:r>
              <a:rPr dirty="0"/>
              <a:t>October</a:t>
            </a:r>
            <a:r>
              <a:rPr spc="-45" dirty="0"/>
              <a:t> </a:t>
            </a:r>
            <a:r>
              <a:rPr dirty="0"/>
              <a:t>2016.</a:t>
            </a:r>
            <a:r>
              <a:rPr spc="-45" dirty="0"/>
              <a:t> </a:t>
            </a:r>
            <a:r>
              <a:rPr dirty="0"/>
              <a:t>Ruben</a:t>
            </a:r>
            <a:r>
              <a:rPr spc="-45" dirty="0"/>
              <a:t> </a:t>
            </a:r>
            <a:r>
              <a:rPr spc="-10" dirty="0"/>
              <a:t>Reininger</a:t>
            </a:r>
          </a:p>
        </p:txBody>
      </p:sp>
      <p:sp>
        <p:nvSpPr>
          <p:cNvPr id="16" name="object 1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25" dirty="0"/>
              <a:t>3</a:t>
            </a:fld>
            <a:endParaRPr spc="-25" dirty="0"/>
          </a:p>
        </p:txBody>
      </p:sp>
      <p:sp>
        <p:nvSpPr>
          <p:cNvPr id="17" name="object 17"/>
          <p:cNvSpPr txBox="1"/>
          <p:nvPr/>
        </p:nvSpPr>
        <p:spPr>
          <a:xfrm>
            <a:off x="1069339" y="9384967"/>
            <a:ext cx="72390" cy="211454"/>
          </a:xfrm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sz="1200" spc="-50" dirty="0">
                <a:solidFill>
                  <a:srgbClr val="275D90"/>
                </a:solidFill>
                <a:latin typeface="Calibri"/>
                <a:cs typeface="Calibri"/>
              </a:rPr>
              <a:t>-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3" name="object 13"/>
          <p:cNvSpPr txBox="1"/>
          <p:nvPr/>
        </p:nvSpPr>
        <p:spPr>
          <a:xfrm rot="19320000">
            <a:off x="3397128" y="3556727"/>
            <a:ext cx="1394800" cy="3810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3000"/>
              </a:lnSpc>
            </a:pPr>
            <a:r>
              <a:rPr sz="3000" b="1" spc="-35" dirty="0">
                <a:solidFill>
                  <a:srgbClr val="FF2600"/>
                </a:solidFill>
                <a:latin typeface="Arial"/>
                <a:cs typeface="Arial"/>
              </a:rPr>
              <a:t>SORRY</a:t>
            </a:r>
            <a:endParaRPr sz="30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6057899" y="5651500"/>
            <a:ext cx="6692265" cy="11464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Arial MT"/>
                <a:cs typeface="Arial MT"/>
              </a:rPr>
              <a:t>R.</a:t>
            </a:r>
            <a:r>
              <a:rPr sz="2400" spc="-55" dirty="0">
                <a:latin typeface="Arial MT"/>
                <a:cs typeface="Arial MT"/>
              </a:rPr>
              <a:t> </a:t>
            </a:r>
            <a:r>
              <a:rPr sz="2400" dirty="0">
                <a:latin typeface="Arial MT"/>
                <a:cs typeface="Arial MT"/>
              </a:rPr>
              <a:t>Follath</a:t>
            </a:r>
            <a:r>
              <a:rPr sz="2400" spc="-35" dirty="0">
                <a:latin typeface="Arial MT"/>
                <a:cs typeface="Arial MT"/>
              </a:rPr>
              <a:t> </a:t>
            </a:r>
            <a:r>
              <a:rPr sz="2400" dirty="0">
                <a:latin typeface="Arial MT"/>
                <a:cs typeface="Arial MT"/>
              </a:rPr>
              <a:t>and</a:t>
            </a:r>
            <a:r>
              <a:rPr sz="2400" spc="-40" dirty="0">
                <a:latin typeface="Arial MT"/>
                <a:cs typeface="Arial MT"/>
              </a:rPr>
              <a:t> </a:t>
            </a:r>
            <a:r>
              <a:rPr sz="2400" spc="-110" dirty="0">
                <a:latin typeface="Arial MT"/>
                <a:cs typeface="Arial MT"/>
              </a:rPr>
              <a:t>F.</a:t>
            </a:r>
            <a:r>
              <a:rPr sz="2400" spc="-40" dirty="0">
                <a:latin typeface="Arial MT"/>
                <a:cs typeface="Arial MT"/>
              </a:rPr>
              <a:t> </a:t>
            </a:r>
            <a:r>
              <a:rPr sz="2400" dirty="0">
                <a:latin typeface="Arial MT"/>
                <a:cs typeface="Arial MT"/>
              </a:rPr>
              <a:t>Senf,</a:t>
            </a:r>
            <a:r>
              <a:rPr sz="2400" spc="-40" dirty="0">
                <a:latin typeface="Arial MT"/>
                <a:cs typeface="Arial MT"/>
              </a:rPr>
              <a:t> </a:t>
            </a:r>
            <a:r>
              <a:rPr sz="2400" spc="-10" dirty="0">
                <a:latin typeface="Arial MT"/>
                <a:cs typeface="Arial MT"/>
              </a:rPr>
              <a:t>NIM</a:t>
            </a:r>
            <a:r>
              <a:rPr sz="2400" spc="-155" dirty="0">
                <a:latin typeface="Arial MT"/>
                <a:cs typeface="Arial MT"/>
              </a:rPr>
              <a:t> </a:t>
            </a:r>
            <a:r>
              <a:rPr sz="2400" dirty="0">
                <a:latin typeface="Arial MT"/>
                <a:cs typeface="Arial MT"/>
              </a:rPr>
              <a:t>A</a:t>
            </a:r>
            <a:r>
              <a:rPr sz="2400" spc="-165" dirty="0">
                <a:latin typeface="Arial MT"/>
                <a:cs typeface="Arial MT"/>
              </a:rPr>
              <a:t> </a:t>
            </a:r>
            <a:r>
              <a:rPr sz="2400" b="1" dirty="0">
                <a:latin typeface="Arial"/>
                <a:cs typeface="Arial"/>
              </a:rPr>
              <a:t>390</a:t>
            </a:r>
            <a:r>
              <a:rPr sz="2400" dirty="0">
                <a:latin typeface="Arial MT"/>
                <a:cs typeface="Arial MT"/>
              </a:rPr>
              <a:t>,</a:t>
            </a:r>
            <a:r>
              <a:rPr sz="2400" spc="-45" dirty="0">
                <a:latin typeface="Arial MT"/>
                <a:cs typeface="Arial MT"/>
              </a:rPr>
              <a:t> </a:t>
            </a:r>
            <a:r>
              <a:rPr sz="2400" dirty="0">
                <a:latin typeface="Arial MT"/>
                <a:cs typeface="Arial MT"/>
              </a:rPr>
              <a:t>388</a:t>
            </a:r>
            <a:r>
              <a:rPr sz="2400" spc="-35" dirty="0">
                <a:latin typeface="Arial MT"/>
                <a:cs typeface="Arial MT"/>
              </a:rPr>
              <a:t> </a:t>
            </a:r>
            <a:r>
              <a:rPr sz="2400" spc="-10" dirty="0">
                <a:latin typeface="Arial MT"/>
                <a:cs typeface="Arial MT"/>
              </a:rPr>
              <a:t>(1997)</a:t>
            </a:r>
            <a:endParaRPr lang="en-US" sz="2400" spc="-1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400" dirty="0">
                <a:latin typeface="Arial MT"/>
                <a:cs typeface="Arial MT"/>
                <a:hlinkClick r:id="rId4"/>
              </a:rPr>
              <a:t>https://doi.org/10.1016/S0168-9002(97)00401-4</a:t>
            </a:r>
            <a:r>
              <a:rPr lang="en-US" sz="2400" dirty="0">
                <a:latin typeface="Arial MT"/>
                <a:cs typeface="Arial MT"/>
              </a:rPr>
              <a:t> </a:t>
            </a: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endParaRPr sz="24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726754" y="0"/>
            <a:ext cx="5278045" cy="215900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616200" y="254000"/>
            <a:ext cx="7766684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863725" algn="l"/>
                <a:tab pos="5205730" algn="l"/>
              </a:tabLst>
            </a:pPr>
            <a:r>
              <a:rPr spc="-10" dirty="0"/>
              <a:t>Toroidal</a:t>
            </a:r>
            <a:r>
              <a:rPr dirty="0"/>
              <a:t>	Grating</a:t>
            </a:r>
            <a:r>
              <a:rPr spc="-160" dirty="0"/>
              <a:t> </a:t>
            </a:r>
            <a:r>
              <a:rPr spc="-10" dirty="0"/>
              <a:t>Optical</a:t>
            </a:r>
            <a:r>
              <a:rPr dirty="0"/>
              <a:t>	Path</a:t>
            </a:r>
            <a:r>
              <a:rPr spc="-200" dirty="0"/>
              <a:t> </a:t>
            </a:r>
            <a:r>
              <a:rPr spc="-10" dirty="0"/>
              <a:t>Length</a:t>
            </a:r>
          </a:p>
        </p:txBody>
      </p:sp>
      <p:sp>
        <p:nvSpPr>
          <p:cNvPr id="44" name="object 44"/>
          <p:cNvSpPr txBox="1"/>
          <p:nvPr/>
        </p:nvSpPr>
        <p:spPr>
          <a:xfrm>
            <a:off x="228600" y="6983421"/>
            <a:ext cx="10300335" cy="194818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503929">
              <a:lnSpc>
                <a:spcPts val="1935"/>
              </a:lnSpc>
              <a:tabLst>
                <a:tab pos="4514850" algn="l"/>
                <a:tab pos="5149215" algn="l"/>
                <a:tab pos="6009640" algn="l"/>
                <a:tab pos="6644005" algn="l"/>
                <a:tab pos="7654925" algn="l"/>
                <a:tab pos="8289290" algn="l"/>
                <a:tab pos="9300210" algn="l"/>
              </a:tabLst>
            </a:pPr>
            <a:r>
              <a:rPr sz="2750" spc="-50" dirty="0">
                <a:latin typeface="Cambria"/>
                <a:cs typeface="Cambria"/>
              </a:rPr>
              <a:t>1</a:t>
            </a:r>
            <a:r>
              <a:rPr sz="2750" dirty="0">
                <a:latin typeface="Cambria"/>
                <a:cs typeface="Cambria"/>
              </a:rPr>
              <a:t>	</a:t>
            </a:r>
            <a:r>
              <a:rPr sz="2925" spc="97" baseline="-21367" dirty="0">
                <a:latin typeface="Calibri"/>
                <a:cs typeface="Calibri"/>
              </a:rPr>
              <a:t>2</a:t>
            </a:r>
            <a:r>
              <a:rPr sz="2925" baseline="-21367" dirty="0">
                <a:latin typeface="Calibri"/>
                <a:cs typeface="Calibri"/>
              </a:rPr>
              <a:t>	</a:t>
            </a:r>
            <a:r>
              <a:rPr sz="2750" spc="-50" dirty="0">
                <a:latin typeface="Cambria"/>
                <a:cs typeface="Cambria"/>
              </a:rPr>
              <a:t>1</a:t>
            </a:r>
            <a:r>
              <a:rPr sz="2750" dirty="0">
                <a:latin typeface="Cambria"/>
                <a:cs typeface="Cambria"/>
              </a:rPr>
              <a:t>	</a:t>
            </a:r>
            <a:r>
              <a:rPr sz="2925" spc="97" baseline="-21367" dirty="0">
                <a:latin typeface="Calibri"/>
                <a:cs typeface="Calibri"/>
              </a:rPr>
              <a:t>2</a:t>
            </a:r>
            <a:r>
              <a:rPr sz="2925" baseline="-21367" dirty="0">
                <a:latin typeface="Calibri"/>
                <a:cs typeface="Calibri"/>
              </a:rPr>
              <a:t>	</a:t>
            </a:r>
            <a:r>
              <a:rPr sz="2750" spc="-50" dirty="0">
                <a:latin typeface="Cambria"/>
                <a:cs typeface="Cambria"/>
              </a:rPr>
              <a:t>1</a:t>
            </a:r>
            <a:r>
              <a:rPr sz="2750" dirty="0">
                <a:latin typeface="Cambria"/>
                <a:cs typeface="Cambria"/>
              </a:rPr>
              <a:t>	</a:t>
            </a:r>
            <a:r>
              <a:rPr sz="2925" spc="97" baseline="-21367" dirty="0">
                <a:latin typeface="Calibri"/>
                <a:cs typeface="Calibri"/>
              </a:rPr>
              <a:t>3</a:t>
            </a:r>
            <a:r>
              <a:rPr sz="2925" baseline="-21367" dirty="0">
                <a:latin typeface="Calibri"/>
                <a:cs typeface="Calibri"/>
              </a:rPr>
              <a:t>	</a:t>
            </a:r>
            <a:r>
              <a:rPr sz="2750" spc="-50" dirty="0">
                <a:latin typeface="Cambria"/>
                <a:cs typeface="Cambria"/>
              </a:rPr>
              <a:t>1</a:t>
            </a:r>
            <a:r>
              <a:rPr sz="2750" dirty="0">
                <a:latin typeface="Cambria"/>
                <a:cs typeface="Cambria"/>
              </a:rPr>
              <a:t>	</a:t>
            </a:r>
            <a:r>
              <a:rPr sz="2925" spc="97" baseline="-21367" dirty="0">
                <a:latin typeface="Calibri"/>
                <a:cs typeface="Calibri"/>
              </a:rPr>
              <a:t>2</a:t>
            </a:r>
            <a:endParaRPr sz="2925" baseline="-21367">
              <a:latin typeface="Calibri"/>
              <a:cs typeface="Calibri"/>
            </a:endParaRPr>
          </a:p>
          <a:p>
            <a:pPr marL="527050">
              <a:lnSpc>
                <a:spcPts val="2595"/>
              </a:lnSpc>
              <a:tabLst>
                <a:tab pos="902335" algn="l"/>
                <a:tab pos="4752340" algn="l"/>
                <a:tab pos="6247130" algn="l"/>
                <a:tab pos="7892415" algn="l"/>
                <a:tab pos="9458960" algn="l"/>
              </a:tabLst>
            </a:pPr>
            <a:r>
              <a:rPr sz="2750" i="1" spc="280" dirty="0">
                <a:latin typeface="Cambria"/>
                <a:cs typeface="Cambria"/>
              </a:rPr>
              <a:t>F</a:t>
            </a:r>
            <a:r>
              <a:rPr sz="2750" i="1" dirty="0">
                <a:latin typeface="Cambria"/>
                <a:cs typeface="Cambria"/>
              </a:rPr>
              <a:t>	</a:t>
            </a:r>
            <a:r>
              <a:rPr sz="2750" spc="640" dirty="0">
                <a:latin typeface="Cambria"/>
                <a:cs typeface="Cambria"/>
              </a:rPr>
              <a:t>=</a:t>
            </a:r>
            <a:r>
              <a:rPr sz="2750" spc="170" dirty="0">
                <a:latin typeface="Cambria"/>
                <a:cs typeface="Cambria"/>
              </a:rPr>
              <a:t> </a:t>
            </a:r>
            <a:r>
              <a:rPr sz="2750" i="1" spc="190" dirty="0">
                <a:latin typeface="Cambria"/>
                <a:cs typeface="Cambria"/>
              </a:rPr>
              <a:t>F</a:t>
            </a:r>
            <a:r>
              <a:rPr sz="2925" spc="284" baseline="-11396" dirty="0">
                <a:latin typeface="Calibri"/>
                <a:cs typeface="Calibri"/>
              </a:rPr>
              <a:t>00</a:t>
            </a:r>
            <a:r>
              <a:rPr sz="2925" spc="472" baseline="-11396" dirty="0">
                <a:latin typeface="Calibri"/>
                <a:cs typeface="Calibri"/>
              </a:rPr>
              <a:t> </a:t>
            </a:r>
            <a:r>
              <a:rPr sz="2750" spc="640" dirty="0">
                <a:latin typeface="Cambria"/>
                <a:cs typeface="Cambria"/>
              </a:rPr>
              <a:t>+</a:t>
            </a:r>
            <a:r>
              <a:rPr sz="2750" spc="20" dirty="0">
                <a:latin typeface="Cambria"/>
                <a:cs typeface="Cambria"/>
              </a:rPr>
              <a:t> </a:t>
            </a:r>
            <a:r>
              <a:rPr sz="2750" i="1" spc="170" dirty="0">
                <a:latin typeface="Cambria"/>
                <a:cs typeface="Cambria"/>
              </a:rPr>
              <a:t>F</a:t>
            </a:r>
            <a:r>
              <a:rPr sz="2925" spc="254" baseline="-11396" dirty="0">
                <a:latin typeface="Calibri"/>
                <a:cs typeface="Calibri"/>
              </a:rPr>
              <a:t>01</a:t>
            </a:r>
            <a:r>
              <a:rPr sz="2750" i="1" spc="170" dirty="0">
                <a:latin typeface="Cambria"/>
                <a:cs typeface="Cambria"/>
              </a:rPr>
              <a:t>w</a:t>
            </a:r>
            <a:r>
              <a:rPr sz="2750" i="1" spc="90" dirty="0">
                <a:latin typeface="Cambria"/>
                <a:cs typeface="Cambria"/>
              </a:rPr>
              <a:t> </a:t>
            </a:r>
            <a:r>
              <a:rPr sz="2750" spc="640" dirty="0">
                <a:latin typeface="Cambria"/>
                <a:cs typeface="Cambria"/>
              </a:rPr>
              <a:t>+</a:t>
            </a:r>
            <a:r>
              <a:rPr sz="2750" spc="350" dirty="0">
                <a:latin typeface="Cambria"/>
                <a:cs typeface="Cambria"/>
              </a:rPr>
              <a:t> </a:t>
            </a:r>
            <a:r>
              <a:rPr sz="4125" spc="-217" baseline="-38383" dirty="0">
                <a:latin typeface="Cambria"/>
                <a:cs typeface="Cambria"/>
              </a:rPr>
              <a:t>2</a:t>
            </a:r>
            <a:r>
              <a:rPr sz="4125" spc="-405" baseline="-38383" dirty="0">
                <a:latin typeface="Cambria"/>
                <a:cs typeface="Cambria"/>
              </a:rPr>
              <a:t> </a:t>
            </a:r>
            <a:r>
              <a:rPr sz="2750" i="1" spc="150" dirty="0">
                <a:latin typeface="Cambria"/>
                <a:cs typeface="Cambria"/>
              </a:rPr>
              <a:t>F</a:t>
            </a:r>
            <a:r>
              <a:rPr sz="2925" spc="225" baseline="-11396" dirty="0">
                <a:latin typeface="Calibri"/>
                <a:cs typeface="Calibri"/>
              </a:rPr>
              <a:t>20</a:t>
            </a:r>
            <a:r>
              <a:rPr sz="2750" i="1" spc="150" dirty="0">
                <a:latin typeface="Cambria"/>
                <a:cs typeface="Cambria"/>
              </a:rPr>
              <a:t>w</a:t>
            </a:r>
            <a:r>
              <a:rPr sz="2750" i="1" dirty="0">
                <a:latin typeface="Cambria"/>
                <a:cs typeface="Cambria"/>
              </a:rPr>
              <a:t>	</a:t>
            </a:r>
            <a:r>
              <a:rPr sz="2750" spc="640" dirty="0">
                <a:latin typeface="Cambria"/>
                <a:cs typeface="Cambria"/>
              </a:rPr>
              <a:t>+</a:t>
            </a:r>
            <a:r>
              <a:rPr sz="2750" spc="350" dirty="0">
                <a:latin typeface="Cambria"/>
                <a:cs typeface="Cambria"/>
              </a:rPr>
              <a:t> </a:t>
            </a:r>
            <a:r>
              <a:rPr sz="4125" spc="-217" baseline="-38383" dirty="0">
                <a:latin typeface="Cambria"/>
                <a:cs typeface="Cambria"/>
              </a:rPr>
              <a:t>2</a:t>
            </a:r>
            <a:r>
              <a:rPr sz="4125" spc="-412" baseline="-38383" dirty="0">
                <a:latin typeface="Cambria"/>
                <a:cs typeface="Cambria"/>
              </a:rPr>
              <a:t> </a:t>
            </a:r>
            <a:r>
              <a:rPr sz="2750" i="1" spc="175" dirty="0">
                <a:latin typeface="Cambria"/>
                <a:cs typeface="Cambria"/>
              </a:rPr>
              <a:t>F</a:t>
            </a:r>
            <a:r>
              <a:rPr sz="2925" spc="262" baseline="-11396" dirty="0">
                <a:latin typeface="Calibri"/>
                <a:cs typeface="Calibri"/>
              </a:rPr>
              <a:t>02</a:t>
            </a:r>
            <a:r>
              <a:rPr sz="2750" i="1" spc="175" dirty="0">
                <a:latin typeface="Cambria"/>
                <a:cs typeface="Cambria"/>
              </a:rPr>
              <a:t>l</a:t>
            </a:r>
            <a:r>
              <a:rPr sz="2750" i="1" dirty="0">
                <a:latin typeface="Cambria"/>
                <a:cs typeface="Cambria"/>
              </a:rPr>
              <a:t>	</a:t>
            </a:r>
            <a:r>
              <a:rPr sz="2750" spc="640" dirty="0">
                <a:latin typeface="Cambria"/>
                <a:cs typeface="Cambria"/>
              </a:rPr>
              <a:t>+</a:t>
            </a:r>
            <a:r>
              <a:rPr sz="2750" spc="350" dirty="0">
                <a:latin typeface="Cambria"/>
                <a:cs typeface="Cambria"/>
              </a:rPr>
              <a:t> </a:t>
            </a:r>
            <a:r>
              <a:rPr sz="4125" spc="-217" baseline="-38383" dirty="0">
                <a:latin typeface="Cambria"/>
                <a:cs typeface="Cambria"/>
              </a:rPr>
              <a:t>2</a:t>
            </a:r>
            <a:r>
              <a:rPr sz="4125" spc="-412" baseline="-38383" dirty="0">
                <a:latin typeface="Cambria"/>
                <a:cs typeface="Cambria"/>
              </a:rPr>
              <a:t> </a:t>
            </a:r>
            <a:r>
              <a:rPr sz="2750" i="1" spc="150" dirty="0">
                <a:latin typeface="Cambria"/>
                <a:cs typeface="Cambria"/>
              </a:rPr>
              <a:t>F</a:t>
            </a:r>
            <a:r>
              <a:rPr sz="2925" spc="225" baseline="-11396" dirty="0">
                <a:latin typeface="Calibri"/>
                <a:cs typeface="Calibri"/>
              </a:rPr>
              <a:t>30</a:t>
            </a:r>
            <a:r>
              <a:rPr sz="2750" i="1" spc="150" dirty="0">
                <a:latin typeface="Cambria"/>
                <a:cs typeface="Cambria"/>
              </a:rPr>
              <a:t>w</a:t>
            </a:r>
            <a:r>
              <a:rPr sz="2750" i="1" dirty="0">
                <a:latin typeface="Cambria"/>
                <a:cs typeface="Cambria"/>
              </a:rPr>
              <a:t>	</a:t>
            </a:r>
            <a:r>
              <a:rPr sz="2750" spc="640" dirty="0">
                <a:latin typeface="Cambria"/>
                <a:cs typeface="Cambria"/>
              </a:rPr>
              <a:t>+</a:t>
            </a:r>
            <a:r>
              <a:rPr sz="2750" spc="350" dirty="0">
                <a:latin typeface="Cambria"/>
                <a:cs typeface="Cambria"/>
              </a:rPr>
              <a:t> </a:t>
            </a:r>
            <a:r>
              <a:rPr sz="4125" spc="-217" baseline="-38383" dirty="0">
                <a:latin typeface="Cambria"/>
                <a:cs typeface="Cambria"/>
              </a:rPr>
              <a:t>2</a:t>
            </a:r>
            <a:r>
              <a:rPr sz="4125" spc="-412" baseline="-38383" dirty="0">
                <a:latin typeface="Cambria"/>
                <a:cs typeface="Cambria"/>
              </a:rPr>
              <a:t> </a:t>
            </a:r>
            <a:r>
              <a:rPr sz="2750" i="1" spc="150" dirty="0">
                <a:latin typeface="Cambria"/>
                <a:cs typeface="Cambria"/>
              </a:rPr>
              <a:t>F</a:t>
            </a:r>
            <a:r>
              <a:rPr sz="2925" spc="225" baseline="-11396" dirty="0">
                <a:latin typeface="Calibri"/>
                <a:cs typeface="Calibri"/>
              </a:rPr>
              <a:t>21</a:t>
            </a:r>
            <a:r>
              <a:rPr sz="2750" i="1" spc="150" dirty="0">
                <a:latin typeface="Cambria"/>
                <a:cs typeface="Cambria"/>
              </a:rPr>
              <a:t>w</a:t>
            </a:r>
            <a:r>
              <a:rPr sz="2750" i="1" dirty="0">
                <a:latin typeface="Cambria"/>
                <a:cs typeface="Cambria"/>
              </a:rPr>
              <a:t>	</a:t>
            </a:r>
            <a:r>
              <a:rPr sz="2750" i="1" spc="85" dirty="0">
                <a:latin typeface="Cambria"/>
                <a:cs typeface="Cambria"/>
              </a:rPr>
              <a:t>l</a:t>
            </a:r>
            <a:r>
              <a:rPr sz="2750" i="1" spc="70" dirty="0">
                <a:latin typeface="Cambria"/>
                <a:cs typeface="Cambria"/>
              </a:rPr>
              <a:t> </a:t>
            </a:r>
            <a:r>
              <a:rPr sz="2750" spc="640" dirty="0">
                <a:latin typeface="Cambria"/>
                <a:cs typeface="Cambria"/>
              </a:rPr>
              <a:t>+</a:t>
            </a:r>
            <a:r>
              <a:rPr sz="2750" spc="15" dirty="0">
                <a:latin typeface="Cambria"/>
                <a:cs typeface="Cambria"/>
              </a:rPr>
              <a:t> </a:t>
            </a:r>
            <a:r>
              <a:rPr sz="2750" i="1" spc="195" dirty="0">
                <a:latin typeface="Cambria"/>
                <a:cs typeface="Cambria"/>
              </a:rPr>
              <a:t>...</a:t>
            </a:r>
            <a:endParaRPr sz="275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1955"/>
              </a:spcBef>
            </a:pPr>
            <a:endParaRPr sz="2750">
              <a:latin typeface="Cambria"/>
              <a:cs typeface="Cambria"/>
            </a:endParaRPr>
          </a:p>
          <a:p>
            <a:pPr marL="406400">
              <a:lnSpc>
                <a:spcPts val="2615"/>
              </a:lnSpc>
              <a:spcBef>
                <a:spcPts val="5"/>
              </a:spcBef>
            </a:pPr>
            <a:r>
              <a:rPr sz="2400" i="1" dirty="0">
                <a:solidFill>
                  <a:srgbClr val="060606"/>
                </a:solidFill>
                <a:latin typeface="Georgia"/>
                <a:cs typeface="Georgia"/>
              </a:rPr>
              <a:t>Fermat’s</a:t>
            </a:r>
            <a:r>
              <a:rPr sz="2400" i="1" spc="130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i="1" dirty="0">
                <a:solidFill>
                  <a:srgbClr val="060606"/>
                </a:solidFill>
                <a:latin typeface="Georgia"/>
                <a:cs typeface="Georgia"/>
              </a:rPr>
              <a:t>principle:</a:t>
            </a:r>
            <a:r>
              <a:rPr sz="2400" i="1" spc="120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dirty="0">
                <a:solidFill>
                  <a:srgbClr val="060606"/>
                </a:solidFill>
                <a:latin typeface="Georgia"/>
                <a:cs typeface="Georgia"/>
              </a:rPr>
              <a:t>Of</a:t>
            </a:r>
            <a:r>
              <a:rPr sz="2400" spc="135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dirty="0">
                <a:solidFill>
                  <a:srgbClr val="060606"/>
                </a:solidFill>
                <a:latin typeface="Georgia"/>
                <a:cs typeface="Georgia"/>
              </a:rPr>
              <a:t>all</a:t>
            </a:r>
            <a:r>
              <a:rPr sz="2400" spc="130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dirty="0">
                <a:solidFill>
                  <a:srgbClr val="060606"/>
                </a:solidFill>
                <a:latin typeface="Georgia"/>
                <a:cs typeface="Georgia"/>
              </a:rPr>
              <a:t>possible</a:t>
            </a:r>
            <a:r>
              <a:rPr sz="2400" spc="130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dirty="0">
                <a:solidFill>
                  <a:srgbClr val="060606"/>
                </a:solidFill>
                <a:latin typeface="Georgia"/>
                <a:cs typeface="Georgia"/>
              </a:rPr>
              <a:t>paths,</a:t>
            </a:r>
            <a:r>
              <a:rPr sz="2400" spc="130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spc="-10" dirty="0">
                <a:solidFill>
                  <a:srgbClr val="060606"/>
                </a:solidFill>
                <a:latin typeface="Georgia"/>
                <a:cs typeface="Georgia"/>
              </a:rPr>
              <a:t>light</a:t>
            </a:r>
            <a:endParaRPr sz="2400">
              <a:latin typeface="Georgia"/>
              <a:cs typeface="Georgia"/>
            </a:endParaRPr>
          </a:p>
          <a:p>
            <a:pPr>
              <a:lnSpc>
                <a:spcPts val="3010"/>
              </a:lnSpc>
              <a:tabLst>
                <a:tab pos="7905115" algn="l"/>
                <a:tab pos="8451215" algn="l"/>
              </a:tabLst>
            </a:pPr>
            <a:r>
              <a:rPr sz="2400" dirty="0">
                <a:solidFill>
                  <a:srgbClr val="060606"/>
                </a:solidFill>
                <a:latin typeface="Georgia"/>
                <a:cs typeface="Georgia"/>
              </a:rPr>
              <a:t>takes</a:t>
            </a:r>
            <a:r>
              <a:rPr sz="2400" spc="-55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dirty="0">
                <a:solidFill>
                  <a:srgbClr val="060606"/>
                </a:solidFill>
                <a:latin typeface="Georgia"/>
                <a:cs typeface="Georgia"/>
              </a:rPr>
              <a:t>the</a:t>
            </a:r>
            <a:r>
              <a:rPr sz="2400" spc="-55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dirty="0">
                <a:solidFill>
                  <a:srgbClr val="060606"/>
                </a:solidFill>
                <a:latin typeface="Georgia"/>
                <a:cs typeface="Georgia"/>
              </a:rPr>
              <a:t>path</a:t>
            </a:r>
            <a:r>
              <a:rPr sz="2400" spc="-55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dirty="0">
                <a:solidFill>
                  <a:srgbClr val="060606"/>
                </a:solidFill>
                <a:latin typeface="Georgia"/>
                <a:cs typeface="Georgia"/>
              </a:rPr>
              <a:t>which</a:t>
            </a:r>
            <a:r>
              <a:rPr sz="2400" spc="-55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dirty="0">
                <a:solidFill>
                  <a:srgbClr val="060606"/>
                </a:solidFill>
                <a:latin typeface="Georgia"/>
                <a:cs typeface="Georgia"/>
              </a:rPr>
              <a:t>requires</a:t>
            </a:r>
            <a:r>
              <a:rPr sz="2400" spc="-55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dirty="0">
                <a:solidFill>
                  <a:srgbClr val="060606"/>
                </a:solidFill>
                <a:latin typeface="Georgia"/>
                <a:cs typeface="Georgia"/>
              </a:rPr>
              <a:t>the</a:t>
            </a:r>
            <a:r>
              <a:rPr sz="2400" spc="-50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i="1" dirty="0">
                <a:solidFill>
                  <a:srgbClr val="060606"/>
                </a:solidFill>
                <a:latin typeface="Georgia"/>
                <a:cs typeface="Georgia"/>
              </a:rPr>
              <a:t>shortest</a:t>
            </a:r>
            <a:r>
              <a:rPr sz="2400" i="1" spc="-50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i="1" spc="-10" dirty="0">
                <a:solidFill>
                  <a:srgbClr val="060606"/>
                </a:solidFill>
                <a:latin typeface="Georgia"/>
                <a:cs typeface="Georgia"/>
              </a:rPr>
              <a:t>time</a:t>
            </a:r>
            <a:r>
              <a:rPr sz="2400" spc="-10" dirty="0">
                <a:solidFill>
                  <a:srgbClr val="060606"/>
                </a:solidFill>
                <a:latin typeface="Georgia"/>
                <a:cs typeface="Georgia"/>
              </a:rPr>
              <a:t>.</a:t>
            </a:r>
            <a:r>
              <a:rPr sz="2400" dirty="0">
                <a:solidFill>
                  <a:srgbClr val="060606"/>
                </a:solidFill>
                <a:latin typeface="Georgia"/>
                <a:cs typeface="Georgia"/>
              </a:rPr>
              <a:t>	</a:t>
            </a:r>
            <a:r>
              <a:rPr sz="4125" i="1" spc="187" baseline="31313" dirty="0">
                <a:latin typeface="Cambria"/>
                <a:cs typeface="Cambria"/>
              </a:rPr>
              <a:t>δF</a:t>
            </a:r>
            <a:r>
              <a:rPr sz="4125" i="1" baseline="31313" dirty="0">
                <a:latin typeface="Cambria"/>
                <a:cs typeface="Cambria"/>
              </a:rPr>
              <a:t>	</a:t>
            </a:r>
            <a:r>
              <a:rPr sz="4125" spc="960" baseline="31313" dirty="0">
                <a:latin typeface="Cambria"/>
                <a:cs typeface="Cambria"/>
              </a:rPr>
              <a:t>=</a:t>
            </a:r>
            <a:r>
              <a:rPr sz="4125" spc="254" baseline="31313" dirty="0">
                <a:latin typeface="Cambria"/>
                <a:cs typeface="Cambria"/>
              </a:rPr>
              <a:t> </a:t>
            </a:r>
            <a:r>
              <a:rPr sz="4125" spc="-75" baseline="31313" dirty="0">
                <a:latin typeface="Cambria"/>
                <a:cs typeface="Cambria"/>
              </a:rPr>
              <a:t>0</a:t>
            </a:r>
            <a:endParaRPr sz="4125" baseline="31313">
              <a:latin typeface="Cambria"/>
              <a:cs typeface="Cambria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150798" y="6737415"/>
            <a:ext cx="10561320" cy="2317115"/>
            <a:chOff x="150798" y="6737415"/>
            <a:chExt cx="10561320" cy="2317115"/>
          </a:xfrm>
        </p:grpSpPr>
        <p:sp>
          <p:nvSpPr>
            <p:cNvPr id="49" name="object 49"/>
            <p:cNvSpPr/>
            <p:nvPr/>
          </p:nvSpPr>
          <p:spPr>
            <a:xfrm>
              <a:off x="163498" y="6750115"/>
              <a:ext cx="10535920" cy="2291715"/>
            </a:xfrm>
            <a:custGeom>
              <a:avLst/>
              <a:gdLst/>
              <a:ahLst/>
              <a:cxnLst/>
              <a:rect l="l" t="t" r="r" b="b"/>
              <a:pathLst>
                <a:path w="10535920" h="2291715">
                  <a:moveTo>
                    <a:pt x="0" y="0"/>
                  </a:moveTo>
                  <a:lnTo>
                    <a:pt x="10535801" y="0"/>
                  </a:lnTo>
                  <a:lnTo>
                    <a:pt x="10535801" y="2291322"/>
                  </a:lnTo>
                  <a:lnTo>
                    <a:pt x="0" y="229132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163498" y="6750115"/>
              <a:ext cx="10535920" cy="2291715"/>
            </a:xfrm>
            <a:custGeom>
              <a:avLst/>
              <a:gdLst/>
              <a:ahLst/>
              <a:cxnLst/>
              <a:rect l="l" t="t" r="r" b="b"/>
              <a:pathLst>
                <a:path w="10535920" h="2291715">
                  <a:moveTo>
                    <a:pt x="0" y="0"/>
                  </a:moveTo>
                  <a:lnTo>
                    <a:pt x="10535801" y="0"/>
                  </a:lnTo>
                  <a:lnTo>
                    <a:pt x="10535801" y="2291322"/>
                  </a:lnTo>
                  <a:lnTo>
                    <a:pt x="0" y="2291322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1" name="object 51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pc="-10" dirty="0"/>
              <a:t>Software</a:t>
            </a:r>
            <a:r>
              <a:rPr spc="-50" dirty="0"/>
              <a:t> </a:t>
            </a:r>
            <a:r>
              <a:rPr dirty="0"/>
              <a:t>for</a:t>
            </a:r>
            <a:r>
              <a:rPr spc="-45" dirty="0"/>
              <a:t> </a:t>
            </a:r>
            <a:r>
              <a:rPr dirty="0"/>
              <a:t>Optical</a:t>
            </a:r>
            <a:r>
              <a:rPr spc="-45" dirty="0"/>
              <a:t> </a:t>
            </a:r>
            <a:r>
              <a:rPr dirty="0"/>
              <a:t>Simulations,</a:t>
            </a:r>
            <a:r>
              <a:rPr spc="-45" dirty="0"/>
              <a:t> </a:t>
            </a:r>
            <a:r>
              <a:rPr spc="-20" dirty="0"/>
              <a:t>Trieste,</a:t>
            </a:r>
            <a:r>
              <a:rPr spc="-45" dirty="0"/>
              <a:t> </a:t>
            </a:r>
            <a:r>
              <a:rPr dirty="0"/>
              <a:t>October</a:t>
            </a:r>
            <a:r>
              <a:rPr spc="-45" dirty="0"/>
              <a:t> </a:t>
            </a:r>
            <a:r>
              <a:rPr dirty="0"/>
              <a:t>2016.</a:t>
            </a:r>
            <a:r>
              <a:rPr spc="-45" dirty="0"/>
              <a:t> </a:t>
            </a:r>
            <a:r>
              <a:rPr dirty="0"/>
              <a:t>Ruben</a:t>
            </a:r>
            <a:r>
              <a:rPr spc="-45" dirty="0"/>
              <a:t> </a:t>
            </a:r>
            <a:r>
              <a:rPr spc="-10" dirty="0"/>
              <a:t>Reininger</a:t>
            </a:r>
          </a:p>
        </p:txBody>
      </p:sp>
      <p:sp>
        <p:nvSpPr>
          <p:cNvPr id="52" name="object 5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25" dirty="0"/>
              <a:t>4</a:t>
            </a:fld>
            <a:endParaRPr spc="-25" dirty="0"/>
          </a:p>
        </p:txBody>
      </p:sp>
      <p:sp>
        <p:nvSpPr>
          <p:cNvPr id="53" name="object 53"/>
          <p:cNvSpPr txBox="1"/>
          <p:nvPr/>
        </p:nvSpPr>
        <p:spPr>
          <a:xfrm>
            <a:off x="1069339" y="9384967"/>
            <a:ext cx="72390" cy="211454"/>
          </a:xfrm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sz="1200" spc="-50" dirty="0">
                <a:solidFill>
                  <a:srgbClr val="275D90"/>
                </a:solidFill>
                <a:latin typeface="Calibri"/>
                <a:cs typeface="Calibri"/>
              </a:rPr>
              <a:t>-</a:t>
            </a:r>
            <a:endParaRPr sz="1200">
              <a:latin typeface="Calibri"/>
              <a:cs typeface="Calibri"/>
            </a:endParaRPr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6DCB511B-169D-4578-A8EF-33178BFB98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234" y="1371600"/>
            <a:ext cx="11688331" cy="7282664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3D696A5-0E24-4224-A3E9-A3C05C2D1E2B}"/>
              </a:ext>
            </a:extLst>
          </p:cNvPr>
          <p:cNvSpPr/>
          <p:nvPr/>
        </p:nvSpPr>
        <p:spPr>
          <a:xfrm>
            <a:off x="7874000" y="3352800"/>
            <a:ext cx="4648200" cy="1905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2B63330-E17A-42EB-883C-E08FEA24ED90}"/>
              </a:ext>
            </a:extLst>
          </p:cNvPr>
          <p:cNvSpPr/>
          <p:nvPr/>
        </p:nvSpPr>
        <p:spPr>
          <a:xfrm>
            <a:off x="658233" y="6750115"/>
            <a:ext cx="10365437" cy="20979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15152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726754" y="0"/>
            <a:ext cx="5278045" cy="215900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616200" y="254000"/>
            <a:ext cx="7766684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863725" algn="l"/>
                <a:tab pos="5205730" algn="l"/>
              </a:tabLst>
            </a:pPr>
            <a:r>
              <a:rPr spc="-10" dirty="0"/>
              <a:t>Toroidal</a:t>
            </a:r>
            <a:r>
              <a:rPr dirty="0"/>
              <a:t>	Grating</a:t>
            </a:r>
            <a:r>
              <a:rPr spc="-160" dirty="0"/>
              <a:t> </a:t>
            </a:r>
            <a:r>
              <a:rPr spc="-10" dirty="0"/>
              <a:t>Optical</a:t>
            </a:r>
            <a:r>
              <a:rPr dirty="0"/>
              <a:t>	Path</a:t>
            </a:r>
            <a:r>
              <a:rPr spc="-200" dirty="0"/>
              <a:t> </a:t>
            </a:r>
            <a:r>
              <a:rPr spc="-10" dirty="0"/>
              <a:t>Length</a:t>
            </a:r>
          </a:p>
        </p:txBody>
      </p:sp>
      <p:sp>
        <p:nvSpPr>
          <p:cNvPr id="44" name="object 44"/>
          <p:cNvSpPr txBox="1"/>
          <p:nvPr/>
        </p:nvSpPr>
        <p:spPr>
          <a:xfrm>
            <a:off x="228600" y="6983421"/>
            <a:ext cx="10300335" cy="194818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503929">
              <a:lnSpc>
                <a:spcPts val="1935"/>
              </a:lnSpc>
              <a:tabLst>
                <a:tab pos="4514850" algn="l"/>
                <a:tab pos="5149215" algn="l"/>
                <a:tab pos="6009640" algn="l"/>
                <a:tab pos="6644005" algn="l"/>
                <a:tab pos="7654925" algn="l"/>
                <a:tab pos="8289290" algn="l"/>
                <a:tab pos="9300210" algn="l"/>
              </a:tabLst>
            </a:pPr>
            <a:r>
              <a:rPr sz="2750" spc="-50" dirty="0">
                <a:latin typeface="Cambria"/>
                <a:cs typeface="Cambria"/>
              </a:rPr>
              <a:t>1</a:t>
            </a:r>
            <a:r>
              <a:rPr sz="2750" dirty="0">
                <a:latin typeface="Cambria"/>
                <a:cs typeface="Cambria"/>
              </a:rPr>
              <a:t>	</a:t>
            </a:r>
            <a:r>
              <a:rPr sz="2925" spc="97" baseline="-21367" dirty="0">
                <a:latin typeface="Calibri"/>
                <a:cs typeface="Calibri"/>
              </a:rPr>
              <a:t>2</a:t>
            </a:r>
            <a:r>
              <a:rPr sz="2925" baseline="-21367" dirty="0">
                <a:latin typeface="Calibri"/>
                <a:cs typeface="Calibri"/>
              </a:rPr>
              <a:t>	</a:t>
            </a:r>
            <a:r>
              <a:rPr sz="2750" spc="-50" dirty="0">
                <a:latin typeface="Cambria"/>
                <a:cs typeface="Cambria"/>
              </a:rPr>
              <a:t>1</a:t>
            </a:r>
            <a:r>
              <a:rPr sz="2750" dirty="0">
                <a:latin typeface="Cambria"/>
                <a:cs typeface="Cambria"/>
              </a:rPr>
              <a:t>	</a:t>
            </a:r>
            <a:r>
              <a:rPr sz="2925" spc="97" baseline="-21367" dirty="0">
                <a:latin typeface="Calibri"/>
                <a:cs typeface="Calibri"/>
              </a:rPr>
              <a:t>2</a:t>
            </a:r>
            <a:r>
              <a:rPr sz="2925" baseline="-21367" dirty="0">
                <a:latin typeface="Calibri"/>
                <a:cs typeface="Calibri"/>
              </a:rPr>
              <a:t>	</a:t>
            </a:r>
            <a:r>
              <a:rPr sz="2750" spc="-50" dirty="0">
                <a:latin typeface="Cambria"/>
                <a:cs typeface="Cambria"/>
              </a:rPr>
              <a:t>1</a:t>
            </a:r>
            <a:r>
              <a:rPr sz="2750" dirty="0">
                <a:latin typeface="Cambria"/>
                <a:cs typeface="Cambria"/>
              </a:rPr>
              <a:t>	</a:t>
            </a:r>
            <a:r>
              <a:rPr sz="2925" spc="97" baseline="-21367" dirty="0">
                <a:latin typeface="Calibri"/>
                <a:cs typeface="Calibri"/>
              </a:rPr>
              <a:t>3</a:t>
            </a:r>
            <a:r>
              <a:rPr sz="2925" baseline="-21367" dirty="0">
                <a:latin typeface="Calibri"/>
                <a:cs typeface="Calibri"/>
              </a:rPr>
              <a:t>	</a:t>
            </a:r>
            <a:r>
              <a:rPr sz="2750" spc="-50" dirty="0">
                <a:latin typeface="Cambria"/>
                <a:cs typeface="Cambria"/>
              </a:rPr>
              <a:t>1</a:t>
            </a:r>
            <a:r>
              <a:rPr sz="2750" dirty="0">
                <a:latin typeface="Cambria"/>
                <a:cs typeface="Cambria"/>
              </a:rPr>
              <a:t>	</a:t>
            </a:r>
            <a:r>
              <a:rPr sz="2925" spc="97" baseline="-21367" dirty="0">
                <a:latin typeface="Calibri"/>
                <a:cs typeface="Calibri"/>
              </a:rPr>
              <a:t>2</a:t>
            </a:r>
            <a:endParaRPr sz="2925" baseline="-21367">
              <a:latin typeface="Calibri"/>
              <a:cs typeface="Calibri"/>
            </a:endParaRPr>
          </a:p>
          <a:p>
            <a:pPr marL="527050">
              <a:lnSpc>
                <a:spcPts val="2595"/>
              </a:lnSpc>
              <a:tabLst>
                <a:tab pos="902335" algn="l"/>
                <a:tab pos="4752340" algn="l"/>
                <a:tab pos="6247130" algn="l"/>
                <a:tab pos="7892415" algn="l"/>
                <a:tab pos="9458960" algn="l"/>
              </a:tabLst>
            </a:pPr>
            <a:r>
              <a:rPr sz="2750" i="1" spc="280" dirty="0">
                <a:latin typeface="Cambria"/>
                <a:cs typeface="Cambria"/>
              </a:rPr>
              <a:t>F</a:t>
            </a:r>
            <a:r>
              <a:rPr sz="2750" i="1" dirty="0">
                <a:latin typeface="Cambria"/>
                <a:cs typeface="Cambria"/>
              </a:rPr>
              <a:t>	</a:t>
            </a:r>
            <a:r>
              <a:rPr sz="2750" spc="640" dirty="0">
                <a:latin typeface="Cambria"/>
                <a:cs typeface="Cambria"/>
              </a:rPr>
              <a:t>=</a:t>
            </a:r>
            <a:r>
              <a:rPr sz="2750" spc="170" dirty="0">
                <a:latin typeface="Cambria"/>
                <a:cs typeface="Cambria"/>
              </a:rPr>
              <a:t> </a:t>
            </a:r>
            <a:r>
              <a:rPr sz="2750" i="1" spc="190" dirty="0">
                <a:latin typeface="Cambria"/>
                <a:cs typeface="Cambria"/>
              </a:rPr>
              <a:t>F</a:t>
            </a:r>
            <a:r>
              <a:rPr sz="2925" spc="284" baseline="-11396" dirty="0">
                <a:latin typeface="Calibri"/>
                <a:cs typeface="Calibri"/>
              </a:rPr>
              <a:t>00</a:t>
            </a:r>
            <a:r>
              <a:rPr sz="2925" spc="472" baseline="-11396" dirty="0">
                <a:latin typeface="Calibri"/>
                <a:cs typeface="Calibri"/>
              </a:rPr>
              <a:t> </a:t>
            </a:r>
            <a:r>
              <a:rPr sz="2750" spc="640" dirty="0">
                <a:latin typeface="Cambria"/>
                <a:cs typeface="Cambria"/>
              </a:rPr>
              <a:t>+</a:t>
            </a:r>
            <a:r>
              <a:rPr sz="2750" spc="20" dirty="0">
                <a:latin typeface="Cambria"/>
                <a:cs typeface="Cambria"/>
              </a:rPr>
              <a:t> </a:t>
            </a:r>
            <a:r>
              <a:rPr sz="2750" i="1" spc="170" dirty="0">
                <a:latin typeface="Cambria"/>
                <a:cs typeface="Cambria"/>
              </a:rPr>
              <a:t>F</a:t>
            </a:r>
            <a:r>
              <a:rPr sz="2925" spc="254" baseline="-11396" dirty="0">
                <a:latin typeface="Calibri"/>
                <a:cs typeface="Calibri"/>
              </a:rPr>
              <a:t>01</a:t>
            </a:r>
            <a:r>
              <a:rPr sz="2750" i="1" spc="170" dirty="0">
                <a:latin typeface="Cambria"/>
                <a:cs typeface="Cambria"/>
              </a:rPr>
              <a:t>w</a:t>
            </a:r>
            <a:r>
              <a:rPr sz="2750" i="1" spc="90" dirty="0">
                <a:latin typeface="Cambria"/>
                <a:cs typeface="Cambria"/>
              </a:rPr>
              <a:t> </a:t>
            </a:r>
            <a:r>
              <a:rPr sz="2750" spc="640" dirty="0">
                <a:latin typeface="Cambria"/>
                <a:cs typeface="Cambria"/>
              </a:rPr>
              <a:t>+</a:t>
            </a:r>
            <a:r>
              <a:rPr sz="2750" spc="350" dirty="0">
                <a:latin typeface="Cambria"/>
                <a:cs typeface="Cambria"/>
              </a:rPr>
              <a:t> </a:t>
            </a:r>
            <a:r>
              <a:rPr sz="4125" spc="-217" baseline="-38383" dirty="0">
                <a:latin typeface="Cambria"/>
                <a:cs typeface="Cambria"/>
              </a:rPr>
              <a:t>2</a:t>
            </a:r>
            <a:r>
              <a:rPr sz="4125" spc="-405" baseline="-38383" dirty="0">
                <a:latin typeface="Cambria"/>
                <a:cs typeface="Cambria"/>
              </a:rPr>
              <a:t> </a:t>
            </a:r>
            <a:r>
              <a:rPr sz="2750" i="1" spc="150" dirty="0">
                <a:latin typeface="Cambria"/>
                <a:cs typeface="Cambria"/>
              </a:rPr>
              <a:t>F</a:t>
            </a:r>
            <a:r>
              <a:rPr sz="2925" spc="225" baseline="-11396" dirty="0">
                <a:latin typeface="Calibri"/>
                <a:cs typeface="Calibri"/>
              </a:rPr>
              <a:t>20</a:t>
            </a:r>
            <a:r>
              <a:rPr sz="2750" i="1" spc="150" dirty="0">
                <a:latin typeface="Cambria"/>
                <a:cs typeface="Cambria"/>
              </a:rPr>
              <a:t>w</a:t>
            </a:r>
            <a:r>
              <a:rPr sz="2750" i="1" dirty="0">
                <a:latin typeface="Cambria"/>
                <a:cs typeface="Cambria"/>
              </a:rPr>
              <a:t>	</a:t>
            </a:r>
            <a:r>
              <a:rPr sz="2750" spc="640" dirty="0">
                <a:latin typeface="Cambria"/>
                <a:cs typeface="Cambria"/>
              </a:rPr>
              <a:t>+</a:t>
            </a:r>
            <a:r>
              <a:rPr sz="2750" spc="350" dirty="0">
                <a:latin typeface="Cambria"/>
                <a:cs typeface="Cambria"/>
              </a:rPr>
              <a:t> </a:t>
            </a:r>
            <a:r>
              <a:rPr sz="4125" spc="-217" baseline="-38383" dirty="0">
                <a:latin typeface="Cambria"/>
                <a:cs typeface="Cambria"/>
              </a:rPr>
              <a:t>2</a:t>
            </a:r>
            <a:r>
              <a:rPr sz="4125" spc="-412" baseline="-38383" dirty="0">
                <a:latin typeface="Cambria"/>
                <a:cs typeface="Cambria"/>
              </a:rPr>
              <a:t> </a:t>
            </a:r>
            <a:r>
              <a:rPr sz="2750" i="1" spc="175" dirty="0">
                <a:latin typeface="Cambria"/>
                <a:cs typeface="Cambria"/>
              </a:rPr>
              <a:t>F</a:t>
            </a:r>
            <a:r>
              <a:rPr sz="2925" spc="262" baseline="-11396" dirty="0">
                <a:latin typeface="Calibri"/>
                <a:cs typeface="Calibri"/>
              </a:rPr>
              <a:t>02</a:t>
            </a:r>
            <a:r>
              <a:rPr sz="2750" i="1" spc="175" dirty="0">
                <a:latin typeface="Cambria"/>
                <a:cs typeface="Cambria"/>
              </a:rPr>
              <a:t>l</a:t>
            </a:r>
            <a:r>
              <a:rPr sz="2750" i="1" dirty="0">
                <a:latin typeface="Cambria"/>
                <a:cs typeface="Cambria"/>
              </a:rPr>
              <a:t>	</a:t>
            </a:r>
            <a:r>
              <a:rPr sz="2750" spc="640" dirty="0">
                <a:latin typeface="Cambria"/>
                <a:cs typeface="Cambria"/>
              </a:rPr>
              <a:t>+</a:t>
            </a:r>
            <a:r>
              <a:rPr sz="2750" spc="350" dirty="0">
                <a:latin typeface="Cambria"/>
                <a:cs typeface="Cambria"/>
              </a:rPr>
              <a:t> </a:t>
            </a:r>
            <a:r>
              <a:rPr sz="4125" spc="-217" baseline="-38383" dirty="0">
                <a:latin typeface="Cambria"/>
                <a:cs typeface="Cambria"/>
              </a:rPr>
              <a:t>2</a:t>
            </a:r>
            <a:r>
              <a:rPr sz="4125" spc="-412" baseline="-38383" dirty="0">
                <a:latin typeface="Cambria"/>
                <a:cs typeface="Cambria"/>
              </a:rPr>
              <a:t> </a:t>
            </a:r>
            <a:r>
              <a:rPr sz="2750" i="1" spc="150" dirty="0">
                <a:latin typeface="Cambria"/>
                <a:cs typeface="Cambria"/>
              </a:rPr>
              <a:t>F</a:t>
            </a:r>
            <a:r>
              <a:rPr sz="2925" spc="225" baseline="-11396" dirty="0">
                <a:latin typeface="Calibri"/>
                <a:cs typeface="Calibri"/>
              </a:rPr>
              <a:t>30</a:t>
            </a:r>
            <a:r>
              <a:rPr sz="2750" i="1" spc="150" dirty="0">
                <a:latin typeface="Cambria"/>
                <a:cs typeface="Cambria"/>
              </a:rPr>
              <a:t>w</a:t>
            </a:r>
            <a:r>
              <a:rPr sz="2750" i="1" dirty="0">
                <a:latin typeface="Cambria"/>
                <a:cs typeface="Cambria"/>
              </a:rPr>
              <a:t>	</a:t>
            </a:r>
            <a:r>
              <a:rPr sz="2750" spc="640" dirty="0">
                <a:latin typeface="Cambria"/>
                <a:cs typeface="Cambria"/>
              </a:rPr>
              <a:t>+</a:t>
            </a:r>
            <a:r>
              <a:rPr sz="2750" spc="350" dirty="0">
                <a:latin typeface="Cambria"/>
                <a:cs typeface="Cambria"/>
              </a:rPr>
              <a:t> </a:t>
            </a:r>
            <a:r>
              <a:rPr sz="4125" spc="-217" baseline="-38383" dirty="0">
                <a:latin typeface="Cambria"/>
                <a:cs typeface="Cambria"/>
              </a:rPr>
              <a:t>2</a:t>
            </a:r>
            <a:r>
              <a:rPr sz="4125" spc="-412" baseline="-38383" dirty="0">
                <a:latin typeface="Cambria"/>
                <a:cs typeface="Cambria"/>
              </a:rPr>
              <a:t> </a:t>
            </a:r>
            <a:r>
              <a:rPr sz="2750" i="1" spc="150" dirty="0">
                <a:latin typeface="Cambria"/>
                <a:cs typeface="Cambria"/>
              </a:rPr>
              <a:t>F</a:t>
            </a:r>
            <a:r>
              <a:rPr sz="2925" spc="225" baseline="-11396" dirty="0">
                <a:latin typeface="Calibri"/>
                <a:cs typeface="Calibri"/>
              </a:rPr>
              <a:t>21</a:t>
            </a:r>
            <a:r>
              <a:rPr sz="2750" i="1" spc="150" dirty="0">
                <a:latin typeface="Cambria"/>
                <a:cs typeface="Cambria"/>
              </a:rPr>
              <a:t>w</a:t>
            </a:r>
            <a:r>
              <a:rPr sz="2750" i="1" dirty="0">
                <a:latin typeface="Cambria"/>
                <a:cs typeface="Cambria"/>
              </a:rPr>
              <a:t>	</a:t>
            </a:r>
            <a:r>
              <a:rPr sz="2750" i="1" spc="85" dirty="0">
                <a:latin typeface="Cambria"/>
                <a:cs typeface="Cambria"/>
              </a:rPr>
              <a:t>l</a:t>
            </a:r>
            <a:r>
              <a:rPr sz="2750" i="1" spc="70" dirty="0">
                <a:latin typeface="Cambria"/>
                <a:cs typeface="Cambria"/>
              </a:rPr>
              <a:t> </a:t>
            </a:r>
            <a:r>
              <a:rPr sz="2750" spc="640" dirty="0">
                <a:latin typeface="Cambria"/>
                <a:cs typeface="Cambria"/>
              </a:rPr>
              <a:t>+</a:t>
            </a:r>
            <a:r>
              <a:rPr sz="2750" spc="15" dirty="0">
                <a:latin typeface="Cambria"/>
                <a:cs typeface="Cambria"/>
              </a:rPr>
              <a:t> </a:t>
            </a:r>
            <a:r>
              <a:rPr sz="2750" i="1" spc="195" dirty="0">
                <a:latin typeface="Cambria"/>
                <a:cs typeface="Cambria"/>
              </a:rPr>
              <a:t>...</a:t>
            </a:r>
            <a:endParaRPr sz="275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1955"/>
              </a:spcBef>
            </a:pPr>
            <a:endParaRPr sz="2750">
              <a:latin typeface="Cambria"/>
              <a:cs typeface="Cambria"/>
            </a:endParaRPr>
          </a:p>
          <a:p>
            <a:pPr marL="406400">
              <a:lnSpc>
                <a:spcPts val="2615"/>
              </a:lnSpc>
              <a:spcBef>
                <a:spcPts val="5"/>
              </a:spcBef>
            </a:pPr>
            <a:r>
              <a:rPr sz="2400" i="1" dirty="0">
                <a:solidFill>
                  <a:srgbClr val="060606"/>
                </a:solidFill>
                <a:latin typeface="Georgia"/>
                <a:cs typeface="Georgia"/>
              </a:rPr>
              <a:t>Fermat’s</a:t>
            </a:r>
            <a:r>
              <a:rPr sz="2400" i="1" spc="130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i="1" dirty="0">
                <a:solidFill>
                  <a:srgbClr val="060606"/>
                </a:solidFill>
                <a:latin typeface="Georgia"/>
                <a:cs typeface="Georgia"/>
              </a:rPr>
              <a:t>principle:</a:t>
            </a:r>
            <a:r>
              <a:rPr sz="2400" i="1" spc="120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dirty="0">
                <a:solidFill>
                  <a:srgbClr val="060606"/>
                </a:solidFill>
                <a:latin typeface="Georgia"/>
                <a:cs typeface="Georgia"/>
              </a:rPr>
              <a:t>Of</a:t>
            </a:r>
            <a:r>
              <a:rPr sz="2400" spc="135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dirty="0">
                <a:solidFill>
                  <a:srgbClr val="060606"/>
                </a:solidFill>
                <a:latin typeface="Georgia"/>
                <a:cs typeface="Georgia"/>
              </a:rPr>
              <a:t>all</a:t>
            </a:r>
            <a:r>
              <a:rPr sz="2400" spc="130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dirty="0">
                <a:solidFill>
                  <a:srgbClr val="060606"/>
                </a:solidFill>
                <a:latin typeface="Georgia"/>
                <a:cs typeface="Georgia"/>
              </a:rPr>
              <a:t>possible</a:t>
            </a:r>
            <a:r>
              <a:rPr sz="2400" spc="130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dirty="0">
                <a:solidFill>
                  <a:srgbClr val="060606"/>
                </a:solidFill>
                <a:latin typeface="Georgia"/>
                <a:cs typeface="Georgia"/>
              </a:rPr>
              <a:t>paths,</a:t>
            </a:r>
            <a:r>
              <a:rPr sz="2400" spc="130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spc="-10" dirty="0">
                <a:solidFill>
                  <a:srgbClr val="060606"/>
                </a:solidFill>
                <a:latin typeface="Georgia"/>
                <a:cs typeface="Georgia"/>
              </a:rPr>
              <a:t>light</a:t>
            </a:r>
            <a:endParaRPr sz="2400">
              <a:latin typeface="Georgia"/>
              <a:cs typeface="Georgia"/>
            </a:endParaRPr>
          </a:p>
          <a:p>
            <a:pPr>
              <a:lnSpc>
                <a:spcPts val="3010"/>
              </a:lnSpc>
              <a:tabLst>
                <a:tab pos="7905115" algn="l"/>
                <a:tab pos="8451215" algn="l"/>
              </a:tabLst>
            </a:pPr>
            <a:r>
              <a:rPr sz="2400" dirty="0">
                <a:solidFill>
                  <a:srgbClr val="060606"/>
                </a:solidFill>
                <a:latin typeface="Georgia"/>
                <a:cs typeface="Georgia"/>
              </a:rPr>
              <a:t>takes</a:t>
            </a:r>
            <a:r>
              <a:rPr sz="2400" spc="-55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dirty="0">
                <a:solidFill>
                  <a:srgbClr val="060606"/>
                </a:solidFill>
                <a:latin typeface="Georgia"/>
                <a:cs typeface="Georgia"/>
              </a:rPr>
              <a:t>the</a:t>
            </a:r>
            <a:r>
              <a:rPr sz="2400" spc="-55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dirty="0">
                <a:solidFill>
                  <a:srgbClr val="060606"/>
                </a:solidFill>
                <a:latin typeface="Georgia"/>
                <a:cs typeface="Georgia"/>
              </a:rPr>
              <a:t>path</a:t>
            </a:r>
            <a:r>
              <a:rPr sz="2400" spc="-55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dirty="0">
                <a:solidFill>
                  <a:srgbClr val="060606"/>
                </a:solidFill>
                <a:latin typeface="Georgia"/>
                <a:cs typeface="Georgia"/>
              </a:rPr>
              <a:t>which</a:t>
            </a:r>
            <a:r>
              <a:rPr sz="2400" spc="-55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dirty="0">
                <a:solidFill>
                  <a:srgbClr val="060606"/>
                </a:solidFill>
                <a:latin typeface="Georgia"/>
                <a:cs typeface="Georgia"/>
              </a:rPr>
              <a:t>requires</a:t>
            </a:r>
            <a:r>
              <a:rPr sz="2400" spc="-55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dirty="0">
                <a:solidFill>
                  <a:srgbClr val="060606"/>
                </a:solidFill>
                <a:latin typeface="Georgia"/>
                <a:cs typeface="Georgia"/>
              </a:rPr>
              <a:t>the</a:t>
            </a:r>
            <a:r>
              <a:rPr sz="2400" spc="-50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i="1" dirty="0">
                <a:solidFill>
                  <a:srgbClr val="060606"/>
                </a:solidFill>
                <a:latin typeface="Georgia"/>
                <a:cs typeface="Georgia"/>
              </a:rPr>
              <a:t>shortest</a:t>
            </a:r>
            <a:r>
              <a:rPr sz="2400" i="1" spc="-50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i="1" spc="-10" dirty="0">
                <a:solidFill>
                  <a:srgbClr val="060606"/>
                </a:solidFill>
                <a:latin typeface="Georgia"/>
                <a:cs typeface="Georgia"/>
              </a:rPr>
              <a:t>time</a:t>
            </a:r>
            <a:r>
              <a:rPr sz="2400" spc="-10" dirty="0">
                <a:solidFill>
                  <a:srgbClr val="060606"/>
                </a:solidFill>
                <a:latin typeface="Georgia"/>
                <a:cs typeface="Georgia"/>
              </a:rPr>
              <a:t>.</a:t>
            </a:r>
            <a:r>
              <a:rPr sz="2400" dirty="0">
                <a:solidFill>
                  <a:srgbClr val="060606"/>
                </a:solidFill>
                <a:latin typeface="Georgia"/>
                <a:cs typeface="Georgia"/>
              </a:rPr>
              <a:t>	</a:t>
            </a:r>
            <a:r>
              <a:rPr sz="4125" i="1" spc="187" baseline="31313" dirty="0">
                <a:latin typeface="Cambria"/>
                <a:cs typeface="Cambria"/>
              </a:rPr>
              <a:t>δF</a:t>
            </a:r>
            <a:r>
              <a:rPr sz="4125" i="1" baseline="31313" dirty="0">
                <a:latin typeface="Cambria"/>
                <a:cs typeface="Cambria"/>
              </a:rPr>
              <a:t>	</a:t>
            </a:r>
            <a:r>
              <a:rPr sz="4125" spc="960" baseline="31313" dirty="0">
                <a:latin typeface="Cambria"/>
                <a:cs typeface="Cambria"/>
              </a:rPr>
              <a:t>=</a:t>
            </a:r>
            <a:r>
              <a:rPr sz="4125" spc="254" baseline="31313" dirty="0">
                <a:latin typeface="Cambria"/>
                <a:cs typeface="Cambria"/>
              </a:rPr>
              <a:t> </a:t>
            </a:r>
            <a:r>
              <a:rPr sz="4125" spc="-75" baseline="31313" dirty="0">
                <a:latin typeface="Cambria"/>
                <a:cs typeface="Cambria"/>
              </a:rPr>
              <a:t>0</a:t>
            </a:r>
            <a:endParaRPr sz="4125" baseline="31313">
              <a:latin typeface="Cambria"/>
              <a:cs typeface="Cambria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150798" y="6737415"/>
            <a:ext cx="10561320" cy="2317115"/>
            <a:chOff x="150798" y="6737415"/>
            <a:chExt cx="10561320" cy="2317115"/>
          </a:xfrm>
        </p:grpSpPr>
        <p:sp>
          <p:nvSpPr>
            <p:cNvPr id="49" name="object 49"/>
            <p:cNvSpPr/>
            <p:nvPr/>
          </p:nvSpPr>
          <p:spPr>
            <a:xfrm>
              <a:off x="163498" y="6750115"/>
              <a:ext cx="10535920" cy="2291715"/>
            </a:xfrm>
            <a:custGeom>
              <a:avLst/>
              <a:gdLst/>
              <a:ahLst/>
              <a:cxnLst/>
              <a:rect l="l" t="t" r="r" b="b"/>
              <a:pathLst>
                <a:path w="10535920" h="2291715">
                  <a:moveTo>
                    <a:pt x="0" y="0"/>
                  </a:moveTo>
                  <a:lnTo>
                    <a:pt x="10535801" y="0"/>
                  </a:lnTo>
                  <a:lnTo>
                    <a:pt x="10535801" y="2291322"/>
                  </a:lnTo>
                  <a:lnTo>
                    <a:pt x="0" y="229132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163498" y="6750115"/>
              <a:ext cx="10535920" cy="2291715"/>
            </a:xfrm>
            <a:custGeom>
              <a:avLst/>
              <a:gdLst/>
              <a:ahLst/>
              <a:cxnLst/>
              <a:rect l="l" t="t" r="r" b="b"/>
              <a:pathLst>
                <a:path w="10535920" h="2291715">
                  <a:moveTo>
                    <a:pt x="0" y="0"/>
                  </a:moveTo>
                  <a:lnTo>
                    <a:pt x="10535801" y="0"/>
                  </a:lnTo>
                  <a:lnTo>
                    <a:pt x="10535801" y="2291322"/>
                  </a:lnTo>
                  <a:lnTo>
                    <a:pt x="0" y="2291322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1" name="object 51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pc="-10" dirty="0"/>
              <a:t>Software</a:t>
            </a:r>
            <a:r>
              <a:rPr spc="-50" dirty="0"/>
              <a:t> </a:t>
            </a:r>
            <a:r>
              <a:rPr dirty="0"/>
              <a:t>for</a:t>
            </a:r>
            <a:r>
              <a:rPr spc="-45" dirty="0"/>
              <a:t> </a:t>
            </a:r>
            <a:r>
              <a:rPr dirty="0"/>
              <a:t>Optical</a:t>
            </a:r>
            <a:r>
              <a:rPr spc="-45" dirty="0"/>
              <a:t> </a:t>
            </a:r>
            <a:r>
              <a:rPr dirty="0"/>
              <a:t>Simulations,</a:t>
            </a:r>
            <a:r>
              <a:rPr spc="-45" dirty="0"/>
              <a:t> </a:t>
            </a:r>
            <a:r>
              <a:rPr spc="-20" dirty="0"/>
              <a:t>Trieste,</a:t>
            </a:r>
            <a:r>
              <a:rPr spc="-45" dirty="0"/>
              <a:t> </a:t>
            </a:r>
            <a:r>
              <a:rPr dirty="0"/>
              <a:t>October</a:t>
            </a:r>
            <a:r>
              <a:rPr spc="-45" dirty="0"/>
              <a:t> </a:t>
            </a:r>
            <a:r>
              <a:rPr dirty="0"/>
              <a:t>2016.</a:t>
            </a:r>
            <a:r>
              <a:rPr spc="-45" dirty="0"/>
              <a:t> </a:t>
            </a:r>
            <a:r>
              <a:rPr dirty="0"/>
              <a:t>Ruben</a:t>
            </a:r>
            <a:r>
              <a:rPr spc="-45" dirty="0"/>
              <a:t> </a:t>
            </a:r>
            <a:r>
              <a:rPr spc="-10" dirty="0"/>
              <a:t>Reininger</a:t>
            </a:r>
          </a:p>
        </p:txBody>
      </p:sp>
      <p:sp>
        <p:nvSpPr>
          <p:cNvPr id="52" name="object 5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25" dirty="0"/>
              <a:t>5</a:t>
            </a:fld>
            <a:endParaRPr spc="-25" dirty="0"/>
          </a:p>
        </p:txBody>
      </p:sp>
      <p:sp>
        <p:nvSpPr>
          <p:cNvPr id="53" name="object 53"/>
          <p:cNvSpPr txBox="1"/>
          <p:nvPr/>
        </p:nvSpPr>
        <p:spPr>
          <a:xfrm>
            <a:off x="1069339" y="9384967"/>
            <a:ext cx="72390" cy="211454"/>
          </a:xfrm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sz="1200" spc="-50" dirty="0">
                <a:solidFill>
                  <a:srgbClr val="275D90"/>
                </a:solidFill>
                <a:latin typeface="Calibri"/>
                <a:cs typeface="Calibri"/>
              </a:rPr>
              <a:t>-</a:t>
            </a:r>
            <a:endParaRPr sz="1200">
              <a:latin typeface="Calibri"/>
              <a:cs typeface="Calibri"/>
            </a:endParaRPr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6DCB511B-169D-4578-A8EF-33178BFB98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234" y="1371600"/>
            <a:ext cx="11688331" cy="7282664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82B63330-E17A-42EB-883C-E08FEA24ED90}"/>
              </a:ext>
            </a:extLst>
          </p:cNvPr>
          <p:cNvSpPr/>
          <p:nvPr/>
        </p:nvSpPr>
        <p:spPr>
          <a:xfrm>
            <a:off x="658233" y="6668327"/>
            <a:ext cx="10365437" cy="2179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99456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726754" y="0"/>
            <a:ext cx="5278045" cy="215900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616200" y="254000"/>
            <a:ext cx="7766684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863725" algn="l"/>
                <a:tab pos="5205730" algn="l"/>
              </a:tabLst>
            </a:pPr>
            <a:r>
              <a:rPr spc="-10" dirty="0"/>
              <a:t>Toroidal</a:t>
            </a:r>
            <a:r>
              <a:rPr dirty="0"/>
              <a:t>	Grating</a:t>
            </a:r>
            <a:r>
              <a:rPr spc="-160" dirty="0"/>
              <a:t> </a:t>
            </a:r>
            <a:r>
              <a:rPr spc="-10" dirty="0"/>
              <a:t>Optical</a:t>
            </a:r>
            <a:r>
              <a:rPr dirty="0"/>
              <a:t>	Path</a:t>
            </a:r>
            <a:r>
              <a:rPr spc="-200" dirty="0"/>
              <a:t> </a:t>
            </a:r>
            <a:r>
              <a:rPr spc="-10" dirty="0"/>
              <a:t>Length</a:t>
            </a:r>
          </a:p>
        </p:txBody>
      </p:sp>
      <p:sp>
        <p:nvSpPr>
          <p:cNvPr id="44" name="object 44"/>
          <p:cNvSpPr txBox="1"/>
          <p:nvPr/>
        </p:nvSpPr>
        <p:spPr>
          <a:xfrm>
            <a:off x="228600" y="6983421"/>
            <a:ext cx="10300335" cy="194818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503929">
              <a:lnSpc>
                <a:spcPts val="1935"/>
              </a:lnSpc>
              <a:tabLst>
                <a:tab pos="4514850" algn="l"/>
                <a:tab pos="5149215" algn="l"/>
                <a:tab pos="6009640" algn="l"/>
                <a:tab pos="6644005" algn="l"/>
                <a:tab pos="7654925" algn="l"/>
                <a:tab pos="8289290" algn="l"/>
                <a:tab pos="9300210" algn="l"/>
              </a:tabLst>
            </a:pPr>
            <a:r>
              <a:rPr sz="2750" spc="-50" dirty="0">
                <a:latin typeface="Cambria"/>
                <a:cs typeface="Cambria"/>
              </a:rPr>
              <a:t>1</a:t>
            </a:r>
            <a:r>
              <a:rPr sz="2750" dirty="0">
                <a:latin typeface="Cambria"/>
                <a:cs typeface="Cambria"/>
              </a:rPr>
              <a:t>	</a:t>
            </a:r>
            <a:r>
              <a:rPr sz="2925" spc="97" baseline="-21367" dirty="0">
                <a:latin typeface="Calibri"/>
                <a:cs typeface="Calibri"/>
              </a:rPr>
              <a:t>2</a:t>
            </a:r>
            <a:r>
              <a:rPr sz="2925" baseline="-21367" dirty="0">
                <a:latin typeface="Calibri"/>
                <a:cs typeface="Calibri"/>
              </a:rPr>
              <a:t>	</a:t>
            </a:r>
            <a:r>
              <a:rPr sz="2750" spc="-50" dirty="0">
                <a:latin typeface="Cambria"/>
                <a:cs typeface="Cambria"/>
              </a:rPr>
              <a:t>1</a:t>
            </a:r>
            <a:r>
              <a:rPr sz="2750" dirty="0">
                <a:latin typeface="Cambria"/>
                <a:cs typeface="Cambria"/>
              </a:rPr>
              <a:t>	</a:t>
            </a:r>
            <a:r>
              <a:rPr sz="2925" spc="97" baseline="-21367" dirty="0">
                <a:latin typeface="Calibri"/>
                <a:cs typeface="Calibri"/>
              </a:rPr>
              <a:t>2</a:t>
            </a:r>
            <a:r>
              <a:rPr sz="2925" baseline="-21367" dirty="0">
                <a:latin typeface="Calibri"/>
                <a:cs typeface="Calibri"/>
              </a:rPr>
              <a:t>	</a:t>
            </a:r>
            <a:r>
              <a:rPr sz="2750" spc="-50" dirty="0">
                <a:latin typeface="Cambria"/>
                <a:cs typeface="Cambria"/>
              </a:rPr>
              <a:t>1</a:t>
            </a:r>
            <a:r>
              <a:rPr sz="2750" dirty="0">
                <a:latin typeface="Cambria"/>
                <a:cs typeface="Cambria"/>
              </a:rPr>
              <a:t>	</a:t>
            </a:r>
            <a:r>
              <a:rPr sz="2925" spc="97" baseline="-21367" dirty="0">
                <a:latin typeface="Calibri"/>
                <a:cs typeface="Calibri"/>
              </a:rPr>
              <a:t>3</a:t>
            </a:r>
            <a:r>
              <a:rPr sz="2925" baseline="-21367" dirty="0">
                <a:latin typeface="Calibri"/>
                <a:cs typeface="Calibri"/>
              </a:rPr>
              <a:t>	</a:t>
            </a:r>
            <a:r>
              <a:rPr sz="2750" spc="-50" dirty="0">
                <a:latin typeface="Cambria"/>
                <a:cs typeface="Cambria"/>
              </a:rPr>
              <a:t>1</a:t>
            </a:r>
            <a:r>
              <a:rPr sz="2750" dirty="0">
                <a:latin typeface="Cambria"/>
                <a:cs typeface="Cambria"/>
              </a:rPr>
              <a:t>	</a:t>
            </a:r>
            <a:r>
              <a:rPr sz="2925" spc="97" baseline="-21367" dirty="0">
                <a:latin typeface="Calibri"/>
                <a:cs typeface="Calibri"/>
              </a:rPr>
              <a:t>2</a:t>
            </a:r>
            <a:endParaRPr sz="2925" baseline="-21367">
              <a:latin typeface="Calibri"/>
              <a:cs typeface="Calibri"/>
            </a:endParaRPr>
          </a:p>
          <a:p>
            <a:pPr marL="527050">
              <a:lnSpc>
                <a:spcPts val="2595"/>
              </a:lnSpc>
              <a:tabLst>
                <a:tab pos="902335" algn="l"/>
                <a:tab pos="4752340" algn="l"/>
                <a:tab pos="6247130" algn="l"/>
                <a:tab pos="7892415" algn="l"/>
                <a:tab pos="9458960" algn="l"/>
              </a:tabLst>
            </a:pPr>
            <a:r>
              <a:rPr sz="2750" i="1" spc="280" dirty="0">
                <a:latin typeface="Cambria"/>
                <a:cs typeface="Cambria"/>
              </a:rPr>
              <a:t>F</a:t>
            </a:r>
            <a:r>
              <a:rPr sz="2750" i="1" dirty="0">
                <a:latin typeface="Cambria"/>
                <a:cs typeface="Cambria"/>
              </a:rPr>
              <a:t>	</a:t>
            </a:r>
            <a:r>
              <a:rPr sz="2750" spc="640" dirty="0">
                <a:latin typeface="Cambria"/>
                <a:cs typeface="Cambria"/>
              </a:rPr>
              <a:t>=</a:t>
            </a:r>
            <a:r>
              <a:rPr sz="2750" spc="170" dirty="0">
                <a:latin typeface="Cambria"/>
                <a:cs typeface="Cambria"/>
              </a:rPr>
              <a:t> </a:t>
            </a:r>
            <a:r>
              <a:rPr sz="2750" i="1" spc="190" dirty="0">
                <a:latin typeface="Cambria"/>
                <a:cs typeface="Cambria"/>
              </a:rPr>
              <a:t>F</a:t>
            </a:r>
            <a:r>
              <a:rPr sz="2925" spc="284" baseline="-11396" dirty="0">
                <a:latin typeface="Calibri"/>
                <a:cs typeface="Calibri"/>
              </a:rPr>
              <a:t>00</a:t>
            </a:r>
            <a:r>
              <a:rPr sz="2925" spc="472" baseline="-11396" dirty="0">
                <a:latin typeface="Calibri"/>
                <a:cs typeface="Calibri"/>
              </a:rPr>
              <a:t> </a:t>
            </a:r>
            <a:r>
              <a:rPr sz="2750" spc="640" dirty="0">
                <a:latin typeface="Cambria"/>
                <a:cs typeface="Cambria"/>
              </a:rPr>
              <a:t>+</a:t>
            </a:r>
            <a:r>
              <a:rPr sz="2750" spc="20" dirty="0">
                <a:latin typeface="Cambria"/>
                <a:cs typeface="Cambria"/>
              </a:rPr>
              <a:t> </a:t>
            </a:r>
            <a:r>
              <a:rPr sz="2750" i="1" spc="170" dirty="0">
                <a:latin typeface="Cambria"/>
                <a:cs typeface="Cambria"/>
              </a:rPr>
              <a:t>F</a:t>
            </a:r>
            <a:r>
              <a:rPr sz="2925" spc="254" baseline="-11396" dirty="0">
                <a:latin typeface="Calibri"/>
                <a:cs typeface="Calibri"/>
              </a:rPr>
              <a:t>01</a:t>
            </a:r>
            <a:r>
              <a:rPr sz="2750" i="1" spc="170" dirty="0">
                <a:latin typeface="Cambria"/>
                <a:cs typeface="Cambria"/>
              </a:rPr>
              <a:t>w</a:t>
            </a:r>
            <a:r>
              <a:rPr sz="2750" i="1" spc="90" dirty="0">
                <a:latin typeface="Cambria"/>
                <a:cs typeface="Cambria"/>
              </a:rPr>
              <a:t> </a:t>
            </a:r>
            <a:r>
              <a:rPr sz="2750" spc="640" dirty="0">
                <a:latin typeface="Cambria"/>
                <a:cs typeface="Cambria"/>
              </a:rPr>
              <a:t>+</a:t>
            </a:r>
            <a:r>
              <a:rPr sz="2750" spc="350" dirty="0">
                <a:latin typeface="Cambria"/>
                <a:cs typeface="Cambria"/>
              </a:rPr>
              <a:t> </a:t>
            </a:r>
            <a:r>
              <a:rPr sz="4125" spc="-217" baseline="-38383" dirty="0">
                <a:latin typeface="Cambria"/>
                <a:cs typeface="Cambria"/>
              </a:rPr>
              <a:t>2</a:t>
            </a:r>
            <a:r>
              <a:rPr sz="4125" spc="-405" baseline="-38383" dirty="0">
                <a:latin typeface="Cambria"/>
                <a:cs typeface="Cambria"/>
              </a:rPr>
              <a:t> </a:t>
            </a:r>
            <a:r>
              <a:rPr sz="2750" i="1" spc="150" dirty="0">
                <a:latin typeface="Cambria"/>
                <a:cs typeface="Cambria"/>
              </a:rPr>
              <a:t>F</a:t>
            </a:r>
            <a:r>
              <a:rPr sz="2925" spc="225" baseline="-11396" dirty="0">
                <a:latin typeface="Calibri"/>
                <a:cs typeface="Calibri"/>
              </a:rPr>
              <a:t>20</a:t>
            </a:r>
            <a:r>
              <a:rPr sz="2750" i="1" spc="150" dirty="0">
                <a:latin typeface="Cambria"/>
                <a:cs typeface="Cambria"/>
              </a:rPr>
              <a:t>w</a:t>
            </a:r>
            <a:r>
              <a:rPr sz="2750" i="1" dirty="0">
                <a:latin typeface="Cambria"/>
                <a:cs typeface="Cambria"/>
              </a:rPr>
              <a:t>	</a:t>
            </a:r>
            <a:r>
              <a:rPr sz="2750" spc="640" dirty="0">
                <a:latin typeface="Cambria"/>
                <a:cs typeface="Cambria"/>
              </a:rPr>
              <a:t>+</a:t>
            </a:r>
            <a:r>
              <a:rPr sz="2750" spc="350" dirty="0">
                <a:latin typeface="Cambria"/>
                <a:cs typeface="Cambria"/>
              </a:rPr>
              <a:t> </a:t>
            </a:r>
            <a:r>
              <a:rPr sz="4125" spc="-217" baseline="-38383" dirty="0">
                <a:latin typeface="Cambria"/>
                <a:cs typeface="Cambria"/>
              </a:rPr>
              <a:t>2</a:t>
            </a:r>
            <a:r>
              <a:rPr sz="4125" spc="-412" baseline="-38383" dirty="0">
                <a:latin typeface="Cambria"/>
                <a:cs typeface="Cambria"/>
              </a:rPr>
              <a:t> </a:t>
            </a:r>
            <a:r>
              <a:rPr sz="2750" i="1" spc="175" dirty="0">
                <a:latin typeface="Cambria"/>
                <a:cs typeface="Cambria"/>
              </a:rPr>
              <a:t>F</a:t>
            </a:r>
            <a:r>
              <a:rPr sz="2925" spc="262" baseline="-11396" dirty="0">
                <a:latin typeface="Calibri"/>
                <a:cs typeface="Calibri"/>
              </a:rPr>
              <a:t>02</a:t>
            </a:r>
            <a:r>
              <a:rPr sz="2750" i="1" spc="175" dirty="0">
                <a:latin typeface="Cambria"/>
                <a:cs typeface="Cambria"/>
              </a:rPr>
              <a:t>l</a:t>
            </a:r>
            <a:r>
              <a:rPr sz="2750" i="1" dirty="0">
                <a:latin typeface="Cambria"/>
                <a:cs typeface="Cambria"/>
              </a:rPr>
              <a:t>	</a:t>
            </a:r>
            <a:r>
              <a:rPr sz="2750" spc="640" dirty="0">
                <a:latin typeface="Cambria"/>
                <a:cs typeface="Cambria"/>
              </a:rPr>
              <a:t>+</a:t>
            </a:r>
            <a:r>
              <a:rPr sz="2750" spc="350" dirty="0">
                <a:latin typeface="Cambria"/>
                <a:cs typeface="Cambria"/>
              </a:rPr>
              <a:t> </a:t>
            </a:r>
            <a:r>
              <a:rPr sz="4125" spc="-217" baseline="-38383" dirty="0">
                <a:latin typeface="Cambria"/>
                <a:cs typeface="Cambria"/>
              </a:rPr>
              <a:t>2</a:t>
            </a:r>
            <a:r>
              <a:rPr sz="4125" spc="-412" baseline="-38383" dirty="0">
                <a:latin typeface="Cambria"/>
                <a:cs typeface="Cambria"/>
              </a:rPr>
              <a:t> </a:t>
            </a:r>
            <a:r>
              <a:rPr sz="2750" i="1" spc="150" dirty="0">
                <a:latin typeface="Cambria"/>
                <a:cs typeface="Cambria"/>
              </a:rPr>
              <a:t>F</a:t>
            </a:r>
            <a:r>
              <a:rPr sz="2925" spc="225" baseline="-11396" dirty="0">
                <a:latin typeface="Calibri"/>
                <a:cs typeface="Calibri"/>
              </a:rPr>
              <a:t>30</a:t>
            </a:r>
            <a:r>
              <a:rPr sz="2750" i="1" spc="150" dirty="0">
                <a:latin typeface="Cambria"/>
                <a:cs typeface="Cambria"/>
              </a:rPr>
              <a:t>w</a:t>
            </a:r>
            <a:r>
              <a:rPr sz="2750" i="1" dirty="0">
                <a:latin typeface="Cambria"/>
                <a:cs typeface="Cambria"/>
              </a:rPr>
              <a:t>	</a:t>
            </a:r>
            <a:r>
              <a:rPr sz="2750" spc="640" dirty="0">
                <a:latin typeface="Cambria"/>
                <a:cs typeface="Cambria"/>
              </a:rPr>
              <a:t>+</a:t>
            </a:r>
            <a:r>
              <a:rPr sz="2750" spc="350" dirty="0">
                <a:latin typeface="Cambria"/>
                <a:cs typeface="Cambria"/>
              </a:rPr>
              <a:t> </a:t>
            </a:r>
            <a:r>
              <a:rPr sz="4125" spc="-217" baseline="-38383" dirty="0">
                <a:latin typeface="Cambria"/>
                <a:cs typeface="Cambria"/>
              </a:rPr>
              <a:t>2</a:t>
            </a:r>
            <a:r>
              <a:rPr sz="4125" spc="-412" baseline="-38383" dirty="0">
                <a:latin typeface="Cambria"/>
                <a:cs typeface="Cambria"/>
              </a:rPr>
              <a:t> </a:t>
            </a:r>
            <a:r>
              <a:rPr sz="2750" i="1" spc="150" dirty="0">
                <a:latin typeface="Cambria"/>
                <a:cs typeface="Cambria"/>
              </a:rPr>
              <a:t>F</a:t>
            </a:r>
            <a:r>
              <a:rPr sz="2925" spc="225" baseline="-11396" dirty="0">
                <a:latin typeface="Calibri"/>
                <a:cs typeface="Calibri"/>
              </a:rPr>
              <a:t>21</a:t>
            </a:r>
            <a:r>
              <a:rPr sz="2750" i="1" spc="150" dirty="0">
                <a:latin typeface="Cambria"/>
                <a:cs typeface="Cambria"/>
              </a:rPr>
              <a:t>w</a:t>
            </a:r>
            <a:r>
              <a:rPr sz="2750" i="1" dirty="0">
                <a:latin typeface="Cambria"/>
                <a:cs typeface="Cambria"/>
              </a:rPr>
              <a:t>	</a:t>
            </a:r>
            <a:r>
              <a:rPr sz="2750" i="1" spc="85" dirty="0">
                <a:latin typeface="Cambria"/>
                <a:cs typeface="Cambria"/>
              </a:rPr>
              <a:t>l</a:t>
            </a:r>
            <a:r>
              <a:rPr sz="2750" i="1" spc="70" dirty="0">
                <a:latin typeface="Cambria"/>
                <a:cs typeface="Cambria"/>
              </a:rPr>
              <a:t> </a:t>
            </a:r>
            <a:r>
              <a:rPr sz="2750" spc="640" dirty="0">
                <a:latin typeface="Cambria"/>
                <a:cs typeface="Cambria"/>
              </a:rPr>
              <a:t>+</a:t>
            </a:r>
            <a:r>
              <a:rPr sz="2750" spc="15" dirty="0">
                <a:latin typeface="Cambria"/>
                <a:cs typeface="Cambria"/>
              </a:rPr>
              <a:t> </a:t>
            </a:r>
            <a:r>
              <a:rPr sz="2750" i="1" spc="195" dirty="0">
                <a:latin typeface="Cambria"/>
                <a:cs typeface="Cambria"/>
              </a:rPr>
              <a:t>...</a:t>
            </a:r>
            <a:endParaRPr sz="275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1955"/>
              </a:spcBef>
            </a:pPr>
            <a:endParaRPr sz="2750">
              <a:latin typeface="Cambria"/>
              <a:cs typeface="Cambria"/>
            </a:endParaRPr>
          </a:p>
          <a:p>
            <a:pPr marL="406400">
              <a:lnSpc>
                <a:spcPts val="2615"/>
              </a:lnSpc>
              <a:spcBef>
                <a:spcPts val="5"/>
              </a:spcBef>
            </a:pPr>
            <a:r>
              <a:rPr sz="2400" i="1" dirty="0">
                <a:solidFill>
                  <a:srgbClr val="060606"/>
                </a:solidFill>
                <a:latin typeface="Georgia"/>
                <a:cs typeface="Georgia"/>
              </a:rPr>
              <a:t>Fermat’s</a:t>
            </a:r>
            <a:r>
              <a:rPr sz="2400" i="1" spc="130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i="1" dirty="0">
                <a:solidFill>
                  <a:srgbClr val="060606"/>
                </a:solidFill>
                <a:latin typeface="Georgia"/>
                <a:cs typeface="Georgia"/>
              </a:rPr>
              <a:t>principle:</a:t>
            </a:r>
            <a:r>
              <a:rPr sz="2400" i="1" spc="120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dirty="0">
                <a:solidFill>
                  <a:srgbClr val="060606"/>
                </a:solidFill>
                <a:latin typeface="Georgia"/>
                <a:cs typeface="Georgia"/>
              </a:rPr>
              <a:t>Of</a:t>
            </a:r>
            <a:r>
              <a:rPr sz="2400" spc="135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dirty="0">
                <a:solidFill>
                  <a:srgbClr val="060606"/>
                </a:solidFill>
                <a:latin typeface="Georgia"/>
                <a:cs typeface="Georgia"/>
              </a:rPr>
              <a:t>all</a:t>
            </a:r>
            <a:r>
              <a:rPr sz="2400" spc="130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dirty="0">
                <a:solidFill>
                  <a:srgbClr val="060606"/>
                </a:solidFill>
                <a:latin typeface="Georgia"/>
                <a:cs typeface="Georgia"/>
              </a:rPr>
              <a:t>possible</a:t>
            </a:r>
            <a:r>
              <a:rPr sz="2400" spc="130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dirty="0">
                <a:solidFill>
                  <a:srgbClr val="060606"/>
                </a:solidFill>
                <a:latin typeface="Georgia"/>
                <a:cs typeface="Georgia"/>
              </a:rPr>
              <a:t>paths,</a:t>
            </a:r>
            <a:r>
              <a:rPr sz="2400" spc="130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spc="-10" dirty="0">
                <a:solidFill>
                  <a:srgbClr val="060606"/>
                </a:solidFill>
                <a:latin typeface="Georgia"/>
                <a:cs typeface="Georgia"/>
              </a:rPr>
              <a:t>light</a:t>
            </a:r>
            <a:endParaRPr sz="2400">
              <a:latin typeface="Georgia"/>
              <a:cs typeface="Georgia"/>
            </a:endParaRPr>
          </a:p>
          <a:p>
            <a:pPr>
              <a:lnSpc>
                <a:spcPts val="3010"/>
              </a:lnSpc>
              <a:tabLst>
                <a:tab pos="7905115" algn="l"/>
                <a:tab pos="8451215" algn="l"/>
              </a:tabLst>
            </a:pPr>
            <a:r>
              <a:rPr sz="2400" dirty="0">
                <a:solidFill>
                  <a:srgbClr val="060606"/>
                </a:solidFill>
                <a:latin typeface="Georgia"/>
                <a:cs typeface="Georgia"/>
              </a:rPr>
              <a:t>takes</a:t>
            </a:r>
            <a:r>
              <a:rPr sz="2400" spc="-55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dirty="0">
                <a:solidFill>
                  <a:srgbClr val="060606"/>
                </a:solidFill>
                <a:latin typeface="Georgia"/>
                <a:cs typeface="Georgia"/>
              </a:rPr>
              <a:t>the</a:t>
            </a:r>
            <a:r>
              <a:rPr sz="2400" spc="-55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dirty="0">
                <a:solidFill>
                  <a:srgbClr val="060606"/>
                </a:solidFill>
                <a:latin typeface="Georgia"/>
                <a:cs typeface="Georgia"/>
              </a:rPr>
              <a:t>path</a:t>
            </a:r>
            <a:r>
              <a:rPr sz="2400" spc="-55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dirty="0">
                <a:solidFill>
                  <a:srgbClr val="060606"/>
                </a:solidFill>
                <a:latin typeface="Georgia"/>
                <a:cs typeface="Georgia"/>
              </a:rPr>
              <a:t>which</a:t>
            </a:r>
            <a:r>
              <a:rPr sz="2400" spc="-55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dirty="0">
                <a:solidFill>
                  <a:srgbClr val="060606"/>
                </a:solidFill>
                <a:latin typeface="Georgia"/>
                <a:cs typeface="Georgia"/>
              </a:rPr>
              <a:t>requires</a:t>
            </a:r>
            <a:r>
              <a:rPr sz="2400" spc="-55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dirty="0">
                <a:solidFill>
                  <a:srgbClr val="060606"/>
                </a:solidFill>
                <a:latin typeface="Georgia"/>
                <a:cs typeface="Georgia"/>
              </a:rPr>
              <a:t>the</a:t>
            </a:r>
            <a:r>
              <a:rPr sz="2400" spc="-50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i="1" dirty="0">
                <a:solidFill>
                  <a:srgbClr val="060606"/>
                </a:solidFill>
                <a:latin typeface="Georgia"/>
                <a:cs typeface="Georgia"/>
              </a:rPr>
              <a:t>shortest</a:t>
            </a:r>
            <a:r>
              <a:rPr sz="2400" i="1" spc="-50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i="1" spc="-10" dirty="0">
                <a:solidFill>
                  <a:srgbClr val="060606"/>
                </a:solidFill>
                <a:latin typeface="Georgia"/>
                <a:cs typeface="Georgia"/>
              </a:rPr>
              <a:t>time</a:t>
            </a:r>
            <a:r>
              <a:rPr sz="2400" spc="-10" dirty="0">
                <a:solidFill>
                  <a:srgbClr val="060606"/>
                </a:solidFill>
                <a:latin typeface="Georgia"/>
                <a:cs typeface="Georgia"/>
              </a:rPr>
              <a:t>.</a:t>
            </a:r>
            <a:r>
              <a:rPr sz="2400" dirty="0">
                <a:solidFill>
                  <a:srgbClr val="060606"/>
                </a:solidFill>
                <a:latin typeface="Georgia"/>
                <a:cs typeface="Georgia"/>
              </a:rPr>
              <a:t>	</a:t>
            </a:r>
            <a:r>
              <a:rPr sz="4125" i="1" spc="187" baseline="31313" dirty="0">
                <a:latin typeface="Cambria"/>
                <a:cs typeface="Cambria"/>
              </a:rPr>
              <a:t>δF</a:t>
            </a:r>
            <a:r>
              <a:rPr sz="4125" i="1" baseline="31313" dirty="0">
                <a:latin typeface="Cambria"/>
                <a:cs typeface="Cambria"/>
              </a:rPr>
              <a:t>	</a:t>
            </a:r>
            <a:r>
              <a:rPr sz="4125" spc="960" baseline="31313" dirty="0">
                <a:latin typeface="Cambria"/>
                <a:cs typeface="Cambria"/>
              </a:rPr>
              <a:t>=</a:t>
            </a:r>
            <a:r>
              <a:rPr sz="4125" spc="254" baseline="31313" dirty="0">
                <a:latin typeface="Cambria"/>
                <a:cs typeface="Cambria"/>
              </a:rPr>
              <a:t> </a:t>
            </a:r>
            <a:r>
              <a:rPr sz="4125" spc="-75" baseline="31313" dirty="0">
                <a:latin typeface="Cambria"/>
                <a:cs typeface="Cambria"/>
              </a:rPr>
              <a:t>0</a:t>
            </a:r>
            <a:endParaRPr sz="4125" baseline="31313">
              <a:latin typeface="Cambria"/>
              <a:cs typeface="Cambria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150798" y="6737415"/>
            <a:ext cx="10561320" cy="2317115"/>
            <a:chOff x="150798" y="6737415"/>
            <a:chExt cx="10561320" cy="2317115"/>
          </a:xfrm>
        </p:grpSpPr>
        <p:sp>
          <p:nvSpPr>
            <p:cNvPr id="49" name="object 49"/>
            <p:cNvSpPr/>
            <p:nvPr/>
          </p:nvSpPr>
          <p:spPr>
            <a:xfrm>
              <a:off x="163498" y="6750115"/>
              <a:ext cx="10535920" cy="2291715"/>
            </a:xfrm>
            <a:custGeom>
              <a:avLst/>
              <a:gdLst/>
              <a:ahLst/>
              <a:cxnLst/>
              <a:rect l="l" t="t" r="r" b="b"/>
              <a:pathLst>
                <a:path w="10535920" h="2291715">
                  <a:moveTo>
                    <a:pt x="0" y="0"/>
                  </a:moveTo>
                  <a:lnTo>
                    <a:pt x="10535801" y="0"/>
                  </a:lnTo>
                  <a:lnTo>
                    <a:pt x="10535801" y="2291322"/>
                  </a:lnTo>
                  <a:lnTo>
                    <a:pt x="0" y="229132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163498" y="6750115"/>
              <a:ext cx="10535920" cy="2291715"/>
            </a:xfrm>
            <a:custGeom>
              <a:avLst/>
              <a:gdLst/>
              <a:ahLst/>
              <a:cxnLst/>
              <a:rect l="l" t="t" r="r" b="b"/>
              <a:pathLst>
                <a:path w="10535920" h="2291715">
                  <a:moveTo>
                    <a:pt x="0" y="0"/>
                  </a:moveTo>
                  <a:lnTo>
                    <a:pt x="10535801" y="0"/>
                  </a:lnTo>
                  <a:lnTo>
                    <a:pt x="10535801" y="2291322"/>
                  </a:lnTo>
                  <a:lnTo>
                    <a:pt x="0" y="2291322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1" name="object 51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pc="-10" dirty="0"/>
              <a:t>Software</a:t>
            </a:r>
            <a:r>
              <a:rPr spc="-50" dirty="0"/>
              <a:t> </a:t>
            </a:r>
            <a:r>
              <a:rPr dirty="0"/>
              <a:t>for</a:t>
            </a:r>
            <a:r>
              <a:rPr spc="-45" dirty="0"/>
              <a:t> </a:t>
            </a:r>
            <a:r>
              <a:rPr dirty="0"/>
              <a:t>Optical</a:t>
            </a:r>
            <a:r>
              <a:rPr spc="-45" dirty="0"/>
              <a:t> </a:t>
            </a:r>
            <a:r>
              <a:rPr dirty="0"/>
              <a:t>Simulations,</a:t>
            </a:r>
            <a:r>
              <a:rPr spc="-45" dirty="0"/>
              <a:t> </a:t>
            </a:r>
            <a:r>
              <a:rPr spc="-20" dirty="0"/>
              <a:t>Trieste,</a:t>
            </a:r>
            <a:r>
              <a:rPr spc="-45" dirty="0"/>
              <a:t> </a:t>
            </a:r>
            <a:r>
              <a:rPr dirty="0"/>
              <a:t>October</a:t>
            </a:r>
            <a:r>
              <a:rPr spc="-45" dirty="0"/>
              <a:t> </a:t>
            </a:r>
            <a:r>
              <a:rPr dirty="0"/>
              <a:t>2016.</a:t>
            </a:r>
            <a:r>
              <a:rPr spc="-45" dirty="0"/>
              <a:t> </a:t>
            </a:r>
            <a:r>
              <a:rPr dirty="0"/>
              <a:t>Ruben</a:t>
            </a:r>
            <a:r>
              <a:rPr spc="-45" dirty="0"/>
              <a:t> </a:t>
            </a:r>
            <a:r>
              <a:rPr spc="-10" dirty="0"/>
              <a:t>Reininger</a:t>
            </a:r>
          </a:p>
        </p:txBody>
      </p:sp>
      <p:sp>
        <p:nvSpPr>
          <p:cNvPr id="52" name="object 5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25" dirty="0"/>
              <a:t>6</a:t>
            </a:fld>
            <a:endParaRPr spc="-25" dirty="0"/>
          </a:p>
        </p:txBody>
      </p:sp>
      <p:sp>
        <p:nvSpPr>
          <p:cNvPr id="53" name="object 53"/>
          <p:cNvSpPr txBox="1"/>
          <p:nvPr/>
        </p:nvSpPr>
        <p:spPr>
          <a:xfrm>
            <a:off x="1069339" y="9384967"/>
            <a:ext cx="72390" cy="211454"/>
          </a:xfrm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sz="1200" spc="-50" dirty="0">
                <a:solidFill>
                  <a:srgbClr val="275D90"/>
                </a:solidFill>
                <a:latin typeface="Calibri"/>
                <a:cs typeface="Calibri"/>
              </a:rPr>
              <a:t>-</a:t>
            </a:r>
            <a:endParaRPr sz="1200">
              <a:latin typeface="Calibri"/>
              <a:cs typeface="Calibri"/>
            </a:endParaRPr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6DCB511B-169D-4578-A8EF-33178BFB98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234" y="1371600"/>
            <a:ext cx="11688331" cy="7282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4673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726754" y="0"/>
            <a:ext cx="5278045" cy="215900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616200" y="254000"/>
            <a:ext cx="7766684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863725" algn="l"/>
                <a:tab pos="5205730" algn="l"/>
              </a:tabLst>
            </a:pPr>
            <a:r>
              <a:rPr spc="-10" dirty="0"/>
              <a:t>Toroidal</a:t>
            </a:r>
            <a:r>
              <a:rPr dirty="0"/>
              <a:t>	Grating</a:t>
            </a:r>
            <a:r>
              <a:rPr spc="-160" dirty="0"/>
              <a:t> </a:t>
            </a:r>
            <a:r>
              <a:rPr spc="-10" dirty="0"/>
              <a:t>Optical</a:t>
            </a:r>
            <a:r>
              <a:rPr dirty="0"/>
              <a:t>	Path</a:t>
            </a:r>
            <a:r>
              <a:rPr spc="-200" dirty="0"/>
              <a:t> </a:t>
            </a:r>
            <a:r>
              <a:rPr spc="-10" dirty="0"/>
              <a:t>Length</a:t>
            </a:r>
          </a:p>
        </p:txBody>
      </p:sp>
      <p:sp>
        <p:nvSpPr>
          <p:cNvPr id="44" name="object 44"/>
          <p:cNvSpPr txBox="1"/>
          <p:nvPr/>
        </p:nvSpPr>
        <p:spPr>
          <a:xfrm>
            <a:off x="228600" y="6983421"/>
            <a:ext cx="10300335" cy="194818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503929">
              <a:lnSpc>
                <a:spcPts val="1935"/>
              </a:lnSpc>
              <a:tabLst>
                <a:tab pos="4514850" algn="l"/>
                <a:tab pos="5149215" algn="l"/>
                <a:tab pos="6009640" algn="l"/>
                <a:tab pos="6644005" algn="l"/>
                <a:tab pos="7654925" algn="l"/>
                <a:tab pos="8289290" algn="l"/>
                <a:tab pos="9300210" algn="l"/>
              </a:tabLst>
            </a:pPr>
            <a:r>
              <a:rPr sz="2750" spc="-50" dirty="0">
                <a:latin typeface="Cambria"/>
                <a:cs typeface="Cambria"/>
              </a:rPr>
              <a:t>1</a:t>
            </a:r>
            <a:r>
              <a:rPr sz="2750" dirty="0">
                <a:latin typeface="Cambria"/>
                <a:cs typeface="Cambria"/>
              </a:rPr>
              <a:t>	</a:t>
            </a:r>
            <a:r>
              <a:rPr sz="2925" spc="97" baseline="-21367" dirty="0">
                <a:latin typeface="Calibri"/>
                <a:cs typeface="Calibri"/>
              </a:rPr>
              <a:t>2</a:t>
            </a:r>
            <a:r>
              <a:rPr sz="2925" baseline="-21367" dirty="0">
                <a:latin typeface="Calibri"/>
                <a:cs typeface="Calibri"/>
              </a:rPr>
              <a:t>	</a:t>
            </a:r>
            <a:r>
              <a:rPr sz="2750" spc="-50" dirty="0">
                <a:latin typeface="Cambria"/>
                <a:cs typeface="Cambria"/>
              </a:rPr>
              <a:t>1</a:t>
            </a:r>
            <a:r>
              <a:rPr sz="2750" dirty="0">
                <a:latin typeface="Cambria"/>
                <a:cs typeface="Cambria"/>
              </a:rPr>
              <a:t>	</a:t>
            </a:r>
            <a:r>
              <a:rPr sz="2925" spc="97" baseline="-21367" dirty="0">
                <a:latin typeface="Calibri"/>
                <a:cs typeface="Calibri"/>
              </a:rPr>
              <a:t>2</a:t>
            </a:r>
            <a:r>
              <a:rPr sz="2925" baseline="-21367" dirty="0">
                <a:latin typeface="Calibri"/>
                <a:cs typeface="Calibri"/>
              </a:rPr>
              <a:t>	</a:t>
            </a:r>
            <a:r>
              <a:rPr sz="2750" spc="-50" dirty="0">
                <a:latin typeface="Cambria"/>
                <a:cs typeface="Cambria"/>
              </a:rPr>
              <a:t>1</a:t>
            </a:r>
            <a:r>
              <a:rPr sz="2750" dirty="0">
                <a:latin typeface="Cambria"/>
                <a:cs typeface="Cambria"/>
              </a:rPr>
              <a:t>	</a:t>
            </a:r>
            <a:r>
              <a:rPr sz="2925" spc="97" baseline="-21367" dirty="0">
                <a:latin typeface="Calibri"/>
                <a:cs typeface="Calibri"/>
              </a:rPr>
              <a:t>3</a:t>
            </a:r>
            <a:r>
              <a:rPr sz="2925" baseline="-21367" dirty="0">
                <a:latin typeface="Calibri"/>
                <a:cs typeface="Calibri"/>
              </a:rPr>
              <a:t>	</a:t>
            </a:r>
            <a:r>
              <a:rPr sz="2750" spc="-50" dirty="0">
                <a:latin typeface="Cambria"/>
                <a:cs typeface="Cambria"/>
              </a:rPr>
              <a:t>1</a:t>
            </a:r>
            <a:r>
              <a:rPr sz="2750" dirty="0">
                <a:latin typeface="Cambria"/>
                <a:cs typeface="Cambria"/>
              </a:rPr>
              <a:t>	</a:t>
            </a:r>
            <a:r>
              <a:rPr sz="2925" spc="97" baseline="-21367" dirty="0">
                <a:latin typeface="Calibri"/>
                <a:cs typeface="Calibri"/>
              </a:rPr>
              <a:t>2</a:t>
            </a:r>
            <a:endParaRPr sz="2925" baseline="-21367">
              <a:latin typeface="Calibri"/>
              <a:cs typeface="Calibri"/>
            </a:endParaRPr>
          </a:p>
          <a:p>
            <a:pPr marL="527050">
              <a:lnSpc>
                <a:spcPts val="2595"/>
              </a:lnSpc>
              <a:tabLst>
                <a:tab pos="902335" algn="l"/>
                <a:tab pos="4752340" algn="l"/>
                <a:tab pos="6247130" algn="l"/>
                <a:tab pos="7892415" algn="l"/>
                <a:tab pos="9458960" algn="l"/>
              </a:tabLst>
            </a:pPr>
            <a:r>
              <a:rPr sz="2750" i="1" spc="280" dirty="0">
                <a:latin typeface="Cambria"/>
                <a:cs typeface="Cambria"/>
              </a:rPr>
              <a:t>F</a:t>
            </a:r>
            <a:r>
              <a:rPr sz="2750" i="1" dirty="0">
                <a:latin typeface="Cambria"/>
                <a:cs typeface="Cambria"/>
              </a:rPr>
              <a:t>	</a:t>
            </a:r>
            <a:r>
              <a:rPr sz="2750" spc="640" dirty="0">
                <a:latin typeface="Cambria"/>
                <a:cs typeface="Cambria"/>
              </a:rPr>
              <a:t>=</a:t>
            </a:r>
            <a:r>
              <a:rPr sz="2750" spc="170" dirty="0">
                <a:latin typeface="Cambria"/>
                <a:cs typeface="Cambria"/>
              </a:rPr>
              <a:t> </a:t>
            </a:r>
            <a:r>
              <a:rPr sz="2750" i="1" spc="190" dirty="0">
                <a:latin typeface="Cambria"/>
                <a:cs typeface="Cambria"/>
              </a:rPr>
              <a:t>F</a:t>
            </a:r>
            <a:r>
              <a:rPr sz="2925" spc="284" baseline="-11396" dirty="0">
                <a:latin typeface="Calibri"/>
                <a:cs typeface="Calibri"/>
              </a:rPr>
              <a:t>00</a:t>
            </a:r>
            <a:r>
              <a:rPr sz="2925" spc="472" baseline="-11396" dirty="0">
                <a:latin typeface="Calibri"/>
                <a:cs typeface="Calibri"/>
              </a:rPr>
              <a:t> </a:t>
            </a:r>
            <a:r>
              <a:rPr sz="2750" spc="640" dirty="0">
                <a:latin typeface="Cambria"/>
                <a:cs typeface="Cambria"/>
              </a:rPr>
              <a:t>+</a:t>
            </a:r>
            <a:r>
              <a:rPr sz="2750" spc="20" dirty="0">
                <a:latin typeface="Cambria"/>
                <a:cs typeface="Cambria"/>
              </a:rPr>
              <a:t> </a:t>
            </a:r>
            <a:r>
              <a:rPr sz="2750" i="1" spc="170" dirty="0">
                <a:latin typeface="Cambria"/>
                <a:cs typeface="Cambria"/>
              </a:rPr>
              <a:t>F</a:t>
            </a:r>
            <a:r>
              <a:rPr sz="2925" spc="254" baseline="-11396" dirty="0">
                <a:latin typeface="Calibri"/>
                <a:cs typeface="Calibri"/>
              </a:rPr>
              <a:t>01</a:t>
            </a:r>
            <a:r>
              <a:rPr sz="2750" i="1" spc="170" dirty="0">
                <a:latin typeface="Cambria"/>
                <a:cs typeface="Cambria"/>
              </a:rPr>
              <a:t>w</a:t>
            </a:r>
            <a:r>
              <a:rPr sz="2750" i="1" spc="90" dirty="0">
                <a:latin typeface="Cambria"/>
                <a:cs typeface="Cambria"/>
              </a:rPr>
              <a:t> </a:t>
            </a:r>
            <a:r>
              <a:rPr sz="2750" spc="640" dirty="0">
                <a:latin typeface="Cambria"/>
                <a:cs typeface="Cambria"/>
              </a:rPr>
              <a:t>+</a:t>
            </a:r>
            <a:r>
              <a:rPr sz="2750" spc="350" dirty="0">
                <a:latin typeface="Cambria"/>
                <a:cs typeface="Cambria"/>
              </a:rPr>
              <a:t> </a:t>
            </a:r>
            <a:r>
              <a:rPr sz="4125" spc="-217" baseline="-38383" dirty="0">
                <a:latin typeface="Cambria"/>
                <a:cs typeface="Cambria"/>
              </a:rPr>
              <a:t>2</a:t>
            </a:r>
            <a:r>
              <a:rPr sz="4125" spc="-405" baseline="-38383" dirty="0">
                <a:latin typeface="Cambria"/>
                <a:cs typeface="Cambria"/>
              </a:rPr>
              <a:t> </a:t>
            </a:r>
            <a:r>
              <a:rPr sz="2750" i="1" spc="150" dirty="0">
                <a:latin typeface="Cambria"/>
                <a:cs typeface="Cambria"/>
              </a:rPr>
              <a:t>F</a:t>
            </a:r>
            <a:r>
              <a:rPr sz="2925" spc="225" baseline="-11396" dirty="0">
                <a:latin typeface="Calibri"/>
                <a:cs typeface="Calibri"/>
              </a:rPr>
              <a:t>20</a:t>
            </a:r>
            <a:r>
              <a:rPr sz="2750" i="1" spc="150" dirty="0">
                <a:latin typeface="Cambria"/>
                <a:cs typeface="Cambria"/>
              </a:rPr>
              <a:t>w</a:t>
            </a:r>
            <a:r>
              <a:rPr sz="2750" i="1" dirty="0">
                <a:latin typeface="Cambria"/>
                <a:cs typeface="Cambria"/>
              </a:rPr>
              <a:t>	</a:t>
            </a:r>
            <a:r>
              <a:rPr sz="2750" spc="640" dirty="0">
                <a:latin typeface="Cambria"/>
                <a:cs typeface="Cambria"/>
              </a:rPr>
              <a:t>+</a:t>
            </a:r>
            <a:r>
              <a:rPr sz="2750" spc="350" dirty="0">
                <a:latin typeface="Cambria"/>
                <a:cs typeface="Cambria"/>
              </a:rPr>
              <a:t> </a:t>
            </a:r>
            <a:r>
              <a:rPr sz="4125" spc="-217" baseline="-38383" dirty="0">
                <a:latin typeface="Cambria"/>
                <a:cs typeface="Cambria"/>
              </a:rPr>
              <a:t>2</a:t>
            </a:r>
            <a:r>
              <a:rPr sz="4125" spc="-412" baseline="-38383" dirty="0">
                <a:latin typeface="Cambria"/>
                <a:cs typeface="Cambria"/>
              </a:rPr>
              <a:t> </a:t>
            </a:r>
            <a:r>
              <a:rPr sz="2750" i="1" spc="175" dirty="0">
                <a:latin typeface="Cambria"/>
                <a:cs typeface="Cambria"/>
              </a:rPr>
              <a:t>F</a:t>
            </a:r>
            <a:r>
              <a:rPr sz="2925" spc="262" baseline="-11396" dirty="0">
                <a:latin typeface="Calibri"/>
                <a:cs typeface="Calibri"/>
              </a:rPr>
              <a:t>02</a:t>
            </a:r>
            <a:r>
              <a:rPr sz="2750" i="1" spc="175" dirty="0">
                <a:latin typeface="Cambria"/>
                <a:cs typeface="Cambria"/>
              </a:rPr>
              <a:t>l</a:t>
            </a:r>
            <a:r>
              <a:rPr sz="2750" i="1" dirty="0">
                <a:latin typeface="Cambria"/>
                <a:cs typeface="Cambria"/>
              </a:rPr>
              <a:t>	</a:t>
            </a:r>
            <a:r>
              <a:rPr sz="2750" spc="640" dirty="0">
                <a:latin typeface="Cambria"/>
                <a:cs typeface="Cambria"/>
              </a:rPr>
              <a:t>+</a:t>
            </a:r>
            <a:r>
              <a:rPr sz="2750" spc="350" dirty="0">
                <a:latin typeface="Cambria"/>
                <a:cs typeface="Cambria"/>
              </a:rPr>
              <a:t> </a:t>
            </a:r>
            <a:r>
              <a:rPr sz="4125" spc="-217" baseline="-38383" dirty="0">
                <a:latin typeface="Cambria"/>
                <a:cs typeface="Cambria"/>
              </a:rPr>
              <a:t>2</a:t>
            </a:r>
            <a:r>
              <a:rPr sz="4125" spc="-412" baseline="-38383" dirty="0">
                <a:latin typeface="Cambria"/>
                <a:cs typeface="Cambria"/>
              </a:rPr>
              <a:t> </a:t>
            </a:r>
            <a:r>
              <a:rPr sz="2750" i="1" spc="150" dirty="0">
                <a:latin typeface="Cambria"/>
                <a:cs typeface="Cambria"/>
              </a:rPr>
              <a:t>F</a:t>
            </a:r>
            <a:r>
              <a:rPr sz="2925" spc="225" baseline="-11396" dirty="0">
                <a:latin typeface="Calibri"/>
                <a:cs typeface="Calibri"/>
              </a:rPr>
              <a:t>30</a:t>
            </a:r>
            <a:r>
              <a:rPr sz="2750" i="1" spc="150" dirty="0">
                <a:latin typeface="Cambria"/>
                <a:cs typeface="Cambria"/>
              </a:rPr>
              <a:t>w</a:t>
            </a:r>
            <a:r>
              <a:rPr sz="2750" i="1" dirty="0">
                <a:latin typeface="Cambria"/>
                <a:cs typeface="Cambria"/>
              </a:rPr>
              <a:t>	</a:t>
            </a:r>
            <a:r>
              <a:rPr sz="2750" spc="640" dirty="0">
                <a:latin typeface="Cambria"/>
                <a:cs typeface="Cambria"/>
              </a:rPr>
              <a:t>+</a:t>
            </a:r>
            <a:r>
              <a:rPr sz="2750" spc="350" dirty="0">
                <a:latin typeface="Cambria"/>
                <a:cs typeface="Cambria"/>
              </a:rPr>
              <a:t> </a:t>
            </a:r>
            <a:r>
              <a:rPr sz="4125" spc="-217" baseline="-38383" dirty="0">
                <a:latin typeface="Cambria"/>
                <a:cs typeface="Cambria"/>
              </a:rPr>
              <a:t>2</a:t>
            </a:r>
            <a:r>
              <a:rPr sz="4125" spc="-412" baseline="-38383" dirty="0">
                <a:latin typeface="Cambria"/>
                <a:cs typeface="Cambria"/>
              </a:rPr>
              <a:t> </a:t>
            </a:r>
            <a:r>
              <a:rPr sz="2750" i="1" spc="150" dirty="0">
                <a:latin typeface="Cambria"/>
                <a:cs typeface="Cambria"/>
              </a:rPr>
              <a:t>F</a:t>
            </a:r>
            <a:r>
              <a:rPr sz="2925" spc="225" baseline="-11396" dirty="0">
                <a:latin typeface="Calibri"/>
                <a:cs typeface="Calibri"/>
              </a:rPr>
              <a:t>21</a:t>
            </a:r>
            <a:r>
              <a:rPr sz="2750" i="1" spc="150" dirty="0">
                <a:latin typeface="Cambria"/>
                <a:cs typeface="Cambria"/>
              </a:rPr>
              <a:t>w</a:t>
            </a:r>
            <a:r>
              <a:rPr sz="2750" i="1" dirty="0">
                <a:latin typeface="Cambria"/>
                <a:cs typeface="Cambria"/>
              </a:rPr>
              <a:t>	</a:t>
            </a:r>
            <a:r>
              <a:rPr sz="2750" i="1" spc="85" dirty="0">
                <a:latin typeface="Cambria"/>
                <a:cs typeface="Cambria"/>
              </a:rPr>
              <a:t>l</a:t>
            </a:r>
            <a:r>
              <a:rPr sz="2750" i="1" spc="70" dirty="0">
                <a:latin typeface="Cambria"/>
                <a:cs typeface="Cambria"/>
              </a:rPr>
              <a:t> </a:t>
            </a:r>
            <a:r>
              <a:rPr sz="2750" spc="640" dirty="0">
                <a:latin typeface="Cambria"/>
                <a:cs typeface="Cambria"/>
              </a:rPr>
              <a:t>+</a:t>
            </a:r>
            <a:r>
              <a:rPr sz="2750" spc="15" dirty="0">
                <a:latin typeface="Cambria"/>
                <a:cs typeface="Cambria"/>
              </a:rPr>
              <a:t> </a:t>
            </a:r>
            <a:r>
              <a:rPr sz="2750" i="1" spc="195" dirty="0">
                <a:latin typeface="Cambria"/>
                <a:cs typeface="Cambria"/>
              </a:rPr>
              <a:t>...</a:t>
            </a:r>
            <a:endParaRPr sz="275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1955"/>
              </a:spcBef>
            </a:pPr>
            <a:endParaRPr sz="2750">
              <a:latin typeface="Cambria"/>
              <a:cs typeface="Cambria"/>
            </a:endParaRPr>
          </a:p>
          <a:p>
            <a:pPr marL="406400">
              <a:lnSpc>
                <a:spcPts val="2615"/>
              </a:lnSpc>
              <a:spcBef>
                <a:spcPts val="5"/>
              </a:spcBef>
            </a:pPr>
            <a:r>
              <a:rPr sz="2400" i="1" dirty="0">
                <a:solidFill>
                  <a:srgbClr val="060606"/>
                </a:solidFill>
                <a:latin typeface="Georgia"/>
                <a:cs typeface="Georgia"/>
              </a:rPr>
              <a:t>Fermat’s</a:t>
            </a:r>
            <a:r>
              <a:rPr sz="2400" i="1" spc="130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i="1" dirty="0">
                <a:solidFill>
                  <a:srgbClr val="060606"/>
                </a:solidFill>
                <a:latin typeface="Georgia"/>
                <a:cs typeface="Georgia"/>
              </a:rPr>
              <a:t>principle:</a:t>
            </a:r>
            <a:r>
              <a:rPr sz="2400" i="1" spc="120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dirty="0">
                <a:solidFill>
                  <a:srgbClr val="060606"/>
                </a:solidFill>
                <a:latin typeface="Georgia"/>
                <a:cs typeface="Georgia"/>
              </a:rPr>
              <a:t>Of</a:t>
            </a:r>
            <a:r>
              <a:rPr sz="2400" spc="135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dirty="0">
                <a:solidFill>
                  <a:srgbClr val="060606"/>
                </a:solidFill>
                <a:latin typeface="Georgia"/>
                <a:cs typeface="Georgia"/>
              </a:rPr>
              <a:t>all</a:t>
            </a:r>
            <a:r>
              <a:rPr sz="2400" spc="130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dirty="0">
                <a:solidFill>
                  <a:srgbClr val="060606"/>
                </a:solidFill>
                <a:latin typeface="Georgia"/>
                <a:cs typeface="Georgia"/>
              </a:rPr>
              <a:t>possible</a:t>
            </a:r>
            <a:r>
              <a:rPr sz="2400" spc="130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dirty="0">
                <a:solidFill>
                  <a:srgbClr val="060606"/>
                </a:solidFill>
                <a:latin typeface="Georgia"/>
                <a:cs typeface="Georgia"/>
              </a:rPr>
              <a:t>paths,</a:t>
            </a:r>
            <a:r>
              <a:rPr sz="2400" spc="130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spc="-10" dirty="0">
                <a:solidFill>
                  <a:srgbClr val="060606"/>
                </a:solidFill>
                <a:latin typeface="Georgia"/>
                <a:cs typeface="Georgia"/>
              </a:rPr>
              <a:t>light</a:t>
            </a:r>
            <a:endParaRPr sz="2400">
              <a:latin typeface="Georgia"/>
              <a:cs typeface="Georgia"/>
            </a:endParaRPr>
          </a:p>
          <a:p>
            <a:pPr>
              <a:lnSpc>
                <a:spcPts val="3010"/>
              </a:lnSpc>
              <a:tabLst>
                <a:tab pos="7905115" algn="l"/>
                <a:tab pos="8451215" algn="l"/>
              </a:tabLst>
            </a:pPr>
            <a:r>
              <a:rPr sz="2400" dirty="0">
                <a:solidFill>
                  <a:srgbClr val="060606"/>
                </a:solidFill>
                <a:latin typeface="Georgia"/>
                <a:cs typeface="Georgia"/>
              </a:rPr>
              <a:t>takes</a:t>
            </a:r>
            <a:r>
              <a:rPr sz="2400" spc="-55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dirty="0">
                <a:solidFill>
                  <a:srgbClr val="060606"/>
                </a:solidFill>
                <a:latin typeface="Georgia"/>
                <a:cs typeface="Georgia"/>
              </a:rPr>
              <a:t>the</a:t>
            </a:r>
            <a:r>
              <a:rPr sz="2400" spc="-55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dirty="0">
                <a:solidFill>
                  <a:srgbClr val="060606"/>
                </a:solidFill>
                <a:latin typeface="Georgia"/>
                <a:cs typeface="Georgia"/>
              </a:rPr>
              <a:t>path</a:t>
            </a:r>
            <a:r>
              <a:rPr sz="2400" spc="-55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dirty="0">
                <a:solidFill>
                  <a:srgbClr val="060606"/>
                </a:solidFill>
                <a:latin typeface="Georgia"/>
                <a:cs typeface="Georgia"/>
              </a:rPr>
              <a:t>which</a:t>
            </a:r>
            <a:r>
              <a:rPr sz="2400" spc="-55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dirty="0">
                <a:solidFill>
                  <a:srgbClr val="060606"/>
                </a:solidFill>
                <a:latin typeface="Georgia"/>
                <a:cs typeface="Georgia"/>
              </a:rPr>
              <a:t>requires</a:t>
            </a:r>
            <a:r>
              <a:rPr sz="2400" spc="-55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dirty="0">
                <a:solidFill>
                  <a:srgbClr val="060606"/>
                </a:solidFill>
                <a:latin typeface="Georgia"/>
                <a:cs typeface="Georgia"/>
              </a:rPr>
              <a:t>the</a:t>
            </a:r>
            <a:r>
              <a:rPr sz="2400" spc="-50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i="1" dirty="0">
                <a:solidFill>
                  <a:srgbClr val="060606"/>
                </a:solidFill>
                <a:latin typeface="Georgia"/>
                <a:cs typeface="Georgia"/>
              </a:rPr>
              <a:t>shortest</a:t>
            </a:r>
            <a:r>
              <a:rPr sz="2400" i="1" spc="-50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i="1" spc="-10" dirty="0">
                <a:solidFill>
                  <a:srgbClr val="060606"/>
                </a:solidFill>
                <a:latin typeface="Georgia"/>
                <a:cs typeface="Georgia"/>
              </a:rPr>
              <a:t>time</a:t>
            </a:r>
            <a:r>
              <a:rPr sz="2400" spc="-10" dirty="0">
                <a:solidFill>
                  <a:srgbClr val="060606"/>
                </a:solidFill>
                <a:latin typeface="Georgia"/>
                <a:cs typeface="Georgia"/>
              </a:rPr>
              <a:t>.</a:t>
            </a:r>
            <a:r>
              <a:rPr sz="2400" dirty="0">
                <a:solidFill>
                  <a:srgbClr val="060606"/>
                </a:solidFill>
                <a:latin typeface="Georgia"/>
                <a:cs typeface="Georgia"/>
              </a:rPr>
              <a:t>	</a:t>
            </a:r>
            <a:r>
              <a:rPr sz="4125" i="1" spc="187" baseline="31313" dirty="0">
                <a:latin typeface="Cambria"/>
                <a:cs typeface="Cambria"/>
              </a:rPr>
              <a:t>δF</a:t>
            </a:r>
            <a:r>
              <a:rPr sz="4125" i="1" baseline="31313" dirty="0">
                <a:latin typeface="Cambria"/>
                <a:cs typeface="Cambria"/>
              </a:rPr>
              <a:t>	</a:t>
            </a:r>
            <a:r>
              <a:rPr sz="4125" spc="960" baseline="31313" dirty="0">
                <a:latin typeface="Cambria"/>
                <a:cs typeface="Cambria"/>
              </a:rPr>
              <a:t>=</a:t>
            </a:r>
            <a:r>
              <a:rPr sz="4125" spc="254" baseline="31313" dirty="0">
                <a:latin typeface="Cambria"/>
                <a:cs typeface="Cambria"/>
              </a:rPr>
              <a:t> </a:t>
            </a:r>
            <a:r>
              <a:rPr sz="4125" spc="-75" baseline="31313" dirty="0">
                <a:latin typeface="Cambria"/>
                <a:cs typeface="Cambria"/>
              </a:rPr>
              <a:t>0</a:t>
            </a:r>
            <a:endParaRPr sz="4125" baseline="31313">
              <a:latin typeface="Cambria"/>
              <a:cs typeface="Cambria"/>
            </a:endParaRPr>
          </a:p>
        </p:txBody>
      </p:sp>
      <p:grpSp>
        <p:nvGrpSpPr>
          <p:cNvPr id="64" name="object 64"/>
          <p:cNvGrpSpPr/>
          <p:nvPr/>
        </p:nvGrpSpPr>
        <p:grpSpPr>
          <a:xfrm>
            <a:off x="150798" y="6737415"/>
            <a:ext cx="10561320" cy="2376805"/>
            <a:chOff x="150798" y="6737415"/>
            <a:chExt cx="10561320" cy="2376805"/>
          </a:xfrm>
        </p:grpSpPr>
        <p:sp>
          <p:nvSpPr>
            <p:cNvPr id="65" name="object 65"/>
            <p:cNvSpPr/>
            <p:nvPr/>
          </p:nvSpPr>
          <p:spPr>
            <a:xfrm>
              <a:off x="163498" y="6750115"/>
              <a:ext cx="10535920" cy="2351405"/>
            </a:xfrm>
            <a:custGeom>
              <a:avLst/>
              <a:gdLst/>
              <a:ahLst/>
              <a:cxnLst/>
              <a:rect l="l" t="t" r="r" b="b"/>
              <a:pathLst>
                <a:path w="10535920" h="2351404">
                  <a:moveTo>
                    <a:pt x="0" y="0"/>
                  </a:moveTo>
                  <a:lnTo>
                    <a:pt x="10535801" y="0"/>
                  </a:lnTo>
                  <a:lnTo>
                    <a:pt x="10535801" y="2350894"/>
                  </a:lnTo>
                  <a:lnTo>
                    <a:pt x="0" y="23508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6" name="object 66"/>
            <p:cNvSpPr/>
            <p:nvPr/>
          </p:nvSpPr>
          <p:spPr>
            <a:xfrm>
              <a:off x="163498" y="6750115"/>
              <a:ext cx="10535920" cy="2351405"/>
            </a:xfrm>
            <a:custGeom>
              <a:avLst/>
              <a:gdLst/>
              <a:ahLst/>
              <a:cxnLst/>
              <a:rect l="l" t="t" r="r" b="b"/>
              <a:pathLst>
                <a:path w="10535920" h="2351404">
                  <a:moveTo>
                    <a:pt x="0" y="0"/>
                  </a:moveTo>
                  <a:lnTo>
                    <a:pt x="10535801" y="0"/>
                  </a:lnTo>
                  <a:lnTo>
                    <a:pt x="10535801" y="2350894"/>
                  </a:lnTo>
                  <a:lnTo>
                    <a:pt x="0" y="2350894"/>
                  </a:lnTo>
                  <a:lnTo>
                    <a:pt x="0" y="0"/>
                  </a:lnTo>
                  <a:close/>
                </a:path>
              </a:pathLst>
            </a:custGeom>
            <a:ln w="25399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7" name="object 6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pc="-10" dirty="0"/>
              <a:t>Software</a:t>
            </a:r>
            <a:r>
              <a:rPr spc="-50" dirty="0"/>
              <a:t> </a:t>
            </a:r>
            <a:r>
              <a:rPr dirty="0"/>
              <a:t>for</a:t>
            </a:r>
            <a:r>
              <a:rPr spc="-45" dirty="0"/>
              <a:t> </a:t>
            </a:r>
            <a:r>
              <a:rPr dirty="0"/>
              <a:t>Optical</a:t>
            </a:r>
            <a:r>
              <a:rPr spc="-45" dirty="0"/>
              <a:t> </a:t>
            </a:r>
            <a:r>
              <a:rPr dirty="0"/>
              <a:t>Simulations,</a:t>
            </a:r>
            <a:r>
              <a:rPr spc="-45" dirty="0"/>
              <a:t> </a:t>
            </a:r>
            <a:r>
              <a:rPr spc="-20" dirty="0"/>
              <a:t>Trieste,</a:t>
            </a:r>
            <a:r>
              <a:rPr spc="-45" dirty="0"/>
              <a:t> </a:t>
            </a:r>
            <a:r>
              <a:rPr dirty="0"/>
              <a:t>October</a:t>
            </a:r>
            <a:r>
              <a:rPr spc="-45" dirty="0"/>
              <a:t> </a:t>
            </a:r>
            <a:r>
              <a:rPr dirty="0"/>
              <a:t>2016.</a:t>
            </a:r>
            <a:r>
              <a:rPr spc="-45" dirty="0"/>
              <a:t> </a:t>
            </a:r>
            <a:r>
              <a:rPr dirty="0"/>
              <a:t>Ruben</a:t>
            </a:r>
            <a:r>
              <a:rPr spc="-45" dirty="0"/>
              <a:t> </a:t>
            </a:r>
            <a:r>
              <a:rPr spc="-10" dirty="0"/>
              <a:t>Reininger</a:t>
            </a:r>
          </a:p>
        </p:txBody>
      </p:sp>
      <p:sp>
        <p:nvSpPr>
          <p:cNvPr id="68" name="object 6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25" dirty="0"/>
              <a:t>7</a:t>
            </a:fld>
            <a:endParaRPr spc="-25" dirty="0"/>
          </a:p>
        </p:txBody>
      </p:sp>
      <p:sp>
        <p:nvSpPr>
          <p:cNvPr id="69" name="object 69"/>
          <p:cNvSpPr txBox="1"/>
          <p:nvPr/>
        </p:nvSpPr>
        <p:spPr>
          <a:xfrm>
            <a:off x="1069339" y="9384967"/>
            <a:ext cx="72390" cy="211454"/>
          </a:xfrm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sz="1200" spc="-50" dirty="0">
                <a:solidFill>
                  <a:srgbClr val="275D90"/>
                </a:solidFill>
                <a:latin typeface="Calibri"/>
                <a:cs typeface="Calibri"/>
              </a:rPr>
              <a:t>-</a:t>
            </a:r>
            <a:endParaRPr sz="1200">
              <a:latin typeface="Calibri"/>
              <a:cs typeface="Calibri"/>
            </a:endParaRPr>
          </a:p>
        </p:txBody>
      </p:sp>
      <p:pic>
        <p:nvPicPr>
          <p:cNvPr id="70" name="Picture 69">
            <a:extLst>
              <a:ext uri="{FF2B5EF4-FFF2-40B4-BE49-F238E27FC236}">
                <a16:creationId xmlns:a16="http://schemas.microsoft.com/office/drawing/2014/main" id="{64344F09-EEB0-48DD-906A-F22CC8BC5F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569" y="1511035"/>
            <a:ext cx="11245822" cy="6731530"/>
          </a:xfrm>
          <a:prstGeom prst="rect">
            <a:avLst/>
          </a:prstGeom>
        </p:spPr>
      </p:pic>
      <p:sp>
        <p:nvSpPr>
          <p:cNvPr id="72" name="Rectangle 71">
            <a:extLst>
              <a:ext uri="{FF2B5EF4-FFF2-40B4-BE49-F238E27FC236}">
                <a16:creationId xmlns:a16="http://schemas.microsoft.com/office/drawing/2014/main" id="{0E51C2A4-894E-4D1A-8C5C-095BA43CF2AD}"/>
              </a:ext>
            </a:extLst>
          </p:cNvPr>
          <p:cNvSpPr/>
          <p:nvPr/>
        </p:nvSpPr>
        <p:spPr>
          <a:xfrm>
            <a:off x="1000969" y="7545113"/>
            <a:ext cx="5539367" cy="13804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726754" y="0"/>
            <a:ext cx="5278045" cy="215900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616200" y="254000"/>
            <a:ext cx="7766684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863725" algn="l"/>
                <a:tab pos="5205730" algn="l"/>
              </a:tabLst>
            </a:pPr>
            <a:r>
              <a:rPr spc="-10" dirty="0"/>
              <a:t>Toroidal</a:t>
            </a:r>
            <a:r>
              <a:rPr dirty="0"/>
              <a:t>	Grating</a:t>
            </a:r>
            <a:r>
              <a:rPr spc="-160" dirty="0"/>
              <a:t> </a:t>
            </a:r>
            <a:r>
              <a:rPr spc="-10" dirty="0"/>
              <a:t>Optical</a:t>
            </a:r>
            <a:r>
              <a:rPr dirty="0"/>
              <a:t>	Path</a:t>
            </a:r>
            <a:r>
              <a:rPr spc="-200" dirty="0"/>
              <a:t> </a:t>
            </a:r>
            <a:r>
              <a:rPr spc="-10" dirty="0"/>
              <a:t>Length</a:t>
            </a:r>
          </a:p>
        </p:txBody>
      </p:sp>
      <p:sp>
        <p:nvSpPr>
          <p:cNvPr id="44" name="object 44"/>
          <p:cNvSpPr txBox="1"/>
          <p:nvPr/>
        </p:nvSpPr>
        <p:spPr>
          <a:xfrm>
            <a:off x="228600" y="6983421"/>
            <a:ext cx="10300335" cy="194818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503929">
              <a:lnSpc>
                <a:spcPts val="1935"/>
              </a:lnSpc>
              <a:tabLst>
                <a:tab pos="4514850" algn="l"/>
                <a:tab pos="5149215" algn="l"/>
                <a:tab pos="6009640" algn="l"/>
                <a:tab pos="6644005" algn="l"/>
                <a:tab pos="7654925" algn="l"/>
                <a:tab pos="8289290" algn="l"/>
                <a:tab pos="9300210" algn="l"/>
              </a:tabLst>
            </a:pPr>
            <a:r>
              <a:rPr sz="2750" spc="-50" dirty="0">
                <a:latin typeface="Cambria"/>
                <a:cs typeface="Cambria"/>
              </a:rPr>
              <a:t>1</a:t>
            </a:r>
            <a:r>
              <a:rPr sz="2750" dirty="0">
                <a:latin typeface="Cambria"/>
                <a:cs typeface="Cambria"/>
              </a:rPr>
              <a:t>	</a:t>
            </a:r>
            <a:r>
              <a:rPr sz="2925" spc="97" baseline="-21367" dirty="0">
                <a:latin typeface="Calibri"/>
                <a:cs typeface="Calibri"/>
              </a:rPr>
              <a:t>2</a:t>
            </a:r>
            <a:r>
              <a:rPr sz="2925" baseline="-21367" dirty="0">
                <a:latin typeface="Calibri"/>
                <a:cs typeface="Calibri"/>
              </a:rPr>
              <a:t>	</a:t>
            </a:r>
            <a:r>
              <a:rPr sz="2750" spc="-50" dirty="0">
                <a:latin typeface="Cambria"/>
                <a:cs typeface="Cambria"/>
              </a:rPr>
              <a:t>1</a:t>
            </a:r>
            <a:r>
              <a:rPr sz="2750" dirty="0">
                <a:latin typeface="Cambria"/>
                <a:cs typeface="Cambria"/>
              </a:rPr>
              <a:t>	</a:t>
            </a:r>
            <a:r>
              <a:rPr sz="2925" spc="97" baseline="-21367" dirty="0">
                <a:latin typeface="Calibri"/>
                <a:cs typeface="Calibri"/>
              </a:rPr>
              <a:t>2</a:t>
            </a:r>
            <a:r>
              <a:rPr sz="2925" baseline="-21367" dirty="0">
                <a:latin typeface="Calibri"/>
                <a:cs typeface="Calibri"/>
              </a:rPr>
              <a:t>	</a:t>
            </a:r>
            <a:r>
              <a:rPr sz="2750" spc="-50" dirty="0">
                <a:latin typeface="Cambria"/>
                <a:cs typeface="Cambria"/>
              </a:rPr>
              <a:t>1</a:t>
            </a:r>
            <a:r>
              <a:rPr sz="2750" dirty="0">
                <a:latin typeface="Cambria"/>
                <a:cs typeface="Cambria"/>
              </a:rPr>
              <a:t>	</a:t>
            </a:r>
            <a:r>
              <a:rPr sz="2925" spc="97" baseline="-21367" dirty="0">
                <a:latin typeface="Calibri"/>
                <a:cs typeface="Calibri"/>
              </a:rPr>
              <a:t>3</a:t>
            </a:r>
            <a:r>
              <a:rPr sz="2925" baseline="-21367" dirty="0">
                <a:latin typeface="Calibri"/>
                <a:cs typeface="Calibri"/>
              </a:rPr>
              <a:t>	</a:t>
            </a:r>
            <a:r>
              <a:rPr sz="2750" spc="-50" dirty="0">
                <a:latin typeface="Cambria"/>
                <a:cs typeface="Cambria"/>
              </a:rPr>
              <a:t>1</a:t>
            </a:r>
            <a:r>
              <a:rPr sz="2750" dirty="0">
                <a:latin typeface="Cambria"/>
                <a:cs typeface="Cambria"/>
              </a:rPr>
              <a:t>	</a:t>
            </a:r>
            <a:r>
              <a:rPr sz="2925" spc="97" baseline="-21367" dirty="0">
                <a:latin typeface="Calibri"/>
                <a:cs typeface="Calibri"/>
              </a:rPr>
              <a:t>2</a:t>
            </a:r>
            <a:endParaRPr sz="2925" baseline="-21367">
              <a:latin typeface="Calibri"/>
              <a:cs typeface="Calibri"/>
            </a:endParaRPr>
          </a:p>
          <a:p>
            <a:pPr marL="527050">
              <a:lnSpc>
                <a:spcPts val="2595"/>
              </a:lnSpc>
              <a:tabLst>
                <a:tab pos="902335" algn="l"/>
                <a:tab pos="4752340" algn="l"/>
                <a:tab pos="6247130" algn="l"/>
                <a:tab pos="7892415" algn="l"/>
                <a:tab pos="9458960" algn="l"/>
              </a:tabLst>
            </a:pPr>
            <a:r>
              <a:rPr sz="2750" i="1" spc="280" dirty="0">
                <a:latin typeface="Cambria"/>
                <a:cs typeface="Cambria"/>
              </a:rPr>
              <a:t>F</a:t>
            </a:r>
            <a:r>
              <a:rPr sz="2750" i="1" dirty="0">
                <a:latin typeface="Cambria"/>
                <a:cs typeface="Cambria"/>
              </a:rPr>
              <a:t>	</a:t>
            </a:r>
            <a:r>
              <a:rPr sz="2750" spc="640" dirty="0">
                <a:latin typeface="Cambria"/>
                <a:cs typeface="Cambria"/>
              </a:rPr>
              <a:t>=</a:t>
            </a:r>
            <a:r>
              <a:rPr sz="2750" spc="170" dirty="0">
                <a:latin typeface="Cambria"/>
                <a:cs typeface="Cambria"/>
              </a:rPr>
              <a:t> </a:t>
            </a:r>
            <a:r>
              <a:rPr sz="2750" i="1" spc="190" dirty="0">
                <a:latin typeface="Cambria"/>
                <a:cs typeface="Cambria"/>
              </a:rPr>
              <a:t>F</a:t>
            </a:r>
            <a:r>
              <a:rPr sz="2925" spc="284" baseline="-11396" dirty="0">
                <a:latin typeface="Calibri"/>
                <a:cs typeface="Calibri"/>
              </a:rPr>
              <a:t>00</a:t>
            </a:r>
            <a:r>
              <a:rPr sz="2925" spc="472" baseline="-11396" dirty="0">
                <a:latin typeface="Calibri"/>
                <a:cs typeface="Calibri"/>
              </a:rPr>
              <a:t> </a:t>
            </a:r>
            <a:r>
              <a:rPr sz="2750" spc="640" dirty="0">
                <a:latin typeface="Cambria"/>
                <a:cs typeface="Cambria"/>
              </a:rPr>
              <a:t>+</a:t>
            </a:r>
            <a:r>
              <a:rPr sz="2750" spc="20" dirty="0">
                <a:latin typeface="Cambria"/>
                <a:cs typeface="Cambria"/>
              </a:rPr>
              <a:t> </a:t>
            </a:r>
            <a:r>
              <a:rPr sz="2750" i="1" spc="170" dirty="0">
                <a:latin typeface="Cambria"/>
                <a:cs typeface="Cambria"/>
              </a:rPr>
              <a:t>F</a:t>
            </a:r>
            <a:r>
              <a:rPr sz="2925" spc="254" baseline="-11396" dirty="0">
                <a:latin typeface="Calibri"/>
                <a:cs typeface="Calibri"/>
              </a:rPr>
              <a:t>01</a:t>
            </a:r>
            <a:r>
              <a:rPr sz="2750" i="1" spc="170" dirty="0">
                <a:latin typeface="Cambria"/>
                <a:cs typeface="Cambria"/>
              </a:rPr>
              <a:t>w</a:t>
            </a:r>
            <a:r>
              <a:rPr sz="2750" i="1" spc="90" dirty="0">
                <a:latin typeface="Cambria"/>
                <a:cs typeface="Cambria"/>
              </a:rPr>
              <a:t> </a:t>
            </a:r>
            <a:r>
              <a:rPr sz="2750" spc="640" dirty="0">
                <a:latin typeface="Cambria"/>
                <a:cs typeface="Cambria"/>
              </a:rPr>
              <a:t>+</a:t>
            </a:r>
            <a:r>
              <a:rPr sz="2750" spc="350" dirty="0">
                <a:latin typeface="Cambria"/>
                <a:cs typeface="Cambria"/>
              </a:rPr>
              <a:t> </a:t>
            </a:r>
            <a:r>
              <a:rPr sz="4125" spc="-217" baseline="-38383" dirty="0">
                <a:latin typeface="Cambria"/>
                <a:cs typeface="Cambria"/>
              </a:rPr>
              <a:t>2</a:t>
            </a:r>
            <a:r>
              <a:rPr sz="4125" spc="-405" baseline="-38383" dirty="0">
                <a:latin typeface="Cambria"/>
                <a:cs typeface="Cambria"/>
              </a:rPr>
              <a:t> </a:t>
            </a:r>
            <a:r>
              <a:rPr sz="2750" i="1" spc="150" dirty="0">
                <a:latin typeface="Cambria"/>
                <a:cs typeface="Cambria"/>
              </a:rPr>
              <a:t>F</a:t>
            </a:r>
            <a:r>
              <a:rPr sz="2925" spc="225" baseline="-11396" dirty="0">
                <a:latin typeface="Calibri"/>
                <a:cs typeface="Calibri"/>
              </a:rPr>
              <a:t>20</a:t>
            </a:r>
            <a:r>
              <a:rPr sz="2750" i="1" spc="150" dirty="0">
                <a:latin typeface="Cambria"/>
                <a:cs typeface="Cambria"/>
              </a:rPr>
              <a:t>w</a:t>
            </a:r>
            <a:r>
              <a:rPr sz="2750" i="1" dirty="0">
                <a:latin typeface="Cambria"/>
                <a:cs typeface="Cambria"/>
              </a:rPr>
              <a:t>	</a:t>
            </a:r>
            <a:r>
              <a:rPr sz="2750" spc="640" dirty="0">
                <a:latin typeface="Cambria"/>
                <a:cs typeface="Cambria"/>
              </a:rPr>
              <a:t>+</a:t>
            </a:r>
            <a:r>
              <a:rPr sz="2750" spc="350" dirty="0">
                <a:latin typeface="Cambria"/>
                <a:cs typeface="Cambria"/>
              </a:rPr>
              <a:t> </a:t>
            </a:r>
            <a:r>
              <a:rPr sz="4125" spc="-217" baseline="-38383" dirty="0">
                <a:latin typeface="Cambria"/>
                <a:cs typeface="Cambria"/>
              </a:rPr>
              <a:t>2</a:t>
            </a:r>
            <a:r>
              <a:rPr sz="4125" spc="-412" baseline="-38383" dirty="0">
                <a:latin typeface="Cambria"/>
                <a:cs typeface="Cambria"/>
              </a:rPr>
              <a:t> </a:t>
            </a:r>
            <a:r>
              <a:rPr sz="2750" i="1" spc="175" dirty="0">
                <a:latin typeface="Cambria"/>
                <a:cs typeface="Cambria"/>
              </a:rPr>
              <a:t>F</a:t>
            </a:r>
            <a:r>
              <a:rPr sz="2925" spc="262" baseline="-11396" dirty="0">
                <a:latin typeface="Calibri"/>
                <a:cs typeface="Calibri"/>
              </a:rPr>
              <a:t>02</a:t>
            </a:r>
            <a:r>
              <a:rPr sz="2750" i="1" spc="175" dirty="0">
                <a:latin typeface="Cambria"/>
                <a:cs typeface="Cambria"/>
              </a:rPr>
              <a:t>l</a:t>
            </a:r>
            <a:r>
              <a:rPr sz="2750" i="1" dirty="0">
                <a:latin typeface="Cambria"/>
                <a:cs typeface="Cambria"/>
              </a:rPr>
              <a:t>	</a:t>
            </a:r>
            <a:r>
              <a:rPr sz="2750" spc="640" dirty="0">
                <a:latin typeface="Cambria"/>
                <a:cs typeface="Cambria"/>
              </a:rPr>
              <a:t>+</a:t>
            </a:r>
            <a:r>
              <a:rPr sz="2750" spc="350" dirty="0">
                <a:latin typeface="Cambria"/>
                <a:cs typeface="Cambria"/>
              </a:rPr>
              <a:t> </a:t>
            </a:r>
            <a:r>
              <a:rPr sz="4125" spc="-217" baseline="-38383" dirty="0">
                <a:latin typeface="Cambria"/>
                <a:cs typeface="Cambria"/>
              </a:rPr>
              <a:t>2</a:t>
            </a:r>
            <a:r>
              <a:rPr sz="4125" spc="-412" baseline="-38383" dirty="0">
                <a:latin typeface="Cambria"/>
                <a:cs typeface="Cambria"/>
              </a:rPr>
              <a:t> </a:t>
            </a:r>
            <a:r>
              <a:rPr sz="2750" i="1" spc="150" dirty="0">
                <a:latin typeface="Cambria"/>
                <a:cs typeface="Cambria"/>
              </a:rPr>
              <a:t>F</a:t>
            </a:r>
            <a:r>
              <a:rPr sz="2925" spc="225" baseline="-11396" dirty="0">
                <a:latin typeface="Calibri"/>
                <a:cs typeface="Calibri"/>
              </a:rPr>
              <a:t>30</a:t>
            </a:r>
            <a:r>
              <a:rPr sz="2750" i="1" spc="150" dirty="0">
                <a:latin typeface="Cambria"/>
                <a:cs typeface="Cambria"/>
              </a:rPr>
              <a:t>w</a:t>
            </a:r>
            <a:r>
              <a:rPr sz="2750" i="1" dirty="0">
                <a:latin typeface="Cambria"/>
                <a:cs typeface="Cambria"/>
              </a:rPr>
              <a:t>	</a:t>
            </a:r>
            <a:r>
              <a:rPr sz="2750" spc="640" dirty="0">
                <a:latin typeface="Cambria"/>
                <a:cs typeface="Cambria"/>
              </a:rPr>
              <a:t>+</a:t>
            </a:r>
            <a:r>
              <a:rPr sz="2750" spc="350" dirty="0">
                <a:latin typeface="Cambria"/>
                <a:cs typeface="Cambria"/>
              </a:rPr>
              <a:t> </a:t>
            </a:r>
            <a:r>
              <a:rPr sz="4125" spc="-217" baseline="-38383" dirty="0">
                <a:latin typeface="Cambria"/>
                <a:cs typeface="Cambria"/>
              </a:rPr>
              <a:t>2</a:t>
            </a:r>
            <a:r>
              <a:rPr sz="4125" spc="-412" baseline="-38383" dirty="0">
                <a:latin typeface="Cambria"/>
                <a:cs typeface="Cambria"/>
              </a:rPr>
              <a:t> </a:t>
            </a:r>
            <a:r>
              <a:rPr sz="2750" i="1" spc="150" dirty="0">
                <a:latin typeface="Cambria"/>
                <a:cs typeface="Cambria"/>
              </a:rPr>
              <a:t>F</a:t>
            </a:r>
            <a:r>
              <a:rPr sz="2925" spc="225" baseline="-11396" dirty="0">
                <a:latin typeface="Calibri"/>
                <a:cs typeface="Calibri"/>
              </a:rPr>
              <a:t>21</a:t>
            </a:r>
            <a:r>
              <a:rPr sz="2750" i="1" spc="150" dirty="0">
                <a:latin typeface="Cambria"/>
                <a:cs typeface="Cambria"/>
              </a:rPr>
              <a:t>w</a:t>
            </a:r>
            <a:r>
              <a:rPr sz="2750" i="1" dirty="0">
                <a:latin typeface="Cambria"/>
                <a:cs typeface="Cambria"/>
              </a:rPr>
              <a:t>	</a:t>
            </a:r>
            <a:r>
              <a:rPr sz="2750" i="1" spc="85" dirty="0">
                <a:latin typeface="Cambria"/>
                <a:cs typeface="Cambria"/>
              </a:rPr>
              <a:t>l</a:t>
            </a:r>
            <a:r>
              <a:rPr sz="2750" i="1" spc="70" dirty="0">
                <a:latin typeface="Cambria"/>
                <a:cs typeface="Cambria"/>
              </a:rPr>
              <a:t> </a:t>
            </a:r>
            <a:r>
              <a:rPr sz="2750" spc="640" dirty="0">
                <a:latin typeface="Cambria"/>
                <a:cs typeface="Cambria"/>
              </a:rPr>
              <a:t>+</a:t>
            </a:r>
            <a:r>
              <a:rPr sz="2750" spc="15" dirty="0">
                <a:latin typeface="Cambria"/>
                <a:cs typeface="Cambria"/>
              </a:rPr>
              <a:t> </a:t>
            </a:r>
            <a:r>
              <a:rPr sz="2750" i="1" spc="195" dirty="0">
                <a:latin typeface="Cambria"/>
                <a:cs typeface="Cambria"/>
              </a:rPr>
              <a:t>...</a:t>
            </a:r>
            <a:endParaRPr sz="275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1955"/>
              </a:spcBef>
            </a:pPr>
            <a:endParaRPr sz="2750">
              <a:latin typeface="Cambria"/>
              <a:cs typeface="Cambria"/>
            </a:endParaRPr>
          </a:p>
          <a:p>
            <a:pPr marL="406400">
              <a:lnSpc>
                <a:spcPts val="2615"/>
              </a:lnSpc>
              <a:spcBef>
                <a:spcPts val="5"/>
              </a:spcBef>
            </a:pPr>
            <a:r>
              <a:rPr sz="2400" i="1" dirty="0">
                <a:solidFill>
                  <a:srgbClr val="060606"/>
                </a:solidFill>
                <a:latin typeface="Georgia"/>
                <a:cs typeface="Georgia"/>
              </a:rPr>
              <a:t>Fermat’s</a:t>
            </a:r>
            <a:r>
              <a:rPr sz="2400" i="1" spc="130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i="1" dirty="0">
                <a:solidFill>
                  <a:srgbClr val="060606"/>
                </a:solidFill>
                <a:latin typeface="Georgia"/>
                <a:cs typeface="Georgia"/>
              </a:rPr>
              <a:t>principle:</a:t>
            </a:r>
            <a:r>
              <a:rPr sz="2400" i="1" spc="120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dirty="0">
                <a:solidFill>
                  <a:srgbClr val="060606"/>
                </a:solidFill>
                <a:latin typeface="Georgia"/>
                <a:cs typeface="Georgia"/>
              </a:rPr>
              <a:t>Of</a:t>
            </a:r>
            <a:r>
              <a:rPr sz="2400" spc="135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dirty="0">
                <a:solidFill>
                  <a:srgbClr val="060606"/>
                </a:solidFill>
                <a:latin typeface="Georgia"/>
                <a:cs typeface="Georgia"/>
              </a:rPr>
              <a:t>all</a:t>
            </a:r>
            <a:r>
              <a:rPr sz="2400" spc="130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dirty="0">
                <a:solidFill>
                  <a:srgbClr val="060606"/>
                </a:solidFill>
                <a:latin typeface="Georgia"/>
                <a:cs typeface="Georgia"/>
              </a:rPr>
              <a:t>possible</a:t>
            </a:r>
            <a:r>
              <a:rPr sz="2400" spc="130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dirty="0">
                <a:solidFill>
                  <a:srgbClr val="060606"/>
                </a:solidFill>
                <a:latin typeface="Georgia"/>
                <a:cs typeface="Georgia"/>
              </a:rPr>
              <a:t>paths,</a:t>
            </a:r>
            <a:r>
              <a:rPr sz="2400" spc="130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spc="-10" dirty="0">
                <a:solidFill>
                  <a:srgbClr val="060606"/>
                </a:solidFill>
                <a:latin typeface="Georgia"/>
                <a:cs typeface="Georgia"/>
              </a:rPr>
              <a:t>light</a:t>
            </a:r>
            <a:endParaRPr sz="2400">
              <a:latin typeface="Georgia"/>
              <a:cs typeface="Georgia"/>
            </a:endParaRPr>
          </a:p>
          <a:p>
            <a:pPr>
              <a:lnSpc>
                <a:spcPts val="3010"/>
              </a:lnSpc>
              <a:tabLst>
                <a:tab pos="7905115" algn="l"/>
                <a:tab pos="8451215" algn="l"/>
              </a:tabLst>
            </a:pPr>
            <a:r>
              <a:rPr sz="2400" dirty="0">
                <a:solidFill>
                  <a:srgbClr val="060606"/>
                </a:solidFill>
                <a:latin typeface="Georgia"/>
                <a:cs typeface="Georgia"/>
              </a:rPr>
              <a:t>takes</a:t>
            </a:r>
            <a:r>
              <a:rPr sz="2400" spc="-55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dirty="0">
                <a:solidFill>
                  <a:srgbClr val="060606"/>
                </a:solidFill>
                <a:latin typeface="Georgia"/>
                <a:cs typeface="Georgia"/>
              </a:rPr>
              <a:t>the</a:t>
            </a:r>
            <a:r>
              <a:rPr sz="2400" spc="-55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dirty="0">
                <a:solidFill>
                  <a:srgbClr val="060606"/>
                </a:solidFill>
                <a:latin typeface="Georgia"/>
                <a:cs typeface="Georgia"/>
              </a:rPr>
              <a:t>path</a:t>
            </a:r>
            <a:r>
              <a:rPr sz="2400" spc="-55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dirty="0">
                <a:solidFill>
                  <a:srgbClr val="060606"/>
                </a:solidFill>
                <a:latin typeface="Georgia"/>
                <a:cs typeface="Georgia"/>
              </a:rPr>
              <a:t>which</a:t>
            </a:r>
            <a:r>
              <a:rPr sz="2400" spc="-55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dirty="0">
                <a:solidFill>
                  <a:srgbClr val="060606"/>
                </a:solidFill>
                <a:latin typeface="Georgia"/>
                <a:cs typeface="Georgia"/>
              </a:rPr>
              <a:t>requires</a:t>
            </a:r>
            <a:r>
              <a:rPr sz="2400" spc="-55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dirty="0">
                <a:solidFill>
                  <a:srgbClr val="060606"/>
                </a:solidFill>
                <a:latin typeface="Georgia"/>
                <a:cs typeface="Georgia"/>
              </a:rPr>
              <a:t>the</a:t>
            </a:r>
            <a:r>
              <a:rPr sz="2400" spc="-50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i="1" dirty="0">
                <a:solidFill>
                  <a:srgbClr val="060606"/>
                </a:solidFill>
                <a:latin typeface="Georgia"/>
                <a:cs typeface="Georgia"/>
              </a:rPr>
              <a:t>shortest</a:t>
            </a:r>
            <a:r>
              <a:rPr sz="2400" i="1" spc="-50" dirty="0">
                <a:solidFill>
                  <a:srgbClr val="060606"/>
                </a:solidFill>
                <a:latin typeface="Georgia"/>
                <a:cs typeface="Georgia"/>
              </a:rPr>
              <a:t> </a:t>
            </a:r>
            <a:r>
              <a:rPr sz="2400" i="1" spc="-10" dirty="0">
                <a:solidFill>
                  <a:srgbClr val="060606"/>
                </a:solidFill>
                <a:latin typeface="Georgia"/>
                <a:cs typeface="Georgia"/>
              </a:rPr>
              <a:t>time</a:t>
            </a:r>
            <a:r>
              <a:rPr sz="2400" spc="-10" dirty="0">
                <a:solidFill>
                  <a:srgbClr val="060606"/>
                </a:solidFill>
                <a:latin typeface="Georgia"/>
                <a:cs typeface="Georgia"/>
              </a:rPr>
              <a:t>.</a:t>
            </a:r>
            <a:r>
              <a:rPr sz="2400" dirty="0">
                <a:solidFill>
                  <a:srgbClr val="060606"/>
                </a:solidFill>
                <a:latin typeface="Georgia"/>
                <a:cs typeface="Georgia"/>
              </a:rPr>
              <a:t>	</a:t>
            </a:r>
            <a:r>
              <a:rPr sz="4125" i="1" spc="187" baseline="31313" dirty="0">
                <a:latin typeface="Cambria"/>
                <a:cs typeface="Cambria"/>
              </a:rPr>
              <a:t>δF</a:t>
            </a:r>
            <a:r>
              <a:rPr sz="4125" i="1" baseline="31313" dirty="0">
                <a:latin typeface="Cambria"/>
                <a:cs typeface="Cambria"/>
              </a:rPr>
              <a:t>	</a:t>
            </a:r>
            <a:r>
              <a:rPr sz="4125" spc="960" baseline="31313" dirty="0">
                <a:latin typeface="Cambria"/>
                <a:cs typeface="Cambria"/>
              </a:rPr>
              <a:t>=</a:t>
            </a:r>
            <a:r>
              <a:rPr sz="4125" spc="254" baseline="31313" dirty="0">
                <a:latin typeface="Cambria"/>
                <a:cs typeface="Cambria"/>
              </a:rPr>
              <a:t> </a:t>
            </a:r>
            <a:r>
              <a:rPr sz="4125" spc="-75" baseline="31313" dirty="0">
                <a:latin typeface="Cambria"/>
                <a:cs typeface="Cambria"/>
              </a:rPr>
              <a:t>0</a:t>
            </a:r>
            <a:endParaRPr sz="4125" baseline="31313">
              <a:latin typeface="Cambria"/>
              <a:cs typeface="Cambria"/>
            </a:endParaRPr>
          </a:p>
        </p:txBody>
      </p:sp>
      <p:grpSp>
        <p:nvGrpSpPr>
          <p:cNvPr id="64" name="object 64"/>
          <p:cNvGrpSpPr/>
          <p:nvPr/>
        </p:nvGrpSpPr>
        <p:grpSpPr>
          <a:xfrm>
            <a:off x="150798" y="6737415"/>
            <a:ext cx="10561320" cy="2376805"/>
            <a:chOff x="150798" y="6737415"/>
            <a:chExt cx="10561320" cy="2376805"/>
          </a:xfrm>
        </p:grpSpPr>
        <p:sp>
          <p:nvSpPr>
            <p:cNvPr id="65" name="object 65"/>
            <p:cNvSpPr/>
            <p:nvPr/>
          </p:nvSpPr>
          <p:spPr>
            <a:xfrm>
              <a:off x="163498" y="6750115"/>
              <a:ext cx="10535920" cy="2351405"/>
            </a:xfrm>
            <a:custGeom>
              <a:avLst/>
              <a:gdLst/>
              <a:ahLst/>
              <a:cxnLst/>
              <a:rect l="l" t="t" r="r" b="b"/>
              <a:pathLst>
                <a:path w="10535920" h="2351404">
                  <a:moveTo>
                    <a:pt x="0" y="0"/>
                  </a:moveTo>
                  <a:lnTo>
                    <a:pt x="10535801" y="0"/>
                  </a:lnTo>
                  <a:lnTo>
                    <a:pt x="10535801" y="2350894"/>
                  </a:lnTo>
                  <a:lnTo>
                    <a:pt x="0" y="23508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6" name="object 66"/>
            <p:cNvSpPr/>
            <p:nvPr/>
          </p:nvSpPr>
          <p:spPr>
            <a:xfrm>
              <a:off x="163498" y="6750115"/>
              <a:ext cx="10535920" cy="2351405"/>
            </a:xfrm>
            <a:custGeom>
              <a:avLst/>
              <a:gdLst/>
              <a:ahLst/>
              <a:cxnLst/>
              <a:rect l="l" t="t" r="r" b="b"/>
              <a:pathLst>
                <a:path w="10535920" h="2351404">
                  <a:moveTo>
                    <a:pt x="0" y="0"/>
                  </a:moveTo>
                  <a:lnTo>
                    <a:pt x="10535801" y="0"/>
                  </a:lnTo>
                  <a:lnTo>
                    <a:pt x="10535801" y="2350894"/>
                  </a:lnTo>
                  <a:lnTo>
                    <a:pt x="0" y="2350894"/>
                  </a:lnTo>
                  <a:lnTo>
                    <a:pt x="0" y="0"/>
                  </a:lnTo>
                  <a:close/>
                </a:path>
              </a:pathLst>
            </a:custGeom>
            <a:ln w="25399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7" name="object 6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pc="-10" dirty="0"/>
              <a:t>Software</a:t>
            </a:r>
            <a:r>
              <a:rPr spc="-50" dirty="0"/>
              <a:t> </a:t>
            </a:r>
            <a:r>
              <a:rPr dirty="0"/>
              <a:t>for</a:t>
            </a:r>
            <a:r>
              <a:rPr spc="-45" dirty="0"/>
              <a:t> </a:t>
            </a:r>
            <a:r>
              <a:rPr dirty="0"/>
              <a:t>Optical</a:t>
            </a:r>
            <a:r>
              <a:rPr spc="-45" dirty="0"/>
              <a:t> </a:t>
            </a:r>
            <a:r>
              <a:rPr dirty="0"/>
              <a:t>Simulations,</a:t>
            </a:r>
            <a:r>
              <a:rPr spc="-45" dirty="0"/>
              <a:t> </a:t>
            </a:r>
            <a:r>
              <a:rPr spc="-20" dirty="0"/>
              <a:t>Trieste,</a:t>
            </a:r>
            <a:r>
              <a:rPr spc="-45" dirty="0"/>
              <a:t> </a:t>
            </a:r>
            <a:r>
              <a:rPr dirty="0"/>
              <a:t>October</a:t>
            </a:r>
            <a:r>
              <a:rPr spc="-45" dirty="0"/>
              <a:t> </a:t>
            </a:r>
            <a:r>
              <a:rPr dirty="0"/>
              <a:t>2016.</a:t>
            </a:r>
            <a:r>
              <a:rPr spc="-45" dirty="0"/>
              <a:t> </a:t>
            </a:r>
            <a:r>
              <a:rPr dirty="0"/>
              <a:t>Ruben</a:t>
            </a:r>
            <a:r>
              <a:rPr spc="-45" dirty="0"/>
              <a:t> </a:t>
            </a:r>
            <a:r>
              <a:rPr spc="-10" dirty="0"/>
              <a:t>Reininger</a:t>
            </a:r>
          </a:p>
        </p:txBody>
      </p:sp>
      <p:sp>
        <p:nvSpPr>
          <p:cNvPr id="68" name="object 6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25" dirty="0"/>
              <a:t>8</a:t>
            </a:fld>
            <a:endParaRPr spc="-25" dirty="0"/>
          </a:p>
        </p:txBody>
      </p:sp>
      <p:sp>
        <p:nvSpPr>
          <p:cNvPr id="69" name="object 69"/>
          <p:cNvSpPr txBox="1"/>
          <p:nvPr/>
        </p:nvSpPr>
        <p:spPr>
          <a:xfrm>
            <a:off x="1069339" y="9384967"/>
            <a:ext cx="72390" cy="211454"/>
          </a:xfrm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sz="1200" spc="-50" dirty="0">
                <a:solidFill>
                  <a:srgbClr val="275D90"/>
                </a:solidFill>
                <a:latin typeface="Calibri"/>
                <a:cs typeface="Calibri"/>
              </a:rPr>
              <a:t>-</a:t>
            </a:r>
            <a:endParaRPr sz="1200">
              <a:latin typeface="Calibri"/>
              <a:cs typeface="Calibri"/>
            </a:endParaRPr>
          </a:p>
        </p:txBody>
      </p:sp>
      <p:pic>
        <p:nvPicPr>
          <p:cNvPr id="70" name="Picture 69">
            <a:extLst>
              <a:ext uri="{FF2B5EF4-FFF2-40B4-BE49-F238E27FC236}">
                <a16:creationId xmlns:a16="http://schemas.microsoft.com/office/drawing/2014/main" id="{64344F09-EEB0-48DD-906A-F22CC8BC5F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569" y="1511035"/>
            <a:ext cx="11245822" cy="6731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90601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2582125-1474-407C-9599-5FA18E507D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184" y="1752600"/>
            <a:ext cx="11229925" cy="6489965"/>
          </a:xfrm>
          <a:prstGeom prst="rect">
            <a:avLst/>
          </a:prstGeom>
        </p:spPr>
      </p:pic>
      <p:pic>
        <p:nvPicPr>
          <p:cNvPr id="2" name="object 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726754" y="0"/>
            <a:ext cx="5278045" cy="215900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616200" y="254000"/>
            <a:ext cx="7766684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863725" algn="l"/>
                <a:tab pos="5205730" algn="l"/>
              </a:tabLst>
            </a:pPr>
            <a:r>
              <a:rPr spc="-10" dirty="0"/>
              <a:t>Toroidal</a:t>
            </a:r>
            <a:r>
              <a:rPr dirty="0"/>
              <a:t>	Grating</a:t>
            </a:r>
            <a:r>
              <a:rPr spc="-160" dirty="0"/>
              <a:t> </a:t>
            </a:r>
            <a:r>
              <a:rPr spc="-10" dirty="0"/>
              <a:t>Optical</a:t>
            </a:r>
            <a:r>
              <a:rPr dirty="0"/>
              <a:t>	Path</a:t>
            </a:r>
            <a:r>
              <a:rPr spc="-200" dirty="0"/>
              <a:t> </a:t>
            </a:r>
            <a:r>
              <a:rPr spc="-10" dirty="0"/>
              <a:t>Length</a:t>
            </a:r>
          </a:p>
        </p:txBody>
      </p:sp>
      <p:sp>
        <p:nvSpPr>
          <p:cNvPr id="67" name="object 6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pc="-10" dirty="0"/>
              <a:t>Software</a:t>
            </a:r>
            <a:r>
              <a:rPr spc="-50" dirty="0"/>
              <a:t> </a:t>
            </a:r>
            <a:r>
              <a:rPr dirty="0"/>
              <a:t>for</a:t>
            </a:r>
            <a:r>
              <a:rPr spc="-45" dirty="0"/>
              <a:t> </a:t>
            </a:r>
            <a:r>
              <a:rPr dirty="0"/>
              <a:t>Optical</a:t>
            </a:r>
            <a:r>
              <a:rPr spc="-45" dirty="0"/>
              <a:t> </a:t>
            </a:r>
            <a:r>
              <a:rPr dirty="0"/>
              <a:t>Simulations,</a:t>
            </a:r>
            <a:r>
              <a:rPr spc="-45" dirty="0"/>
              <a:t> </a:t>
            </a:r>
            <a:r>
              <a:rPr spc="-20" dirty="0"/>
              <a:t>Trieste,</a:t>
            </a:r>
            <a:r>
              <a:rPr spc="-45" dirty="0"/>
              <a:t> </a:t>
            </a:r>
            <a:r>
              <a:rPr dirty="0"/>
              <a:t>October</a:t>
            </a:r>
            <a:r>
              <a:rPr spc="-45" dirty="0"/>
              <a:t> </a:t>
            </a:r>
            <a:r>
              <a:rPr dirty="0"/>
              <a:t>2016.</a:t>
            </a:r>
            <a:r>
              <a:rPr spc="-45" dirty="0"/>
              <a:t> </a:t>
            </a:r>
            <a:r>
              <a:rPr dirty="0"/>
              <a:t>Ruben</a:t>
            </a:r>
            <a:r>
              <a:rPr spc="-45" dirty="0"/>
              <a:t> </a:t>
            </a:r>
            <a:r>
              <a:rPr spc="-10" dirty="0"/>
              <a:t>Reininger</a:t>
            </a:r>
          </a:p>
        </p:txBody>
      </p:sp>
      <p:sp>
        <p:nvSpPr>
          <p:cNvPr id="68" name="object 6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25" dirty="0"/>
              <a:t>9</a:t>
            </a:fld>
            <a:endParaRPr spc="-25" dirty="0"/>
          </a:p>
        </p:txBody>
      </p:sp>
      <p:sp>
        <p:nvSpPr>
          <p:cNvPr id="69" name="object 69"/>
          <p:cNvSpPr txBox="1"/>
          <p:nvPr/>
        </p:nvSpPr>
        <p:spPr>
          <a:xfrm>
            <a:off x="1069339" y="9384967"/>
            <a:ext cx="72390" cy="211454"/>
          </a:xfrm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sz="1200" spc="-50" dirty="0">
                <a:solidFill>
                  <a:srgbClr val="275D90"/>
                </a:solidFill>
                <a:latin typeface="Calibri"/>
                <a:cs typeface="Calibri"/>
              </a:rPr>
              <a:t>-</a:t>
            </a:r>
            <a:endParaRPr sz="120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0716924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726754" y="0"/>
            <a:ext cx="5278045" cy="215900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58925">
              <a:lnSpc>
                <a:spcPct val="100000"/>
              </a:lnSpc>
              <a:spcBef>
                <a:spcPts val="100"/>
              </a:spcBef>
            </a:pPr>
            <a:r>
              <a:rPr dirty="0"/>
              <a:t>Resolution</a:t>
            </a:r>
            <a:r>
              <a:rPr spc="-175" dirty="0"/>
              <a:t> </a:t>
            </a:r>
            <a:r>
              <a:rPr spc="-55" dirty="0"/>
              <a:t>Terms</a:t>
            </a:r>
            <a:r>
              <a:rPr spc="-114" dirty="0"/>
              <a:t> </a:t>
            </a:r>
            <a:r>
              <a:rPr dirty="0"/>
              <a:t>and</a:t>
            </a:r>
            <a:r>
              <a:rPr spc="-110" dirty="0"/>
              <a:t> </a:t>
            </a:r>
            <a:r>
              <a:rPr spc="-10" dirty="0"/>
              <a:t>Magnification</a:t>
            </a:r>
          </a:p>
        </p:txBody>
      </p: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pc="-10" dirty="0"/>
              <a:t>Software</a:t>
            </a:r>
            <a:r>
              <a:rPr spc="-50" dirty="0"/>
              <a:t> </a:t>
            </a:r>
            <a:r>
              <a:rPr dirty="0"/>
              <a:t>for</a:t>
            </a:r>
            <a:r>
              <a:rPr spc="-45" dirty="0"/>
              <a:t> </a:t>
            </a:r>
            <a:r>
              <a:rPr dirty="0"/>
              <a:t>Optical</a:t>
            </a:r>
            <a:r>
              <a:rPr spc="-45" dirty="0"/>
              <a:t> </a:t>
            </a:r>
            <a:r>
              <a:rPr dirty="0"/>
              <a:t>Simulations,</a:t>
            </a:r>
            <a:r>
              <a:rPr spc="-45" dirty="0"/>
              <a:t> </a:t>
            </a:r>
            <a:r>
              <a:rPr spc="-20" dirty="0"/>
              <a:t>Trieste,</a:t>
            </a:r>
            <a:r>
              <a:rPr spc="-45" dirty="0"/>
              <a:t> </a:t>
            </a:r>
            <a:r>
              <a:rPr dirty="0"/>
              <a:t>October</a:t>
            </a:r>
            <a:r>
              <a:rPr spc="-45" dirty="0"/>
              <a:t> </a:t>
            </a:r>
            <a:r>
              <a:rPr dirty="0"/>
              <a:t>2016.</a:t>
            </a:r>
            <a:r>
              <a:rPr spc="-45" dirty="0"/>
              <a:t> </a:t>
            </a:r>
            <a:r>
              <a:rPr dirty="0"/>
              <a:t>Ruben</a:t>
            </a:r>
            <a:r>
              <a:rPr spc="-45" dirty="0"/>
              <a:t> </a:t>
            </a:r>
            <a:r>
              <a:rPr spc="-10" dirty="0"/>
              <a:t>Reininger</a:t>
            </a:r>
          </a:p>
        </p:txBody>
      </p:sp>
      <p:sp>
        <p:nvSpPr>
          <p:cNvPr id="14" name="object 1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25" dirty="0"/>
              <a:t>10</a:t>
            </a:fld>
            <a:endParaRPr spc="-25" dirty="0"/>
          </a:p>
        </p:txBody>
      </p:sp>
      <p:sp>
        <p:nvSpPr>
          <p:cNvPr id="15" name="object 15"/>
          <p:cNvSpPr txBox="1"/>
          <p:nvPr/>
        </p:nvSpPr>
        <p:spPr>
          <a:xfrm>
            <a:off x="1069339" y="9384967"/>
            <a:ext cx="72390" cy="211454"/>
          </a:xfrm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sz="1200" spc="-50" dirty="0">
                <a:solidFill>
                  <a:srgbClr val="275D90"/>
                </a:solidFill>
                <a:latin typeface="Calibri"/>
                <a:cs typeface="Calibri"/>
              </a:rPr>
              <a:t>-</a:t>
            </a:r>
            <a:endParaRPr sz="1200">
              <a:latin typeface="Calibri"/>
              <a:cs typeface="Calibri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5B7D394-8F56-4B91-AB98-785835A378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4200" y="1183126"/>
            <a:ext cx="9422033" cy="7387348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63444F19-E806-4CEC-9E7E-407D3C291E3E}"/>
              </a:ext>
            </a:extLst>
          </p:cNvPr>
          <p:cNvSpPr/>
          <p:nvPr/>
        </p:nvSpPr>
        <p:spPr>
          <a:xfrm>
            <a:off x="2387600" y="3657600"/>
            <a:ext cx="5539367" cy="13804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60A1821-E161-4A53-B848-C13C7D131771}"/>
              </a:ext>
            </a:extLst>
          </p:cNvPr>
          <p:cNvSpPr/>
          <p:nvPr/>
        </p:nvSpPr>
        <p:spPr>
          <a:xfrm>
            <a:off x="1549400" y="2180927"/>
            <a:ext cx="10134600" cy="674463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726754" y="0"/>
            <a:ext cx="5278045" cy="215900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58925">
              <a:lnSpc>
                <a:spcPct val="100000"/>
              </a:lnSpc>
              <a:spcBef>
                <a:spcPts val="100"/>
              </a:spcBef>
            </a:pPr>
            <a:r>
              <a:rPr dirty="0"/>
              <a:t>Resolution</a:t>
            </a:r>
            <a:r>
              <a:rPr spc="-175" dirty="0"/>
              <a:t> </a:t>
            </a:r>
            <a:r>
              <a:rPr spc="-55" dirty="0"/>
              <a:t>Terms</a:t>
            </a:r>
            <a:r>
              <a:rPr spc="-114" dirty="0"/>
              <a:t> </a:t>
            </a:r>
            <a:r>
              <a:rPr dirty="0"/>
              <a:t>and</a:t>
            </a:r>
            <a:r>
              <a:rPr spc="-110" dirty="0"/>
              <a:t> </a:t>
            </a:r>
            <a:r>
              <a:rPr spc="-10" dirty="0"/>
              <a:t>Magnification</a:t>
            </a:r>
          </a:p>
        </p:txBody>
      </p: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pc="-10" dirty="0"/>
              <a:t>Software</a:t>
            </a:r>
            <a:r>
              <a:rPr spc="-50" dirty="0"/>
              <a:t> </a:t>
            </a:r>
            <a:r>
              <a:rPr dirty="0"/>
              <a:t>for</a:t>
            </a:r>
            <a:r>
              <a:rPr spc="-45" dirty="0"/>
              <a:t> </a:t>
            </a:r>
            <a:r>
              <a:rPr dirty="0"/>
              <a:t>Optical</a:t>
            </a:r>
            <a:r>
              <a:rPr spc="-45" dirty="0"/>
              <a:t> </a:t>
            </a:r>
            <a:r>
              <a:rPr dirty="0"/>
              <a:t>Simulations,</a:t>
            </a:r>
            <a:r>
              <a:rPr spc="-45" dirty="0"/>
              <a:t> </a:t>
            </a:r>
            <a:r>
              <a:rPr spc="-20" dirty="0"/>
              <a:t>Trieste,</a:t>
            </a:r>
            <a:r>
              <a:rPr spc="-45" dirty="0"/>
              <a:t> </a:t>
            </a:r>
            <a:r>
              <a:rPr dirty="0"/>
              <a:t>October</a:t>
            </a:r>
            <a:r>
              <a:rPr spc="-45" dirty="0"/>
              <a:t> </a:t>
            </a:r>
            <a:r>
              <a:rPr dirty="0"/>
              <a:t>2016.</a:t>
            </a:r>
            <a:r>
              <a:rPr spc="-45" dirty="0"/>
              <a:t> </a:t>
            </a:r>
            <a:r>
              <a:rPr dirty="0"/>
              <a:t>Ruben</a:t>
            </a:r>
            <a:r>
              <a:rPr spc="-45" dirty="0"/>
              <a:t> </a:t>
            </a:r>
            <a:r>
              <a:rPr spc="-10" dirty="0"/>
              <a:t>Reininger</a:t>
            </a:r>
          </a:p>
        </p:txBody>
      </p:sp>
      <p:sp>
        <p:nvSpPr>
          <p:cNvPr id="14" name="object 1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25" dirty="0"/>
              <a:t>11</a:t>
            </a:fld>
            <a:endParaRPr spc="-25" dirty="0"/>
          </a:p>
        </p:txBody>
      </p:sp>
      <p:sp>
        <p:nvSpPr>
          <p:cNvPr id="15" name="object 15"/>
          <p:cNvSpPr txBox="1"/>
          <p:nvPr/>
        </p:nvSpPr>
        <p:spPr>
          <a:xfrm>
            <a:off x="1069339" y="9384967"/>
            <a:ext cx="72390" cy="211454"/>
          </a:xfrm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sz="1200" spc="-50" dirty="0">
                <a:solidFill>
                  <a:srgbClr val="275D90"/>
                </a:solidFill>
                <a:latin typeface="Calibri"/>
                <a:cs typeface="Calibri"/>
              </a:rPr>
              <a:t>-</a:t>
            </a:r>
            <a:endParaRPr sz="1200">
              <a:latin typeface="Calibri"/>
              <a:cs typeface="Calibri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5B7D394-8F56-4B91-AB98-785835A378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4200" y="1183126"/>
            <a:ext cx="9422033" cy="7387348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63444F19-E806-4CEC-9E7E-407D3C291E3E}"/>
              </a:ext>
            </a:extLst>
          </p:cNvPr>
          <p:cNvSpPr/>
          <p:nvPr/>
        </p:nvSpPr>
        <p:spPr>
          <a:xfrm>
            <a:off x="2387601" y="3962400"/>
            <a:ext cx="5486400" cy="10756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60A1821-E161-4A53-B848-C13C7D131771}"/>
              </a:ext>
            </a:extLst>
          </p:cNvPr>
          <p:cNvSpPr/>
          <p:nvPr/>
        </p:nvSpPr>
        <p:spPr>
          <a:xfrm>
            <a:off x="1549400" y="3962400"/>
            <a:ext cx="10134600" cy="49631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1445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726754" y="0"/>
            <a:ext cx="5278045" cy="215900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58925">
              <a:lnSpc>
                <a:spcPct val="100000"/>
              </a:lnSpc>
              <a:spcBef>
                <a:spcPts val="100"/>
              </a:spcBef>
            </a:pPr>
            <a:r>
              <a:rPr dirty="0"/>
              <a:t>Resolution</a:t>
            </a:r>
            <a:r>
              <a:rPr spc="-175" dirty="0"/>
              <a:t> </a:t>
            </a:r>
            <a:r>
              <a:rPr spc="-55" dirty="0"/>
              <a:t>Terms</a:t>
            </a:r>
            <a:r>
              <a:rPr spc="-114" dirty="0"/>
              <a:t> </a:t>
            </a:r>
            <a:r>
              <a:rPr dirty="0"/>
              <a:t>and</a:t>
            </a:r>
            <a:r>
              <a:rPr spc="-110" dirty="0"/>
              <a:t> </a:t>
            </a:r>
            <a:r>
              <a:rPr spc="-10" dirty="0"/>
              <a:t>Magnification</a:t>
            </a:r>
          </a:p>
        </p:txBody>
      </p: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pc="-10" dirty="0"/>
              <a:t>Software</a:t>
            </a:r>
            <a:r>
              <a:rPr spc="-50" dirty="0"/>
              <a:t> </a:t>
            </a:r>
            <a:r>
              <a:rPr dirty="0"/>
              <a:t>for</a:t>
            </a:r>
            <a:r>
              <a:rPr spc="-45" dirty="0"/>
              <a:t> </a:t>
            </a:r>
            <a:r>
              <a:rPr dirty="0"/>
              <a:t>Optical</a:t>
            </a:r>
            <a:r>
              <a:rPr spc="-45" dirty="0"/>
              <a:t> </a:t>
            </a:r>
            <a:r>
              <a:rPr dirty="0"/>
              <a:t>Simulations,</a:t>
            </a:r>
            <a:r>
              <a:rPr spc="-45" dirty="0"/>
              <a:t> </a:t>
            </a:r>
            <a:r>
              <a:rPr spc="-20" dirty="0"/>
              <a:t>Trieste,</a:t>
            </a:r>
            <a:r>
              <a:rPr spc="-45" dirty="0"/>
              <a:t> </a:t>
            </a:r>
            <a:r>
              <a:rPr dirty="0"/>
              <a:t>October</a:t>
            </a:r>
            <a:r>
              <a:rPr spc="-45" dirty="0"/>
              <a:t> </a:t>
            </a:r>
            <a:r>
              <a:rPr dirty="0"/>
              <a:t>2016.</a:t>
            </a:r>
            <a:r>
              <a:rPr spc="-45" dirty="0"/>
              <a:t> </a:t>
            </a:r>
            <a:r>
              <a:rPr dirty="0"/>
              <a:t>Ruben</a:t>
            </a:r>
            <a:r>
              <a:rPr spc="-45" dirty="0"/>
              <a:t> </a:t>
            </a:r>
            <a:r>
              <a:rPr spc="-10" dirty="0"/>
              <a:t>Reininger</a:t>
            </a:r>
          </a:p>
        </p:txBody>
      </p:sp>
      <p:sp>
        <p:nvSpPr>
          <p:cNvPr id="14" name="object 1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25" dirty="0"/>
              <a:t>12</a:t>
            </a:fld>
            <a:endParaRPr spc="-25" dirty="0"/>
          </a:p>
        </p:txBody>
      </p:sp>
      <p:sp>
        <p:nvSpPr>
          <p:cNvPr id="15" name="object 15"/>
          <p:cNvSpPr txBox="1"/>
          <p:nvPr/>
        </p:nvSpPr>
        <p:spPr>
          <a:xfrm>
            <a:off x="1069339" y="9384967"/>
            <a:ext cx="72390" cy="211454"/>
          </a:xfrm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sz="1200" spc="-50" dirty="0">
                <a:solidFill>
                  <a:srgbClr val="275D90"/>
                </a:solidFill>
                <a:latin typeface="Calibri"/>
                <a:cs typeface="Calibri"/>
              </a:rPr>
              <a:t>-</a:t>
            </a:r>
            <a:endParaRPr sz="1200">
              <a:latin typeface="Calibri"/>
              <a:cs typeface="Calibri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5B7D394-8F56-4B91-AB98-785835A378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4200" y="1183126"/>
            <a:ext cx="9422033" cy="7387348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660A1821-E161-4A53-B848-C13C7D131771}"/>
              </a:ext>
            </a:extLst>
          </p:cNvPr>
          <p:cNvSpPr/>
          <p:nvPr/>
        </p:nvSpPr>
        <p:spPr>
          <a:xfrm>
            <a:off x="1549400" y="7545112"/>
            <a:ext cx="10134600" cy="13804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63292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726754" y="0"/>
            <a:ext cx="5278045" cy="215900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58925">
              <a:lnSpc>
                <a:spcPct val="100000"/>
              </a:lnSpc>
              <a:spcBef>
                <a:spcPts val="100"/>
              </a:spcBef>
            </a:pPr>
            <a:r>
              <a:rPr dirty="0"/>
              <a:t>Resolution</a:t>
            </a:r>
            <a:r>
              <a:rPr spc="-175" dirty="0"/>
              <a:t> </a:t>
            </a:r>
            <a:r>
              <a:rPr spc="-55" dirty="0"/>
              <a:t>Terms</a:t>
            </a:r>
            <a:r>
              <a:rPr spc="-114" dirty="0"/>
              <a:t> </a:t>
            </a:r>
            <a:r>
              <a:rPr dirty="0"/>
              <a:t>and</a:t>
            </a:r>
            <a:r>
              <a:rPr spc="-110" dirty="0"/>
              <a:t> </a:t>
            </a:r>
            <a:r>
              <a:rPr spc="-10" dirty="0"/>
              <a:t>Magnification</a:t>
            </a:r>
          </a:p>
        </p:txBody>
      </p: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pc="-10" dirty="0"/>
              <a:t>Software</a:t>
            </a:r>
            <a:r>
              <a:rPr spc="-50" dirty="0"/>
              <a:t> </a:t>
            </a:r>
            <a:r>
              <a:rPr dirty="0"/>
              <a:t>for</a:t>
            </a:r>
            <a:r>
              <a:rPr spc="-45" dirty="0"/>
              <a:t> </a:t>
            </a:r>
            <a:r>
              <a:rPr dirty="0"/>
              <a:t>Optical</a:t>
            </a:r>
            <a:r>
              <a:rPr spc="-45" dirty="0"/>
              <a:t> </a:t>
            </a:r>
            <a:r>
              <a:rPr dirty="0"/>
              <a:t>Simulations,</a:t>
            </a:r>
            <a:r>
              <a:rPr spc="-45" dirty="0"/>
              <a:t> </a:t>
            </a:r>
            <a:r>
              <a:rPr spc="-20" dirty="0"/>
              <a:t>Trieste,</a:t>
            </a:r>
            <a:r>
              <a:rPr spc="-45" dirty="0"/>
              <a:t> </a:t>
            </a:r>
            <a:r>
              <a:rPr dirty="0"/>
              <a:t>October</a:t>
            </a:r>
            <a:r>
              <a:rPr spc="-45" dirty="0"/>
              <a:t> </a:t>
            </a:r>
            <a:r>
              <a:rPr dirty="0"/>
              <a:t>2016.</a:t>
            </a:r>
            <a:r>
              <a:rPr spc="-45" dirty="0"/>
              <a:t> </a:t>
            </a:r>
            <a:r>
              <a:rPr dirty="0"/>
              <a:t>Ruben</a:t>
            </a:r>
            <a:r>
              <a:rPr spc="-45" dirty="0"/>
              <a:t> </a:t>
            </a:r>
            <a:r>
              <a:rPr spc="-10" dirty="0"/>
              <a:t>Reininger</a:t>
            </a:r>
          </a:p>
        </p:txBody>
      </p:sp>
      <p:sp>
        <p:nvSpPr>
          <p:cNvPr id="14" name="object 1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25" dirty="0"/>
              <a:t>13</a:t>
            </a:fld>
            <a:endParaRPr spc="-25" dirty="0"/>
          </a:p>
        </p:txBody>
      </p:sp>
      <p:sp>
        <p:nvSpPr>
          <p:cNvPr id="15" name="object 15"/>
          <p:cNvSpPr txBox="1"/>
          <p:nvPr/>
        </p:nvSpPr>
        <p:spPr>
          <a:xfrm>
            <a:off x="1069339" y="9384967"/>
            <a:ext cx="72390" cy="211454"/>
          </a:xfrm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sz="1200" spc="-50" dirty="0">
                <a:solidFill>
                  <a:srgbClr val="275D90"/>
                </a:solidFill>
                <a:latin typeface="Calibri"/>
                <a:cs typeface="Calibri"/>
              </a:rPr>
              <a:t>-</a:t>
            </a:r>
            <a:endParaRPr sz="1200">
              <a:latin typeface="Calibri"/>
              <a:cs typeface="Calibri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5B7D394-8F56-4B91-AB98-785835A378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4200" y="1183126"/>
            <a:ext cx="9422033" cy="7387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18636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726754" y="0"/>
            <a:ext cx="5278045" cy="215900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359025">
              <a:lnSpc>
                <a:spcPct val="100000"/>
              </a:lnSpc>
              <a:spcBef>
                <a:spcPts val="100"/>
              </a:spcBef>
            </a:pPr>
            <a:r>
              <a:rPr dirty="0"/>
              <a:t>Source:</a:t>
            </a:r>
            <a:r>
              <a:rPr spc="-35" dirty="0"/>
              <a:t> </a:t>
            </a:r>
            <a:r>
              <a:rPr spc="-10" dirty="0"/>
              <a:t>present</a:t>
            </a:r>
            <a:r>
              <a:rPr spc="-220" dirty="0"/>
              <a:t> </a:t>
            </a:r>
            <a:r>
              <a:rPr dirty="0"/>
              <a:t>APS,</a:t>
            </a:r>
            <a:r>
              <a:rPr spc="-35" dirty="0"/>
              <a:t> </a:t>
            </a:r>
            <a:r>
              <a:rPr dirty="0"/>
              <a:t>2</a:t>
            </a:r>
            <a:r>
              <a:rPr spc="-25" dirty="0"/>
              <a:t> </a:t>
            </a:r>
            <a:r>
              <a:rPr dirty="0"/>
              <a:t>m</a:t>
            </a:r>
            <a:r>
              <a:rPr spc="-30" dirty="0"/>
              <a:t> </a:t>
            </a:r>
            <a:r>
              <a:rPr spc="-25" dirty="0"/>
              <a:t>ID</a:t>
            </a:r>
          </a:p>
        </p:txBody>
      </p: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pc="-10" dirty="0"/>
              <a:t>Software</a:t>
            </a:r>
            <a:r>
              <a:rPr spc="-50" dirty="0"/>
              <a:t> </a:t>
            </a:r>
            <a:r>
              <a:rPr dirty="0"/>
              <a:t>for</a:t>
            </a:r>
            <a:r>
              <a:rPr spc="-45" dirty="0"/>
              <a:t> </a:t>
            </a:r>
            <a:r>
              <a:rPr dirty="0"/>
              <a:t>Optical</a:t>
            </a:r>
            <a:r>
              <a:rPr spc="-45" dirty="0"/>
              <a:t> </a:t>
            </a:r>
            <a:r>
              <a:rPr dirty="0"/>
              <a:t>Simulations,</a:t>
            </a:r>
            <a:r>
              <a:rPr spc="-45" dirty="0"/>
              <a:t> </a:t>
            </a:r>
            <a:r>
              <a:rPr spc="-20" dirty="0"/>
              <a:t>Trieste,</a:t>
            </a:r>
            <a:r>
              <a:rPr spc="-45" dirty="0"/>
              <a:t> </a:t>
            </a:r>
            <a:r>
              <a:rPr dirty="0"/>
              <a:t>October</a:t>
            </a:r>
            <a:r>
              <a:rPr spc="-45" dirty="0"/>
              <a:t> </a:t>
            </a:r>
            <a:r>
              <a:rPr dirty="0"/>
              <a:t>2016.</a:t>
            </a:r>
            <a:r>
              <a:rPr spc="-45" dirty="0"/>
              <a:t> </a:t>
            </a:r>
            <a:r>
              <a:rPr dirty="0"/>
              <a:t>Ruben</a:t>
            </a:r>
            <a:r>
              <a:rPr spc="-45" dirty="0"/>
              <a:t> </a:t>
            </a:r>
            <a:r>
              <a:rPr spc="-10" dirty="0"/>
              <a:t>Reininger</a:t>
            </a:r>
          </a:p>
        </p:txBody>
      </p:sp>
      <p:sp>
        <p:nvSpPr>
          <p:cNvPr id="9" name="object 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25" dirty="0"/>
              <a:t>14</a:t>
            </a:fld>
            <a:endParaRPr spc="-25" dirty="0"/>
          </a:p>
        </p:txBody>
      </p:sp>
      <p:sp>
        <p:nvSpPr>
          <p:cNvPr id="10" name="object 10"/>
          <p:cNvSpPr txBox="1"/>
          <p:nvPr/>
        </p:nvSpPr>
        <p:spPr>
          <a:xfrm>
            <a:off x="1069339" y="9384967"/>
            <a:ext cx="72390" cy="211454"/>
          </a:xfrm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sz="1200" spc="-50" dirty="0">
                <a:solidFill>
                  <a:srgbClr val="275D90"/>
                </a:solidFill>
                <a:latin typeface="Calibri"/>
                <a:cs typeface="Calibri"/>
              </a:rPr>
              <a:t>-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17900" y="1651000"/>
            <a:ext cx="609028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Arial MT"/>
                <a:cs typeface="Arial MT"/>
              </a:rPr>
              <a:t>Unless</a:t>
            </a:r>
            <a:r>
              <a:rPr sz="2400" spc="-65" dirty="0">
                <a:latin typeface="Arial MT"/>
                <a:cs typeface="Arial MT"/>
              </a:rPr>
              <a:t> </a:t>
            </a:r>
            <a:r>
              <a:rPr sz="2400" dirty="0">
                <a:latin typeface="Arial MT"/>
                <a:cs typeface="Arial MT"/>
              </a:rPr>
              <a:t>specified,</a:t>
            </a:r>
            <a:r>
              <a:rPr sz="2400" spc="-60" dirty="0">
                <a:latin typeface="Arial MT"/>
                <a:cs typeface="Arial MT"/>
              </a:rPr>
              <a:t> </a:t>
            </a:r>
            <a:r>
              <a:rPr sz="2400" dirty="0">
                <a:latin typeface="Arial MT"/>
                <a:cs typeface="Arial MT"/>
              </a:rPr>
              <a:t>all</a:t>
            </a:r>
            <a:r>
              <a:rPr sz="2400" spc="-55" dirty="0">
                <a:latin typeface="Arial MT"/>
                <a:cs typeface="Arial MT"/>
              </a:rPr>
              <a:t> </a:t>
            </a:r>
            <a:r>
              <a:rPr sz="2400" dirty="0">
                <a:latin typeface="Arial MT"/>
                <a:cs typeface="Arial MT"/>
              </a:rPr>
              <a:t>examples</a:t>
            </a:r>
            <a:r>
              <a:rPr sz="2400" spc="-60" dirty="0">
                <a:latin typeface="Arial MT"/>
                <a:cs typeface="Arial MT"/>
              </a:rPr>
              <a:t> </a:t>
            </a:r>
            <a:r>
              <a:rPr sz="2400" dirty="0">
                <a:latin typeface="Arial MT"/>
                <a:cs typeface="Arial MT"/>
              </a:rPr>
              <a:t>use</a:t>
            </a:r>
            <a:r>
              <a:rPr sz="2400" spc="-55" dirty="0">
                <a:latin typeface="Arial MT"/>
                <a:cs typeface="Arial MT"/>
              </a:rPr>
              <a:t> </a:t>
            </a:r>
            <a:r>
              <a:rPr sz="2400" dirty="0">
                <a:latin typeface="Arial MT"/>
                <a:cs typeface="Arial MT"/>
              </a:rPr>
              <a:t>as</a:t>
            </a:r>
            <a:r>
              <a:rPr sz="2400" spc="-60" dirty="0">
                <a:latin typeface="Arial MT"/>
                <a:cs typeface="Arial MT"/>
              </a:rPr>
              <a:t> </a:t>
            </a:r>
            <a:r>
              <a:rPr sz="2400" spc="-10" dirty="0">
                <a:latin typeface="Arial MT"/>
                <a:cs typeface="Arial MT"/>
              </a:rPr>
              <a:t>source</a:t>
            </a:r>
            <a:endParaRPr sz="2400">
              <a:latin typeface="Arial MT"/>
              <a:cs typeface="Arial MT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A8A2745-FE09-4233-A44E-AB7BC0DC98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3200" y="2865120"/>
            <a:ext cx="3257572" cy="280302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726754" y="0"/>
            <a:ext cx="5278045" cy="215900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400300" y="254000"/>
            <a:ext cx="820547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2127885" algn="l"/>
                <a:tab pos="7310755" algn="l"/>
              </a:tabLst>
            </a:pPr>
            <a:r>
              <a:rPr spc="-10" dirty="0"/>
              <a:t>Spherical</a:t>
            </a:r>
            <a:r>
              <a:rPr dirty="0"/>
              <a:t>	Grating</a:t>
            </a:r>
            <a:r>
              <a:rPr spc="-160" dirty="0"/>
              <a:t> </a:t>
            </a:r>
            <a:r>
              <a:rPr spc="-10" dirty="0"/>
              <a:t>Monochromator</a:t>
            </a:r>
            <a:r>
              <a:rPr dirty="0"/>
              <a:t>	</a:t>
            </a:r>
            <a:r>
              <a:rPr spc="-25" dirty="0"/>
              <a:t>SGM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4300346" y="1485178"/>
            <a:ext cx="4004945" cy="1808480"/>
            <a:chOff x="4300346" y="1485178"/>
            <a:chExt cx="4004945" cy="1808480"/>
          </a:xfrm>
        </p:grpSpPr>
        <p:sp>
          <p:nvSpPr>
            <p:cNvPr id="5" name="object 5"/>
            <p:cNvSpPr/>
            <p:nvPr/>
          </p:nvSpPr>
          <p:spPr>
            <a:xfrm>
              <a:off x="4691880" y="2896699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4" y="0"/>
                  </a:lnTo>
                  <a:lnTo>
                    <a:pt x="186914" y="190704"/>
                  </a:lnTo>
                  <a:lnTo>
                    <a:pt x="0" y="1907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6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4691880" y="2896699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5" y="0"/>
                  </a:lnTo>
                  <a:lnTo>
                    <a:pt x="186915" y="190703"/>
                  </a:lnTo>
                  <a:lnTo>
                    <a:pt x="0" y="190703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009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691880" y="3089904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4" y="0"/>
                  </a:lnTo>
                  <a:lnTo>
                    <a:pt x="186914" y="190703"/>
                  </a:lnTo>
                  <a:lnTo>
                    <a:pt x="0" y="1907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6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4691880" y="3089904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5" y="0"/>
                  </a:lnTo>
                  <a:lnTo>
                    <a:pt x="186915" y="190703"/>
                  </a:lnTo>
                  <a:lnTo>
                    <a:pt x="0" y="190703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009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4881295" y="3089904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6" y="0"/>
                  </a:lnTo>
                  <a:lnTo>
                    <a:pt x="186916" y="190703"/>
                  </a:lnTo>
                  <a:lnTo>
                    <a:pt x="0" y="1907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6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4881295" y="3089904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5" y="0"/>
                  </a:lnTo>
                  <a:lnTo>
                    <a:pt x="186915" y="190703"/>
                  </a:lnTo>
                  <a:lnTo>
                    <a:pt x="0" y="190703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009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5070712" y="2896699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4" y="0"/>
                  </a:lnTo>
                  <a:lnTo>
                    <a:pt x="186914" y="190704"/>
                  </a:lnTo>
                  <a:lnTo>
                    <a:pt x="0" y="1907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6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5070712" y="2896699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5" y="0"/>
                  </a:lnTo>
                  <a:lnTo>
                    <a:pt x="186915" y="190703"/>
                  </a:lnTo>
                  <a:lnTo>
                    <a:pt x="0" y="190703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009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5070712" y="3089904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4" y="0"/>
                  </a:lnTo>
                  <a:lnTo>
                    <a:pt x="186914" y="190703"/>
                  </a:lnTo>
                  <a:lnTo>
                    <a:pt x="0" y="1907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6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070712" y="3089904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5" y="0"/>
                  </a:lnTo>
                  <a:lnTo>
                    <a:pt x="186915" y="190703"/>
                  </a:lnTo>
                  <a:lnTo>
                    <a:pt x="0" y="190703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009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260129" y="3089904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4" y="0"/>
                  </a:lnTo>
                  <a:lnTo>
                    <a:pt x="186914" y="190703"/>
                  </a:lnTo>
                  <a:lnTo>
                    <a:pt x="0" y="1907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6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5260129" y="3089904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5" y="0"/>
                  </a:lnTo>
                  <a:lnTo>
                    <a:pt x="186915" y="190703"/>
                  </a:lnTo>
                  <a:lnTo>
                    <a:pt x="0" y="190703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009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4313046" y="2896699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6" y="0"/>
                  </a:lnTo>
                  <a:lnTo>
                    <a:pt x="186916" y="190704"/>
                  </a:lnTo>
                  <a:lnTo>
                    <a:pt x="0" y="1907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6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4313046" y="2896699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5" y="0"/>
                  </a:lnTo>
                  <a:lnTo>
                    <a:pt x="186915" y="190703"/>
                  </a:lnTo>
                  <a:lnTo>
                    <a:pt x="0" y="190703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009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4313046" y="3089904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6" y="0"/>
                  </a:lnTo>
                  <a:lnTo>
                    <a:pt x="186916" y="190703"/>
                  </a:lnTo>
                  <a:lnTo>
                    <a:pt x="0" y="1907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6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4313046" y="3089904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5" y="0"/>
                  </a:lnTo>
                  <a:lnTo>
                    <a:pt x="186915" y="190703"/>
                  </a:lnTo>
                  <a:lnTo>
                    <a:pt x="0" y="190703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009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4502463" y="3089904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4" y="0"/>
                  </a:lnTo>
                  <a:lnTo>
                    <a:pt x="186914" y="190703"/>
                  </a:lnTo>
                  <a:lnTo>
                    <a:pt x="0" y="1907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6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4502463" y="3089904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5" y="0"/>
                  </a:lnTo>
                  <a:lnTo>
                    <a:pt x="186915" y="190703"/>
                  </a:lnTo>
                  <a:lnTo>
                    <a:pt x="0" y="190703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009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5828377" y="2896699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4" y="0"/>
                  </a:lnTo>
                  <a:lnTo>
                    <a:pt x="186914" y="190704"/>
                  </a:lnTo>
                  <a:lnTo>
                    <a:pt x="0" y="1907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6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5828377" y="2896699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5" y="0"/>
                  </a:lnTo>
                  <a:lnTo>
                    <a:pt x="186915" y="190703"/>
                  </a:lnTo>
                  <a:lnTo>
                    <a:pt x="0" y="190703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009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5828377" y="3089904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4" y="0"/>
                  </a:lnTo>
                  <a:lnTo>
                    <a:pt x="186914" y="190703"/>
                  </a:lnTo>
                  <a:lnTo>
                    <a:pt x="0" y="1907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6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828377" y="3089904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5" y="0"/>
                  </a:lnTo>
                  <a:lnTo>
                    <a:pt x="186915" y="190703"/>
                  </a:lnTo>
                  <a:lnTo>
                    <a:pt x="0" y="190703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009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6017793" y="3089904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6" y="0"/>
                  </a:lnTo>
                  <a:lnTo>
                    <a:pt x="186916" y="190703"/>
                  </a:lnTo>
                  <a:lnTo>
                    <a:pt x="0" y="1907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6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6017793" y="3089904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5" y="0"/>
                  </a:lnTo>
                  <a:lnTo>
                    <a:pt x="186915" y="190703"/>
                  </a:lnTo>
                  <a:lnTo>
                    <a:pt x="0" y="190703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009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6207209" y="2896699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4" y="0"/>
                  </a:lnTo>
                  <a:lnTo>
                    <a:pt x="186914" y="190704"/>
                  </a:lnTo>
                  <a:lnTo>
                    <a:pt x="0" y="1907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6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30"/>
            <p:cNvSpPr/>
            <p:nvPr/>
          </p:nvSpPr>
          <p:spPr>
            <a:xfrm>
              <a:off x="6207209" y="2896699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5" y="0"/>
                  </a:lnTo>
                  <a:lnTo>
                    <a:pt x="186915" y="190703"/>
                  </a:lnTo>
                  <a:lnTo>
                    <a:pt x="0" y="190703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009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6207209" y="3089904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4" y="0"/>
                  </a:lnTo>
                  <a:lnTo>
                    <a:pt x="186914" y="190703"/>
                  </a:lnTo>
                  <a:lnTo>
                    <a:pt x="0" y="1907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6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6207209" y="3089904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5" y="0"/>
                  </a:lnTo>
                  <a:lnTo>
                    <a:pt x="186915" y="190703"/>
                  </a:lnTo>
                  <a:lnTo>
                    <a:pt x="0" y="190703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009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6396626" y="3089904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4" y="0"/>
                  </a:lnTo>
                  <a:lnTo>
                    <a:pt x="186914" y="190703"/>
                  </a:lnTo>
                  <a:lnTo>
                    <a:pt x="0" y="1907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6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6396626" y="3089904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5" y="0"/>
                  </a:lnTo>
                  <a:lnTo>
                    <a:pt x="186915" y="190703"/>
                  </a:lnTo>
                  <a:lnTo>
                    <a:pt x="0" y="190703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009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5449544" y="2896699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6" y="0"/>
                  </a:lnTo>
                  <a:lnTo>
                    <a:pt x="186916" y="190704"/>
                  </a:lnTo>
                  <a:lnTo>
                    <a:pt x="0" y="1907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6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5449544" y="2896699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5" y="0"/>
                  </a:lnTo>
                  <a:lnTo>
                    <a:pt x="186915" y="190703"/>
                  </a:lnTo>
                  <a:lnTo>
                    <a:pt x="0" y="190703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009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5449544" y="3089904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6" y="0"/>
                  </a:lnTo>
                  <a:lnTo>
                    <a:pt x="186916" y="190703"/>
                  </a:lnTo>
                  <a:lnTo>
                    <a:pt x="0" y="1907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6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449544" y="3089904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5" y="0"/>
                  </a:lnTo>
                  <a:lnTo>
                    <a:pt x="186915" y="190703"/>
                  </a:lnTo>
                  <a:lnTo>
                    <a:pt x="0" y="190703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009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638961" y="3089904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4" y="0"/>
                  </a:lnTo>
                  <a:lnTo>
                    <a:pt x="186914" y="190703"/>
                  </a:lnTo>
                  <a:lnTo>
                    <a:pt x="0" y="1907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6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5638961" y="3089904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5" y="0"/>
                  </a:lnTo>
                  <a:lnTo>
                    <a:pt x="186915" y="190703"/>
                  </a:lnTo>
                  <a:lnTo>
                    <a:pt x="0" y="190703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009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6968663" y="2896699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4" y="0"/>
                  </a:lnTo>
                  <a:lnTo>
                    <a:pt x="186914" y="190704"/>
                  </a:lnTo>
                  <a:lnTo>
                    <a:pt x="0" y="1907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6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6968663" y="2896699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5" y="0"/>
                  </a:lnTo>
                  <a:lnTo>
                    <a:pt x="186915" y="190703"/>
                  </a:lnTo>
                  <a:lnTo>
                    <a:pt x="0" y="190703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009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6968663" y="3089904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4" y="0"/>
                  </a:lnTo>
                  <a:lnTo>
                    <a:pt x="186914" y="190703"/>
                  </a:lnTo>
                  <a:lnTo>
                    <a:pt x="0" y="1907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6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6968663" y="3089904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5" y="0"/>
                  </a:lnTo>
                  <a:lnTo>
                    <a:pt x="186915" y="190703"/>
                  </a:lnTo>
                  <a:lnTo>
                    <a:pt x="0" y="190703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009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7158079" y="3089904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6" y="0"/>
                  </a:lnTo>
                  <a:lnTo>
                    <a:pt x="186916" y="190703"/>
                  </a:lnTo>
                  <a:lnTo>
                    <a:pt x="0" y="1907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6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7158079" y="3089904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5" y="0"/>
                  </a:lnTo>
                  <a:lnTo>
                    <a:pt x="186915" y="190703"/>
                  </a:lnTo>
                  <a:lnTo>
                    <a:pt x="0" y="190703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009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7347495" y="2896699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4" y="0"/>
                  </a:lnTo>
                  <a:lnTo>
                    <a:pt x="186914" y="190704"/>
                  </a:lnTo>
                  <a:lnTo>
                    <a:pt x="0" y="1907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6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8"/>
            <p:cNvSpPr/>
            <p:nvPr/>
          </p:nvSpPr>
          <p:spPr>
            <a:xfrm>
              <a:off x="7347495" y="2896699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5" y="0"/>
                  </a:lnTo>
                  <a:lnTo>
                    <a:pt x="186915" y="190703"/>
                  </a:lnTo>
                  <a:lnTo>
                    <a:pt x="0" y="190703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009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7347495" y="3089904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4" y="0"/>
                  </a:lnTo>
                  <a:lnTo>
                    <a:pt x="186914" y="190703"/>
                  </a:lnTo>
                  <a:lnTo>
                    <a:pt x="0" y="1907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6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7347495" y="3089904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5" y="0"/>
                  </a:lnTo>
                  <a:lnTo>
                    <a:pt x="186915" y="190703"/>
                  </a:lnTo>
                  <a:lnTo>
                    <a:pt x="0" y="190703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009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7536912" y="3089904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4" y="0"/>
                  </a:lnTo>
                  <a:lnTo>
                    <a:pt x="186914" y="190703"/>
                  </a:lnTo>
                  <a:lnTo>
                    <a:pt x="0" y="1907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6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7536912" y="3089904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5" y="0"/>
                  </a:lnTo>
                  <a:lnTo>
                    <a:pt x="186915" y="190703"/>
                  </a:lnTo>
                  <a:lnTo>
                    <a:pt x="0" y="190703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009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object 53"/>
            <p:cNvSpPr/>
            <p:nvPr/>
          </p:nvSpPr>
          <p:spPr>
            <a:xfrm>
              <a:off x="6589830" y="2896699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6" y="0"/>
                  </a:lnTo>
                  <a:lnTo>
                    <a:pt x="186916" y="190704"/>
                  </a:lnTo>
                  <a:lnTo>
                    <a:pt x="0" y="1907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6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4" name="object 54"/>
            <p:cNvSpPr/>
            <p:nvPr/>
          </p:nvSpPr>
          <p:spPr>
            <a:xfrm>
              <a:off x="6589830" y="2896699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5" y="0"/>
                  </a:lnTo>
                  <a:lnTo>
                    <a:pt x="186915" y="190703"/>
                  </a:lnTo>
                  <a:lnTo>
                    <a:pt x="0" y="190703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009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5" name="object 55"/>
            <p:cNvSpPr/>
            <p:nvPr/>
          </p:nvSpPr>
          <p:spPr>
            <a:xfrm>
              <a:off x="6589830" y="3089904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6" y="0"/>
                  </a:lnTo>
                  <a:lnTo>
                    <a:pt x="186916" y="190703"/>
                  </a:lnTo>
                  <a:lnTo>
                    <a:pt x="0" y="1907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6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6589830" y="3089904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5" y="0"/>
                  </a:lnTo>
                  <a:lnTo>
                    <a:pt x="186915" y="190703"/>
                  </a:lnTo>
                  <a:lnTo>
                    <a:pt x="0" y="190703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009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7" name="object 57"/>
            <p:cNvSpPr/>
            <p:nvPr/>
          </p:nvSpPr>
          <p:spPr>
            <a:xfrm>
              <a:off x="6779247" y="3089904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4" y="0"/>
                  </a:lnTo>
                  <a:lnTo>
                    <a:pt x="186914" y="190703"/>
                  </a:lnTo>
                  <a:lnTo>
                    <a:pt x="0" y="1907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6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8" name="object 58"/>
            <p:cNvSpPr/>
            <p:nvPr/>
          </p:nvSpPr>
          <p:spPr>
            <a:xfrm>
              <a:off x="6779247" y="3089904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5" y="0"/>
                  </a:lnTo>
                  <a:lnTo>
                    <a:pt x="186915" y="190703"/>
                  </a:lnTo>
                  <a:lnTo>
                    <a:pt x="0" y="190703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009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9" name="object 59"/>
            <p:cNvSpPr/>
            <p:nvPr/>
          </p:nvSpPr>
          <p:spPr>
            <a:xfrm>
              <a:off x="8105161" y="2896699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4" y="0"/>
                  </a:lnTo>
                  <a:lnTo>
                    <a:pt x="186914" y="190704"/>
                  </a:lnTo>
                  <a:lnTo>
                    <a:pt x="0" y="1907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6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0" name="object 60"/>
            <p:cNvSpPr/>
            <p:nvPr/>
          </p:nvSpPr>
          <p:spPr>
            <a:xfrm>
              <a:off x="8105161" y="2896699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5" y="0"/>
                  </a:lnTo>
                  <a:lnTo>
                    <a:pt x="186915" y="190703"/>
                  </a:lnTo>
                  <a:lnTo>
                    <a:pt x="0" y="190703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009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1" name="object 61"/>
            <p:cNvSpPr/>
            <p:nvPr/>
          </p:nvSpPr>
          <p:spPr>
            <a:xfrm>
              <a:off x="8105161" y="3089904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4" y="0"/>
                  </a:lnTo>
                  <a:lnTo>
                    <a:pt x="186914" y="190703"/>
                  </a:lnTo>
                  <a:lnTo>
                    <a:pt x="0" y="1907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6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2" name="object 62"/>
            <p:cNvSpPr/>
            <p:nvPr/>
          </p:nvSpPr>
          <p:spPr>
            <a:xfrm>
              <a:off x="8105161" y="3089904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5" y="0"/>
                  </a:lnTo>
                  <a:lnTo>
                    <a:pt x="186915" y="190703"/>
                  </a:lnTo>
                  <a:lnTo>
                    <a:pt x="0" y="190703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009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3" name="object 63"/>
            <p:cNvSpPr/>
            <p:nvPr/>
          </p:nvSpPr>
          <p:spPr>
            <a:xfrm>
              <a:off x="7726328" y="2896699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6" y="0"/>
                  </a:lnTo>
                  <a:lnTo>
                    <a:pt x="186916" y="190704"/>
                  </a:lnTo>
                  <a:lnTo>
                    <a:pt x="0" y="1907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6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4" name="object 64"/>
            <p:cNvSpPr/>
            <p:nvPr/>
          </p:nvSpPr>
          <p:spPr>
            <a:xfrm>
              <a:off x="7726328" y="2896699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5" y="0"/>
                  </a:lnTo>
                  <a:lnTo>
                    <a:pt x="186915" y="190703"/>
                  </a:lnTo>
                  <a:lnTo>
                    <a:pt x="0" y="190703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009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5" name="object 65"/>
            <p:cNvSpPr/>
            <p:nvPr/>
          </p:nvSpPr>
          <p:spPr>
            <a:xfrm>
              <a:off x="7726328" y="3089904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6" y="0"/>
                  </a:lnTo>
                  <a:lnTo>
                    <a:pt x="186916" y="190703"/>
                  </a:lnTo>
                  <a:lnTo>
                    <a:pt x="0" y="1907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6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6" name="object 66"/>
            <p:cNvSpPr/>
            <p:nvPr/>
          </p:nvSpPr>
          <p:spPr>
            <a:xfrm>
              <a:off x="7726328" y="3089904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5" y="0"/>
                  </a:lnTo>
                  <a:lnTo>
                    <a:pt x="186915" y="190703"/>
                  </a:lnTo>
                  <a:lnTo>
                    <a:pt x="0" y="190703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009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7" name="object 67"/>
            <p:cNvSpPr/>
            <p:nvPr/>
          </p:nvSpPr>
          <p:spPr>
            <a:xfrm>
              <a:off x="7915744" y="3089904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4" y="0"/>
                  </a:lnTo>
                  <a:lnTo>
                    <a:pt x="186914" y="190703"/>
                  </a:lnTo>
                  <a:lnTo>
                    <a:pt x="0" y="1907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96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8" name="object 68"/>
            <p:cNvSpPr/>
            <p:nvPr/>
          </p:nvSpPr>
          <p:spPr>
            <a:xfrm>
              <a:off x="7915744" y="3089904"/>
              <a:ext cx="187325" cy="191135"/>
            </a:xfrm>
            <a:custGeom>
              <a:avLst/>
              <a:gdLst/>
              <a:ahLst/>
              <a:cxnLst/>
              <a:rect l="l" t="t" r="r" b="b"/>
              <a:pathLst>
                <a:path w="187325" h="191135">
                  <a:moveTo>
                    <a:pt x="0" y="0"/>
                  </a:moveTo>
                  <a:lnTo>
                    <a:pt x="186915" y="0"/>
                  </a:lnTo>
                  <a:lnTo>
                    <a:pt x="186915" y="190703"/>
                  </a:lnTo>
                  <a:lnTo>
                    <a:pt x="0" y="190703"/>
                  </a:lnTo>
                  <a:lnTo>
                    <a:pt x="0" y="0"/>
                  </a:lnTo>
                  <a:close/>
                </a:path>
              </a:pathLst>
            </a:custGeom>
            <a:ln w="25400">
              <a:solidFill>
                <a:srgbClr val="009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9" name="object 69"/>
            <p:cNvSpPr/>
            <p:nvPr/>
          </p:nvSpPr>
          <p:spPr>
            <a:xfrm>
              <a:off x="5045068" y="1609678"/>
              <a:ext cx="1165225" cy="1165225"/>
            </a:xfrm>
            <a:custGeom>
              <a:avLst/>
              <a:gdLst/>
              <a:ahLst/>
              <a:cxnLst/>
              <a:rect l="l" t="t" r="r" b="b"/>
              <a:pathLst>
                <a:path w="1165225" h="1165225">
                  <a:moveTo>
                    <a:pt x="0" y="0"/>
                  </a:moveTo>
                  <a:lnTo>
                    <a:pt x="1151461" y="1151461"/>
                  </a:lnTo>
                  <a:lnTo>
                    <a:pt x="1164931" y="1164931"/>
                  </a:lnTo>
                </a:path>
              </a:pathLst>
            </a:custGeom>
            <a:ln w="38100">
              <a:solidFill>
                <a:srgbClr val="FF26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0" name="object 70"/>
            <p:cNvSpPr/>
            <p:nvPr/>
          </p:nvSpPr>
          <p:spPr>
            <a:xfrm>
              <a:off x="6137259" y="2701869"/>
              <a:ext cx="178435" cy="178435"/>
            </a:xfrm>
            <a:custGeom>
              <a:avLst/>
              <a:gdLst/>
              <a:ahLst/>
              <a:cxnLst/>
              <a:rect l="l" t="t" r="r" b="b"/>
              <a:pathLst>
                <a:path w="178435" h="178435">
                  <a:moveTo>
                    <a:pt x="118539" y="0"/>
                  </a:moveTo>
                  <a:lnTo>
                    <a:pt x="0" y="118540"/>
                  </a:lnTo>
                  <a:lnTo>
                    <a:pt x="177808" y="177810"/>
                  </a:lnTo>
                  <a:lnTo>
                    <a:pt x="118539" y="0"/>
                  </a:lnTo>
                  <a:close/>
                </a:path>
              </a:pathLst>
            </a:custGeom>
            <a:solidFill>
              <a:srgbClr val="FF2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1" name="object 71"/>
            <p:cNvSpPr/>
            <p:nvPr/>
          </p:nvSpPr>
          <p:spPr>
            <a:xfrm>
              <a:off x="6302562" y="1504228"/>
              <a:ext cx="0" cy="1722120"/>
            </a:xfrm>
            <a:custGeom>
              <a:avLst/>
              <a:gdLst/>
              <a:ahLst/>
              <a:cxnLst/>
              <a:rect l="l" t="t" r="r" b="b"/>
              <a:pathLst>
                <a:path h="1722120">
                  <a:moveTo>
                    <a:pt x="0" y="1721692"/>
                  </a:moveTo>
                  <a:lnTo>
                    <a:pt x="0" y="0"/>
                  </a:lnTo>
                </a:path>
              </a:pathLst>
            </a:custGeom>
            <a:ln w="38100">
              <a:solidFill>
                <a:srgbClr val="009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2" name="object 72"/>
          <p:cNvSpPr txBox="1"/>
          <p:nvPr/>
        </p:nvSpPr>
        <p:spPr>
          <a:xfrm>
            <a:off x="5880100" y="1879600"/>
            <a:ext cx="21209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i="1" spc="-50" dirty="0">
                <a:solidFill>
                  <a:srgbClr val="FF2600"/>
                </a:solidFill>
                <a:latin typeface="Times New Roman"/>
                <a:cs typeface="Times New Roman"/>
              </a:rPr>
              <a:t>α</a:t>
            </a:r>
            <a:endParaRPr sz="2800">
              <a:latin typeface="Times New Roman"/>
              <a:cs typeface="Times New Roman"/>
            </a:endParaRPr>
          </a:p>
        </p:txBody>
      </p:sp>
      <p:sp>
        <p:nvSpPr>
          <p:cNvPr id="73" name="object 73"/>
          <p:cNvSpPr txBox="1"/>
          <p:nvPr/>
        </p:nvSpPr>
        <p:spPr>
          <a:xfrm>
            <a:off x="6553200" y="1143000"/>
            <a:ext cx="32766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solidFill>
                  <a:srgbClr val="FF2600"/>
                </a:solidFill>
                <a:latin typeface="Times New Roman"/>
                <a:cs typeface="Times New Roman"/>
              </a:rPr>
              <a:t>2</a:t>
            </a:r>
            <a:r>
              <a:rPr sz="2400" i="1" spc="-25" dirty="0">
                <a:solidFill>
                  <a:srgbClr val="FF2600"/>
                </a:solidFill>
                <a:latin typeface="Times New Roman"/>
                <a:cs typeface="Times New Roman"/>
              </a:rPr>
              <a:t>θ</a:t>
            </a:r>
            <a:endParaRPr sz="2400">
              <a:latin typeface="Times New Roman"/>
              <a:cs typeface="Times New Roman"/>
            </a:endParaRPr>
          </a:p>
        </p:txBody>
      </p:sp>
      <p:grpSp>
        <p:nvGrpSpPr>
          <p:cNvPr id="74" name="object 74"/>
          <p:cNvGrpSpPr/>
          <p:nvPr/>
        </p:nvGrpSpPr>
        <p:grpSpPr>
          <a:xfrm>
            <a:off x="6321247" y="2284590"/>
            <a:ext cx="1692275" cy="542290"/>
            <a:chOff x="6321247" y="2284590"/>
            <a:chExt cx="1692275" cy="542290"/>
          </a:xfrm>
        </p:grpSpPr>
        <p:sp>
          <p:nvSpPr>
            <p:cNvPr id="75" name="object 75"/>
            <p:cNvSpPr/>
            <p:nvPr/>
          </p:nvSpPr>
          <p:spPr>
            <a:xfrm>
              <a:off x="6340297" y="2359693"/>
              <a:ext cx="1530985" cy="447675"/>
            </a:xfrm>
            <a:custGeom>
              <a:avLst/>
              <a:gdLst/>
              <a:ahLst/>
              <a:cxnLst/>
              <a:rect l="l" t="t" r="r" b="b"/>
              <a:pathLst>
                <a:path w="1530984" h="447675">
                  <a:moveTo>
                    <a:pt x="0" y="447599"/>
                  </a:moveTo>
                  <a:lnTo>
                    <a:pt x="1512115" y="5347"/>
                  </a:lnTo>
                  <a:lnTo>
                    <a:pt x="1530399" y="0"/>
                  </a:lnTo>
                </a:path>
              </a:pathLst>
            </a:custGeom>
            <a:ln w="38099">
              <a:solidFill>
                <a:srgbClr val="FF26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6" name="object 76"/>
            <p:cNvSpPr/>
            <p:nvPr/>
          </p:nvSpPr>
          <p:spPr>
            <a:xfrm>
              <a:off x="7828884" y="2284590"/>
              <a:ext cx="184785" cy="161290"/>
            </a:xfrm>
            <a:custGeom>
              <a:avLst/>
              <a:gdLst/>
              <a:ahLst/>
              <a:cxnLst/>
              <a:rect l="l" t="t" r="r" b="b"/>
              <a:pathLst>
                <a:path w="184784" h="161289">
                  <a:moveTo>
                    <a:pt x="0" y="0"/>
                  </a:moveTo>
                  <a:lnTo>
                    <a:pt x="47058" y="160898"/>
                  </a:lnTo>
                  <a:lnTo>
                    <a:pt x="184429" y="333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2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7" name="object 77"/>
          <p:cNvSpPr txBox="1"/>
          <p:nvPr/>
        </p:nvSpPr>
        <p:spPr>
          <a:xfrm>
            <a:off x="7988300" y="2311400"/>
            <a:ext cx="292608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i="1" spc="-25" dirty="0">
                <a:solidFill>
                  <a:srgbClr val="FF2600"/>
                </a:solidFill>
                <a:latin typeface="Times New Roman"/>
                <a:cs typeface="Times New Roman"/>
              </a:rPr>
              <a:t>m</a:t>
            </a:r>
            <a:r>
              <a:rPr sz="2800" spc="-25" dirty="0">
                <a:solidFill>
                  <a:srgbClr val="FF2600"/>
                </a:solidFill>
                <a:latin typeface="Times New Roman"/>
                <a:cs typeface="Times New Roman"/>
              </a:rPr>
              <a:t>=-</a:t>
            </a:r>
            <a:r>
              <a:rPr sz="2800" dirty="0">
                <a:solidFill>
                  <a:srgbClr val="FF2600"/>
                </a:solidFill>
                <a:latin typeface="Times New Roman"/>
                <a:cs typeface="Times New Roman"/>
              </a:rPr>
              <a:t>1</a:t>
            </a:r>
            <a:r>
              <a:rPr sz="2800" spc="-45" dirty="0">
                <a:solidFill>
                  <a:srgbClr val="FF2600"/>
                </a:solidFill>
                <a:latin typeface="Times New Roman"/>
                <a:cs typeface="Times New Roman"/>
              </a:rPr>
              <a:t> </a:t>
            </a:r>
            <a:r>
              <a:rPr sz="2800" dirty="0">
                <a:solidFill>
                  <a:srgbClr val="FF2600"/>
                </a:solidFill>
                <a:latin typeface="Times New Roman"/>
                <a:cs typeface="Times New Roman"/>
              </a:rPr>
              <a:t>(SHADOW</a:t>
            </a:r>
            <a:r>
              <a:rPr sz="2800" spc="-95" dirty="0">
                <a:solidFill>
                  <a:srgbClr val="FF2600"/>
                </a:solidFill>
                <a:latin typeface="Times New Roman"/>
                <a:cs typeface="Times New Roman"/>
              </a:rPr>
              <a:t> </a:t>
            </a:r>
            <a:r>
              <a:rPr sz="2800" spc="-25" dirty="0">
                <a:solidFill>
                  <a:srgbClr val="FF2600"/>
                </a:solidFill>
                <a:latin typeface="Times New Roman"/>
                <a:cs typeface="Times New Roman"/>
              </a:rPr>
              <a:t>1)</a:t>
            </a:r>
            <a:endParaRPr sz="2800">
              <a:latin typeface="Times New Roman"/>
              <a:cs typeface="Times New Roman"/>
            </a:endParaRPr>
          </a:p>
        </p:txBody>
      </p:sp>
      <p:sp>
        <p:nvSpPr>
          <p:cNvPr id="78" name="object 78"/>
          <p:cNvSpPr txBox="1"/>
          <p:nvPr/>
        </p:nvSpPr>
        <p:spPr>
          <a:xfrm>
            <a:off x="6769100" y="1917700"/>
            <a:ext cx="20256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i="1" spc="-50" dirty="0">
                <a:solidFill>
                  <a:srgbClr val="FF2600"/>
                </a:solidFill>
                <a:latin typeface="Times New Roman"/>
                <a:cs typeface="Times New Roman"/>
              </a:rPr>
              <a:t>β</a:t>
            </a:r>
            <a:endParaRPr sz="2800">
              <a:latin typeface="Times New Roman"/>
              <a:cs typeface="Times New Roman"/>
            </a:endParaRPr>
          </a:p>
        </p:txBody>
      </p:sp>
      <p:sp>
        <p:nvSpPr>
          <p:cNvPr id="79" name="object 79"/>
          <p:cNvSpPr/>
          <p:nvPr/>
        </p:nvSpPr>
        <p:spPr>
          <a:xfrm>
            <a:off x="5400921" y="1601020"/>
            <a:ext cx="2207260" cy="807720"/>
          </a:xfrm>
          <a:custGeom>
            <a:avLst/>
            <a:gdLst/>
            <a:ahLst/>
            <a:cxnLst/>
            <a:rect l="l" t="t" r="r" b="b"/>
            <a:pathLst>
              <a:path w="2207259" h="807719">
                <a:moveTo>
                  <a:pt x="0" y="303557"/>
                </a:moveTo>
                <a:lnTo>
                  <a:pt x="47822" y="275704"/>
                </a:lnTo>
                <a:lnTo>
                  <a:pt x="95339" y="249191"/>
                </a:lnTo>
                <a:lnTo>
                  <a:pt x="142549" y="224018"/>
                </a:lnTo>
                <a:lnTo>
                  <a:pt x="189454" y="200186"/>
                </a:lnTo>
                <a:lnTo>
                  <a:pt x="236053" y="177693"/>
                </a:lnTo>
                <a:lnTo>
                  <a:pt x="282346" y="156540"/>
                </a:lnTo>
                <a:lnTo>
                  <a:pt x="328332" y="136727"/>
                </a:lnTo>
                <a:lnTo>
                  <a:pt x="374013" y="118255"/>
                </a:lnTo>
                <a:lnTo>
                  <a:pt x="419388" y="101122"/>
                </a:lnTo>
                <a:lnTo>
                  <a:pt x="464457" y="85330"/>
                </a:lnTo>
                <a:lnTo>
                  <a:pt x="509220" y="70877"/>
                </a:lnTo>
                <a:lnTo>
                  <a:pt x="553677" y="57765"/>
                </a:lnTo>
                <a:lnTo>
                  <a:pt x="597827" y="45992"/>
                </a:lnTo>
                <a:lnTo>
                  <a:pt x="641672" y="35560"/>
                </a:lnTo>
                <a:lnTo>
                  <a:pt x="685211" y="26467"/>
                </a:lnTo>
                <a:lnTo>
                  <a:pt x="728444" y="18715"/>
                </a:lnTo>
                <a:lnTo>
                  <a:pt x="771371" y="12303"/>
                </a:lnTo>
                <a:lnTo>
                  <a:pt x="813992" y="7230"/>
                </a:lnTo>
                <a:lnTo>
                  <a:pt x="856307" y="3498"/>
                </a:lnTo>
                <a:lnTo>
                  <a:pt x="898317" y="1106"/>
                </a:lnTo>
                <a:lnTo>
                  <a:pt x="940020" y="54"/>
                </a:lnTo>
                <a:lnTo>
                  <a:pt x="981417" y="342"/>
                </a:lnTo>
                <a:lnTo>
                  <a:pt x="1022508" y="1970"/>
                </a:lnTo>
                <a:lnTo>
                  <a:pt x="1063293" y="4938"/>
                </a:lnTo>
                <a:lnTo>
                  <a:pt x="1103772" y="9246"/>
                </a:lnTo>
                <a:lnTo>
                  <a:pt x="1143946" y="14894"/>
                </a:lnTo>
                <a:lnTo>
                  <a:pt x="1183813" y="21882"/>
                </a:lnTo>
                <a:lnTo>
                  <a:pt x="1223374" y="30210"/>
                </a:lnTo>
                <a:lnTo>
                  <a:pt x="1262630" y="39878"/>
                </a:lnTo>
                <a:lnTo>
                  <a:pt x="1301579" y="50887"/>
                </a:lnTo>
                <a:lnTo>
                  <a:pt x="1340222" y="63235"/>
                </a:lnTo>
                <a:lnTo>
                  <a:pt x="1378560" y="76923"/>
                </a:lnTo>
                <a:lnTo>
                  <a:pt x="1416591" y="91952"/>
                </a:lnTo>
                <a:lnTo>
                  <a:pt x="1454317" y="108320"/>
                </a:lnTo>
                <a:lnTo>
                  <a:pt x="1491736" y="126028"/>
                </a:lnTo>
                <a:lnTo>
                  <a:pt x="1528850" y="145077"/>
                </a:lnTo>
                <a:lnTo>
                  <a:pt x="1565657" y="165466"/>
                </a:lnTo>
                <a:lnTo>
                  <a:pt x="1602159" y="187194"/>
                </a:lnTo>
                <a:lnTo>
                  <a:pt x="1638355" y="210263"/>
                </a:lnTo>
                <a:lnTo>
                  <a:pt x="1674244" y="234671"/>
                </a:lnTo>
                <a:lnTo>
                  <a:pt x="1709828" y="260420"/>
                </a:lnTo>
                <a:lnTo>
                  <a:pt x="1745105" y="287509"/>
                </a:lnTo>
                <a:lnTo>
                  <a:pt x="1780077" y="315938"/>
                </a:lnTo>
                <a:lnTo>
                  <a:pt x="1814743" y="345706"/>
                </a:lnTo>
                <a:lnTo>
                  <a:pt x="1849103" y="376815"/>
                </a:lnTo>
                <a:lnTo>
                  <a:pt x="1883156" y="409264"/>
                </a:lnTo>
                <a:lnTo>
                  <a:pt x="1916904" y="443053"/>
                </a:lnTo>
                <a:lnTo>
                  <a:pt x="1950346" y="478182"/>
                </a:lnTo>
                <a:lnTo>
                  <a:pt x="1983482" y="514651"/>
                </a:lnTo>
                <a:lnTo>
                  <a:pt x="2016312" y="552460"/>
                </a:lnTo>
                <a:lnTo>
                  <a:pt x="2048836" y="591609"/>
                </a:lnTo>
                <a:lnTo>
                  <a:pt x="2081054" y="632098"/>
                </a:lnTo>
                <a:lnTo>
                  <a:pt x="2112966" y="673928"/>
                </a:lnTo>
                <a:lnTo>
                  <a:pt x="2144572" y="717097"/>
                </a:lnTo>
                <a:lnTo>
                  <a:pt x="2175872" y="761606"/>
                </a:lnTo>
                <a:lnTo>
                  <a:pt x="2206866" y="807455"/>
                </a:lnTo>
              </a:path>
            </a:pathLst>
          </a:custGeom>
          <a:ln w="25399">
            <a:solidFill>
              <a:srgbClr val="FF26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1" name="object 81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pc="-10" dirty="0"/>
              <a:t>Software</a:t>
            </a:r>
            <a:r>
              <a:rPr spc="-50" dirty="0"/>
              <a:t> </a:t>
            </a:r>
            <a:r>
              <a:rPr dirty="0"/>
              <a:t>for</a:t>
            </a:r>
            <a:r>
              <a:rPr spc="-45" dirty="0"/>
              <a:t> </a:t>
            </a:r>
            <a:r>
              <a:rPr dirty="0"/>
              <a:t>Optical</a:t>
            </a:r>
            <a:r>
              <a:rPr spc="-45" dirty="0"/>
              <a:t> </a:t>
            </a:r>
            <a:r>
              <a:rPr dirty="0"/>
              <a:t>Simulations,</a:t>
            </a:r>
            <a:r>
              <a:rPr spc="-45" dirty="0"/>
              <a:t> </a:t>
            </a:r>
            <a:r>
              <a:rPr spc="-20" dirty="0"/>
              <a:t>Trieste,</a:t>
            </a:r>
            <a:r>
              <a:rPr spc="-45" dirty="0"/>
              <a:t> </a:t>
            </a:r>
            <a:r>
              <a:rPr dirty="0"/>
              <a:t>October</a:t>
            </a:r>
            <a:r>
              <a:rPr spc="-45" dirty="0"/>
              <a:t> </a:t>
            </a:r>
            <a:r>
              <a:rPr dirty="0"/>
              <a:t>2016.</a:t>
            </a:r>
            <a:r>
              <a:rPr spc="-45" dirty="0"/>
              <a:t> </a:t>
            </a:r>
            <a:r>
              <a:rPr dirty="0"/>
              <a:t>Ruben</a:t>
            </a:r>
            <a:r>
              <a:rPr spc="-45" dirty="0"/>
              <a:t> </a:t>
            </a:r>
            <a:r>
              <a:rPr spc="-10" dirty="0"/>
              <a:t>Reininger</a:t>
            </a:r>
          </a:p>
        </p:txBody>
      </p:sp>
      <p:sp>
        <p:nvSpPr>
          <p:cNvPr id="82" name="object 8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25" dirty="0"/>
              <a:t>15</a:t>
            </a:fld>
            <a:endParaRPr spc="-25" dirty="0"/>
          </a:p>
        </p:txBody>
      </p:sp>
      <p:sp>
        <p:nvSpPr>
          <p:cNvPr id="83" name="object 83"/>
          <p:cNvSpPr txBox="1"/>
          <p:nvPr/>
        </p:nvSpPr>
        <p:spPr>
          <a:xfrm>
            <a:off x="1069339" y="9384967"/>
            <a:ext cx="72390" cy="211454"/>
          </a:xfrm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sz="1200" spc="-50" dirty="0">
                <a:solidFill>
                  <a:srgbClr val="275D90"/>
                </a:solidFill>
                <a:latin typeface="Calibri"/>
                <a:cs typeface="Calibri"/>
              </a:rPr>
              <a:t>-</a:t>
            </a:r>
            <a:endParaRPr sz="1200">
              <a:latin typeface="Calibri"/>
              <a:cs typeface="Calibri"/>
            </a:endParaRPr>
          </a:p>
        </p:txBody>
      </p:sp>
      <p:pic>
        <p:nvPicPr>
          <p:cNvPr id="84" name="Picture 83">
            <a:extLst>
              <a:ext uri="{FF2B5EF4-FFF2-40B4-BE49-F238E27FC236}">
                <a16:creationId xmlns:a16="http://schemas.microsoft.com/office/drawing/2014/main" id="{26D67C0D-B71E-40A0-8AF4-87C83FAB50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5936" y="4117253"/>
            <a:ext cx="5521272" cy="339118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33">
            <a:extLst>
              <a:ext uri="{FF2B5EF4-FFF2-40B4-BE49-F238E27FC236}">
                <a16:creationId xmlns:a16="http://schemas.microsoft.com/office/drawing/2014/main" id="{E1ECCF9A-7936-4C1B-8517-FEDAE1A890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4024" y="1089914"/>
            <a:ext cx="11155251" cy="3965840"/>
          </a:xfrm>
          <a:prstGeom prst="rect">
            <a:avLst/>
          </a:prstGeom>
        </p:spPr>
      </p:pic>
      <p:pic>
        <p:nvPicPr>
          <p:cNvPr id="2" name="object 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726754" y="0"/>
            <a:ext cx="5278045" cy="215900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5245100" y="254000"/>
            <a:ext cx="252285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Slitless</a:t>
            </a:r>
            <a:r>
              <a:rPr spc="-105" dirty="0"/>
              <a:t> </a:t>
            </a:r>
            <a:r>
              <a:rPr spc="-25" dirty="0"/>
              <a:t>SGM</a:t>
            </a:r>
          </a:p>
        </p:txBody>
      </p:sp>
      <p:grpSp>
        <p:nvGrpSpPr>
          <p:cNvPr id="15" name="object 15"/>
          <p:cNvGrpSpPr/>
          <p:nvPr/>
        </p:nvGrpSpPr>
        <p:grpSpPr>
          <a:xfrm>
            <a:off x="2997200" y="798282"/>
            <a:ext cx="6550299" cy="649227"/>
            <a:chOff x="3089549" y="798282"/>
            <a:chExt cx="6457950" cy="447675"/>
          </a:xfrm>
        </p:grpSpPr>
        <p:sp>
          <p:nvSpPr>
            <p:cNvPr id="16" name="object 16"/>
            <p:cNvSpPr/>
            <p:nvPr/>
          </p:nvSpPr>
          <p:spPr>
            <a:xfrm>
              <a:off x="3238139" y="1021896"/>
              <a:ext cx="3249295" cy="0"/>
            </a:xfrm>
            <a:custGeom>
              <a:avLst/>
              <a:gdLst/>
              <a:ahLst/>
              <a:cxnLst/>
              <a:rect l="l" t="t" r="r" b="b"/>
              <a:pathLst>
                <a:path w="3249295">
                  <a:moveTo>
                    <a:pt x="0" y="0"/>
                  </a:moveTo>
                  <a:lnTo>
                    <a:pt x="1357099" y="0"/>
                  </a:lnTo>
                </a:path>
                <a:path w="3249295">
                  <a:moveTo>
                    <a:pt x="2206812" y="0"/>
                  </a:moveTo>
                  <a:lnTo>
                    <a:pt x="3249109" y="0"/>
                  </a:lnTo>
                </a:path>
              </a:pathLst>
            </a:custGeom>
            <a:ln w="38100">
              <a:solidFill>
                <a:srgbClr val="91919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3089541" y="938085"/>
              <a:ext cx="3546475" cy="167640"/>
            </a:xfrm>
            <a:custGeom>
              <a:avLst/>
              <a:gdLst/>
              <a:ahLst/>
              <a:cxnLst/>
              <a:rect l="l" t="t" r="r" b="b"/>
              <a:pathLst>
                <a:path w="3546475" h="167640">
                  <a:moveTo>
                    <a:pt x="167640" y="0"/>
                  </a:moveTo>
                  <a:lnTo>
                    <a:pt x="0" y="83820"/>
                  </a:lnTo>
                  <a:lnTo>
                    <a:pt x="167640" y="167640"/>
                  </a:lnTo>
                  <a:lnTo>
                    <a:pt x="167640" y="0"/>
                  </a:lnTo>
                  <a:close/>
                </a:path>
                <a:path w="3546475" h="167640">
                  <a:moveTo>
                    <a:pt x="3546284" y="83820"/>
                  </a:moveTo>
                  <a:lnTo>
                    <a:pt x="3378657" y="0"/>
                  </a:lnTo>
                  <a:lnTo>
                    <a:pt x="3378657" y="167640"/>
                  </a:lnTo>
                  <a:lnTo>
                    <a:pt x="3546284" y="83820"/>
                  </a:lnTo>
                  <a:close/>
                </a:path>
              </a:pathLst>
            </a:custGeom>
            <a:solidFill>
              <a:srgbClr val="91919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6827956" y="1021896"/>
              <a:ext cx="2570480" cy="0"/>
            </a:xfrm>
            <a:custGeom>
              <a:avLst/>
              <a:gdLst/>
              <a:ahLst/>
              <a:cxnLst/>
              <a:rect l="l" t="t" r="r" b="b"/>
              <a:pathLst>
                <a:path w="2570479">
                  <a:moveTo>
                    <a:pt x="0" y="0"/>
                  </a:moveTo>
                  <a:lnTo>
                    <a:pt x="945102" y="0"/>
                  </a:lnTo>
                </a:path>
                <a:path w="2570479">
                  <a:moveTo>
                    <a:pt x="1879499" y="0"/>
                  </a:moveTo>
                  <a:lnTo>
                    <a:pt x="2570402" y="0"/>
                  </a:lnTo>
                </a:path>
              </a:pathLst>
            </a:custGeom>
            <a:ln w="38100">
              <a:solidFill>
                <a:srgbClr val="91919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6679362" y="938085"/>
              <a:ext cx="2867660" cy="167640"/>
            </a:xfrm>
            <a:custGeom>
              <a:avLst/>
              <a:gdLst/>
              <a:ahLst/>
              <a:cxnLst/>
              <a:rect l="l" t="t" r="r" b="b"/>
              <a:pathLst>
                <a:path w="2867659" h="167640">
                  <a:moveTo>
                    <a:pt x="167640" y="0"/>
                  </a:moveTo>
                  <a:lnTo>
                    <a:pt x="0" y="83820"/>
                  </a:lnTo>
                  <a:lnTo>
                    <a:pt x="167640" y="167640"/>
                  </a:lnTo>
                  <a:lnTo>
                    <a:pt x="167640" y="0"/>
                  </a:lnTo>
                  <a:close/>
                </a:path>
                <a:path w="2867659" h="167640">
                  <a:moveTo>
                    <a:pt x="2867583" y="83820"/>
                  </a:moveTo>
                  <a:lnTo>
                    <a:pt x="2699943" y="0"/>
                  </a:lnTo>
                  <a:lnTo>
                    <a:pt x="2699943" y="167640"/>
                  </a:lnTo>
                  <a:lnTo>
                    <a:pt x="2867583" y="83820"/>
                  </a:lnTo>
                  <a:close/>
                </a:path>
              </a:pathLst>
            </a:custGeom>
            <a:solidFill>
              <a:srgbClr val="91919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4595238" y="798282"/>
              <a:ext cx="850265" cy="447675"/>
            </a:xfrm>
            <a:custGeom>
              <a:avLst/>
              <a:gdLst/>
              <a:ahLst/>
              <a:cxnLst/>
              <a:rect l="l" t="t" r="r" b="b"/>
              <a:pathLst>
                <a:path w="850264" h="447675">
                  <a:moveTo>
                    <a:pt x="0" y="0"/>
                  </a:moveTo>
                  <a:lnTo>
                    <a:pt x="849713" y="0"/>
                  </a:lnTo>
                  <a:lnTo>
                    <a:pt x="849713" y="447229"/>
                  </a:lnTo>
                  <a:lnTo>
                    <a:pt x="0" y="4472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1" name="object 21"/>
          <p:cNvSpPr txBox="1"/>
          <p:nvPr/>
        </p:nvSpPr>
        <p:spPr>
          <a:xfrm>
            <a:off x="4686300" y="812800"/>
            <a:ext cx="7035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solidFill>
                  <a:srgbClr val="FF2600"/>
                </a:solidFill>
                <a:latin typeface="Arial MT"/>
                <a:cs typeface="Arial MT"/>
              </a:rPr>
              <a:t>30</a:t>
            </a:r>
            <a:r>
              <a:rPr sz="2400" spc="-30" dirty="0">
                <a:solidFill>
                  <a:srgbClr val="FF2600"/>
                </a:solidFill>
                <a:latin typeface="Arial MT"/>
                <a:cs typeface="Arial MT"/>
              </a:rPr>
              <a:t> </a:t>
            </a:r>
            <a:r>
              <a:rPr sz="2400" spc="-50" dirty="0">
                <a:solidFill>
                  <a:srgbClr val="FF2600"/>
                </a:solidFill>
                <a:latin typeface="Arial MT"/>
                <a:cs typeface="Arial MT"/>
              </a:rPr>
              <a:t>m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7773058" y="798282"/>
            <a:ext cx="934719" cy="447675"/>
          </a:xfrm>
          <a:custGeom>
            <a:avLst/>
            <a:gdLst/>
            <a:ahLst/>
            <a:cxnLst/>
            <a:rect l="l" t="t" r="r" b="b"/>
            <a:pathLst>
              <a:path w="934720" h="447675">
                <a:moveTo>
                  <a:pt x="0" y="0"/>
                </a:moveTo>
                <a:lnTo>
                  <a:pt x="934397" y="0"/>
                </a:lnTo>
                <a:lnTo>
                  <a:pt x="934397" y="447229"/>
                </a:lnTo>
                <a:lnTo>
                  <a:pt x="0" y="447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 txBox="1"/>
          <p:nvPr/>
        </p:nvSpPr>
        <p:spPr>
          <a:xfrm>
            <a:off x="7874000" y="812800"/>
            <a:ext cx="7880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solidFill>
                  <a:srgbClr val="FF2600"/>
                </a:solidFill>
                <a:latin typeface="Arial MT"/>
                <a:cs typeface="Arial MT"/>
              </a:rPr>
              <a:t>9.9</a:t>
            </a:r>
            <a:r>
              <a:rPr sz="2400" spc="-35" dirty="0">
                <a:solidFill>
                  <a:srgbClr val="FF2600"/>
                </a:solidFill>
                <a:latin typeface="Arial MT"/>
                <a:cs typeface="Arial MT"/>
              </a:rPr>
              <a:t> </a:t>
            </a:r>
            <a:r>
              <a:rPr sz="2400" spc="-50" dirty="0">
                <a:solidFill>
                  <a:srgbClr val="FF2600"/>
                </a:solidFill>
                <a:latin typeface="Arial MT"/>
                <a:cs typeface="Arial MT"/>
              </a:rPr>
              <a:t>m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4292600" y="852735"/>
            <a:ext cx="565150" cy="290830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>
              <a:lnSpc>
                <a:spcPts val="4300"/>
              </a:lnSpc>
            </a:pPr>
            <a:r>
              <a:rPr sz="3800" spc="-50" dirty="0">
                <a:latin typeface="Arial MT"/>
                <a:cs typeface="Arial MT"/>
              </a:rPr>
              <a:t>≈</a:t>
            </a:r>
            <a:endParaRPr sz="3800">
              <a:latin typeface="Arial MT"/>
              <a:cs typeface="Arial MT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5544820" y="3313451"/>
            <a:ext cx="23291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i="1" dirty="0">
                <a:solidFill>
                  <a:srgbClr val="FF2600"/>
                </a:solidFill>
                <a:latin typeface="Arial"/>
                <a:cs typeface="Arial"/>
              </a:rPr>
              <a:t>α</a:t>
            </a:r>
            <a:r>
              <a:rPr sz="2400" dirty="0">
                <a:solidFill>
                  <a:srgbClr val="FF2600"/>
                </a:solidFill>
                <a:latin typeface="Arial MT"/>
                <a:cs typeface="Arial MT"/>
              </a:rPr>
              <a:t>=87.3°,</a:t>
            </a:r>
            <a:r>
              <a:rPr sz="2400" spc="-90" dirty="0">
                <a:solidFill>
                  <a:srgbClr val="FF2600"/>
                </a:solidFill>
                <a:latin typeface="Arial MT"/>
                <a:cs typeface="Arial MT"/>
              </a:rPr>
              <a:t> </a:t>
            </a:r>
            <a:r>
              <a:rPr sz="2400" i="1" spc="-10" dirty="0">
                <a:solidFill>
                  <a:srgbClr val="FF2600"/>
                </a:solidFill>
                <a:latin typeface="Arial"/>
                <a:cs typeface="Arial"/>
              </a:rPr>
              <a:t>β</a:t>
            </a:r>
            <a:r>
              <a:rPr sz="2400" spc="-10" dirty="0">
                <a:solidFill>
                  <a:srgbClr val="FF2600"/>
                </a:solidFill>
                <a:latin typeface="Arial MT"/>
                <a:cs typeface="Arial MT"/>
              </a:rPr>
              <a:t>=89.1°</a:t>
            </a:r>
            <a:endParaRPr sz="2400" dirty="0">
              <a:latin typeface="Arial MT"/>
              <a:cs typeface="Arial MT"/>
            </a:endParaRPr>
          </a:p>
        </p:txBody>
      </p:sp>
      <p:sp>
        <p:nvSpPr>
          <p:cNvPr id="29" name="object 29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pc="-10" dirty="0"/>
              <a:t>Software</a:t>
            </a:r>
            <a:r>
              <a:rPr spc="-50" dirty="0"/>
              <a:t> </a:t>
            </a:r>
            <a:r>
              <a:rPr dirty="0"/>
              <a:t>for</a:t>
            </a:r>
            <a:r>
              <a:rPr spc="-45" dirty="0"/>
              <a:t> </a:t>
            </a:r>
            <a:r>
              <a:rPr dirty="0"/>
              <a:t>Optical</a:t>
            </a:r>
            <a:r>
              <a:rPr spc="-45" dirty="0"/>
              <a:t> </a:t>
            </a:r>
            <a:r>
              <a:rPr dirty="0"/>
              <a:t>Simulations,</a:t>
            </a:r>
            <a:r>
              <a:rPr spc="-45" dirty="0"/>
              <a:t> </a:t>
            </a:r>
            <a:r>
              <a:rPr spc="-20" dirty="0"/>
              <a:t>Trieste,</a:t>
            </a:r>
            <a:r>
              <a:rPr spc="-45" dirty="0"/>
              <a:t> </a:t>
            </a:r>
            <a:r>
              <a:rPr dirty="0"/>
              <a:t>October</a:t>
            </a:r>
            <a:r>
              <a:rPr spc="-45" dirty="0"/>
              <a:t> </a:t>
            </a:r>
            <a:r>
              <a:rPr dirty="0"/>
              <a:t>2016.</a:t>
            </a:r>
            <a:r>
              <a:rPr spc="-45" dirty="0"/>
              <a:t> </a:t>
            </a:r>
            <a:r>
              <a:rPr dirty="0"/>
              <a:t>Ruben</a:t>
            </a:r>
            <a:r>
              <a:rPr spc="-45" dirty="0"/>
              <a:t> </a:t>
            </a:r>
            <a:r>
              <a:rPr spc="-10" dirty="0"/>
              <a:t>Reininger</a:t>
            </a:r>
          </a:p>
        </p:txBody>
      </p:sp>
      <p:sp>
        <p:nvSpPr>
          <p:cNvPr id="30" name="object 3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25" dirty="0"/>
              <a:t>16</a:t>
            </a:fld>
            <a:endParaRPr spc="-25" dirty="0"/>
          </a:p>
        </p:txBody>
      </p:sp>
      <p:sp>
        <p:nvSpPr>
          <p:cNvPr id="31" name="object 31"/>
          <p:cNvSpPr txBox="1"/>
          <p:nvPr/>
        </p:nvSpPr>
        <p:spPr>
          <a:xfrm>
            <a:off x="1069339" y="9384967"/>
            <a:ext cx="72390" cy="211454"/>
          </a:xfrm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sz="1200" spc="-50" dirty="0">
                <a:solidFill>
                  <a:srgbClr val="275D90"/>
                </a:solidFill>
                <a:latin typeface="Calibri"/>
                <a:cs typeface="Calibri"/>
              </a:rPr>
              <a:t>-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684A042-B98F-4EE7-BC5A-DB4094FA20C9}"/>
              </a:ext>
            </a:extLst>
          </p:cNvPr>
          <p:cNvSpPr txBox="1"/>
          <p:nvPr/>
        </p:nvSpPr>
        <p:spPr>
          <a:xfrm>
            <a:off x="200353" y="295470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01_SGM_1000eV.ows</a:t>
            </a:r>
            <a:endParaRPr lang="en-GB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6D87122B-0308-4481-97A4-6F69909B27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464" y="4369667"/>
            <a:ext cx="10832312" cy="438290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726754" y="0"/>
            <a:ext cx="5278045" cy="215900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90500" y="9334500"/>
            <a:ext cx="342900" cy="342900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3543300" y="254000"/>
            <a:ext cx="592455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031240" algn="l"/>
                <a:tab pos="5364480" algn="l"/>
              </a:tabLst>
            </a:pPr>
            <a:r>
              <a:rPr spc="-25" dirty="0"/>
              <a:t>SGM</a:t>
            </a:r>
            <a:r>
              <a:rPr dirty="0"/>
              <a:t>	Ray</a:t>
            </a:r>
            <a:r>
              <a:rPr spc="-155" dirty="0"/>
              <a:t> </a:t>
            </a:r>
            <a:r>
              <a:rPr spc="-45" dirty="0"/>
              <a:t>Tracing</a:t>
            </a:r>
            <a:r>
              <a:rPr spc="-95" dirty="0"/>
              <a:t> </a:t>
            </a:r>
            <a:r>
              <a:rPr dirty="0"/>
              <a:t>at</a:t>
            </a:r>
            <a:r>
              <a:rPr spc="-95" dirty="0"/>
              <a:t> </a:t>
            </a:r>
            <a:r>
              <a:rPr spc="-20" dirty="0"/>
              <a:t>1000</a:t>
            </a:r>
            <a:r>
              <a:rPr dirty="0"/>
              <a:t>	</a:t>
            </a:r>
            <a:r>
              <a:rPr spc="-25" dirty="0"/>
              <a:t>eV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25" dirty="0"/>
              <a:t>17</a:t>
            </a:fld>
            <a:endParaRPr spc="-25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D78903C-AC21-49CA-AC23-BB9597AAEE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6600" y="2514600"/>
            <a:ext cx="5452850" cy="43241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9A77A49-E0DB-45D0-9CB2-B853FB9895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26400" y="3940624"/>
            <a:ext cx="3188850" cy="93617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948CDD2-889A-46DC-812C-A1946C58D5B4}"/>
              </a:ext>
            </a:extLst>
          </p:cNvPr>
          <p:cNvSpPr txBox="1"/>
          <p:nvPr/>
        </p:nvSpPr>
        <p:spPr>
          <a:xfrm>
            <a:off x="200353" y="295470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01_SGM_1000eV.ows</a:t>
            </a:r>
            <a:endParaRPr lang="en-GB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726754" y="0"/>
            <a:ext cx="5278045" cy="215900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90500" y="9334500"/>
            <a:ext cx="342900" cy="342900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3543300" y="254000"/>
            <a:ext cx="592455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031240" algn="l"/>
                <a:tab pos="5364480" algn="l"/>
              </a:tabLst>
            </a:pPr>
            <a:r>
              <a:rPr spc="-25" dirty="0"/>
              <a:t>SGM</a:t>
            </a:r>
            <a:r>
              <a:rPr dirty="0"/>
              <a:t>	Ray</a:t>
            </a:r>
            <a:r>
              <a:rPr spc="-155" dirty="0"/>
              <a:t> </a:t>
            </a:r>
            <a:r>
              <a:rPr spc="-45" dirty="0"/>
              <a:t>Tracing</a:t>
            </a:r>
            <a:r>
              <a:rPr spc="-95" dirty="0"/>
              <a:t> </a:t>
            </a:r>
            <a:r>
              <a:rPr dirty="0"/>
              <a:t>at</a:t>
            </a:r>
            <a:r>
              <a:rPr spc="-95" dirty="0"/>
              <a:t> </a:t>
            </a:r>
            <a:r>
              <a:rPr spc="-20" dirty="0"/>
              <a:t>1000</a:t>
            </a:r>
            <a:r>
              <a:rPr dirty="0"/>
              <a:t>	</a:t>
            </a:r>
            <a:r>
              <a:rPr spc="-25" dirty="0"/>
              <a:t>eV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25" dirty="0"/>
              <a:t>18</a:t>
            </a:fld>
            <a:endParaRPr spc="-25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D78903C-AC21-49CA-AC23-BB9597AAEE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6600" y="2514600"/>
            <a:ext cx="5452850" cy="43241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9A77A49-E0DB-45D0-9CB2-B853FB9895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26400" y="3940624"/>
            <a:ext cx="3188850" cy="936176"/>
          </a:xfrm>
          <a:prstGeom prst="rect">
            <a:avLst/>
          </a:prstGeom>
        </p:spPr>
      </p:pic>
      <p:sp>
        <p:nvSpPr>
          <p:cNvPr id="10" name="object 7">
            <a:extLst>
              <a:ext uri="{FF2B5EF4-FFF2-40B4-BE49-F238E27FC236}">
                <a16:creationId xmlns:a16="http://schemas.microsoft.com/office/drawing/2014/main" id="{2522B477-814B-4767-8377-820A638F323D}"/>
              </a:ext>
            </a:extLst>
          </p:cNvPr>
          <p:cNvSpPr/>
          <p:nvPr/>
        </p:nvSpPr>
        <p:spPr>
          <a:xfrm>
            <a:off x="9300905" y="6002035"/>
            <a:ext cx="311150" cy="0"/>
          </a:xfrm>
          <a:custGeom>
            <a:avLst/>
            <a:gdLst/>
            <a:ahLst/>
            <a:cxnLst/>
            <a:rect l="l" t="t" r="r" b="b"/>
            <a:pathLst>
              <a:path w="311150">
                <a:moveTo>
                  <a:pt x="0" y="0"/>
                </a:moveTo>
                <a:lnTo>
                  <a:pt x="311043" y="0"/>
                </a:lnTo>
              </a:path>
            </a:pathLst>
          </a:custGeom>
          <a:ln w="14229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8">
            <a:extLst>
              <a:ext uri="{FF2B5EF4-FFF2-40B4-BE49-F238E27FC236}">
                <a16:creationId xmlns:a16="http://schemas.microsoft.com/office/drawing/2014/main" id="{A65FAF63-3BF6-4401-ADDD-186B8B823B18}"/>
              </a:ext>
            </a:extLst>
          </p:cNvPr>
          <p:cNvSpPr txBox="1"/>
          <p:nvPr/>
        </p:nvSpPr>
        <p:spPr>
          <a:xfrm>
            <a:off x="8271438" y="5722170"/>
            <a:ext cx="1353820" cy="697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ts val="2640"/>
              </a:lnSpc>
              <a:spcBef>
                <a:spcPts val="105"/>
              </a:spcBef>
            </a:pPr>
            <a:r>
              <a:rPr sz="2800" spc="475" dirty="0">
                <a:solidFill>
                  <a:srgbClr val="FF0000"/>
                </a:solidFill>
                <a:latin typeface="Cambria"/>
                <a:cs typeface="Cambria"/>
              </a:rPr>
              <a:t>∆</a:t>
            </a:r>
            <a:r>
              <a:rPr sz="2800" i="1" spc="475" dirty="0">
                <a:solidFill>
                  <a:srgbClr val="FF0000"/>
                </a:solidFill>
                <a:latin typeface="Cambria"/>
                <a:cs typeface="Cambria"/>
              </a:rPr>
              <a:t>λ</a:t>
            </a:r>
            <a:r>
              <a:rPr sz="2800" i="1" spc="155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2800" spc="540" dirty="0">
                <a:solidFill>
                  <a:srgbClr val="FF0000"/>
                </a:solidFill>
                <a:latin typeface="Cambria"/>
                <a:cs typeface="Cambria"/>
              </a:rPr>
              <a:t>=</a:t>
            </a:r>
            <a:endParaRPr sz="2800">
              <a:latin typeface="Cambria"/>
              <a:cs typeface="Cambria"/>
            </a:endParaRPr>
          </a:p>
          <a:p>
            <a:pPr marL="1029335">
              <a:lnSpc>
                <a:spcPts val="2640"/>
              </a:lnSpc>
            </a:pPr>
            <a:r>
              <a:rPr sz="2800" i="1" spc="150" dirty="0">
                <a:solidFill>
                  <a:srgbClr val="FF0000"/>
                </a:solidFill>
                <a:latin typeface="Cambria"/>
                <a:cs typeface="Cambria"/>
              </a:rPr>
              <a:t>m</a:t>
            </a:r>
            <a:endParaRPr sz="2800">
              <a:latin typeface="Cambria"/>
              <a:cs typeface="Cambria"/>
            </a:endParaRPr>
          </a:p>
        </p:txBody>
      </p:sp>
      <p:sp>
        <p:nvSpPr>
          <p:cNvPr id="12" name="object 9">
            <a:extLst>
              <a:ext uri="{FF2B5EF4-FFF2-40B4-BE49-F238E27FC236}">
                <a16:creationId xmlns:a16="http://schemas.microsoft.com/office/drawing/2014/main" id="{6C566FE0-B7F5-47F6-9B4D-E582EE5AD45C}"/>
              </a:ext>
            </a:extLst>
          </p:cNvPr>
          <p:cNvSpPr txBox="1"/>
          <p:nvPr/>
        </p:nvSpPr>
        <p:spPr>
          <a:xfrm>
            <a:off x="9351538" y="5481200"/>
            <a:ext cx="1544320" cy="4533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344805" algn="l"/>
              </a:tabLst>
            </a:pPr>
            <a:r>
              <a:rPr sz="2800" i="1" spc="-50" dirty="0">
                <a:solidFill>
                  <a:srgbClr val="FF0000"/>
                </a:solidFill>
                <a:latin typeface="Cambria"/>
                <a:cs typeface="Cambria"/>
              </a:rPr>
              <a:t>d</a:t>
            </a:r>
            <a:r>
              <a:rPr sz="2800" i="1" dirty="0">
                <a:solidFill>
                  <a:srgbClr val="FF0000"/>
                </a:solidFill>
                <a:latin typeface="Cambria"/>
                <a:cs typeface="Cambria"/>
              </a:rPr>
              <a:t>	</a:t>
            </a:r>
            <a:r>
              <a:rPr sz="2800" spc="229" dirty="0">
                <a:solidFill>
                  <a:srgbClr val="FF0000"/>
                </a:solidFill>
                <a:latin typeface="Cambria"/>
                <a:cs typeface="Cambria"/>
              </a:rPr>
              <a:t>FWHM</a:t>
            </a:r>
            <a:endParaRPr sz="2800">
              <a:latin typeface="Cambria"/>
              <a:cs typeface="Cambria"/>
            </a:endParaRPr>
          </a:p>
        </p:txBody>
      </p:sp>
      <p:sp>
        <p:nvSpPr>
          <p:cNvPr id="13" name="object 10">
            <a:extLst>
              <a:ext uri="{FF2B5EF4-FFF2-40B4-BE49-F238E27FC236}">
                <a16:creationId xmlns:a16="http://schemas.microsoft.com/office/drawing/2014/main" id="{EEAAF0D6-144E-4961-B241-73DE93974390}"/>
              </a:ext>
            </a:extLst>
          </p:cNvPr>
          <p:cNvSpPr/>
          <p:nvPr/>
        </p:nvSpPr>
        <p:spPr>
          <a:xfrm>
            <a:off x="9696973" y="6002035"/>
            <a:ext cx="1186180" cy="0"/>
          </a:xfrm>
          <a:custGeom>
            <a:avLst/>
            <a:gdLst/>
            <a:ahLst/>
            <a:cxnLst/>
            <a:rect l="l" t="t" r="r" b="b"/>
            <a:pathLst>
              <a:path w="1186179">
                <a:moveTo>
                  <a:pt x="0" y="0"/>
                </a:moveTo>
                <a:lnTo>
                  <a:pt x="1185819" y="0"/>
                </a:lnTo>
              </a:path>
            </a:pathLst>
          </a:custGeom>
          <a:ln w="14229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1">
            <a:extLst>
              <a:ext uri="{FF2B5EF4-FFF2-40B4-BE49-F238E27FC236}">
                <a16:creationId xmlns:a16="http://schemas.microsoft.com/office/drawing/2014/main" id="{5DEAAC36-1B06-46B8-930F-78B24D20264F}"/>
              </a:ext>
            </a:extLst>
          </p:cNvPr>
          <p:cNvSpPr txBox="1"/>
          <p:nvPr/>
        </p:nvSpPr>
        <p:spPr>
          <a:xfrm>
            <a:off x="10117277" y="5863605"/>
            <a:ext cx="327660" cy="4533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5"/>
              </a:spcBef>
            </a:pPr>
            <a:r>
              <a:rPr sz="4200" i="1" spc="-37" baseline="-15873" dirty="0">
                <a:solidFill>
                  <a:srgbClr val="FF0000"/>
                </a:solidFill>
                <a:latin typeface="Cambria"/>
                <a:cs typeface="Cambria"/>
              </a:rPr>
              <a:t>r</a:t>
            </a:r>
            <a:r>
              <a:rPr sz="1950" i="1" spc="-25" dirty="0">
                <a:solidFill>
                  <a:srgbClr val="FF0000"/>
                </a:solidFill>
                <a:latin typeface="Times New Roman"/>
                <a:cs typeface="Times New Roman"/>
              </a:rPr>
              <a:t>0</a:t>
            </a:r>
            <a:endParaRPr sz="1950">
              <a:latin typeface="Times New Roman"/>
              <a:cs typeface="Times New Roman"/>
            </a:endParaRPr>
          </a:p>
        </p:txBody>
      </p:sp>
      <p:sp>
        <p:nvSpPr>
          <p:cNvPr id="15" name="object 12">
            <a:extLst>
              <a:ext uri="{FF2B5EF4-FFF2-40B4-BE49-F238E27FC236}">
                <a16:creationId xmlns:a16="http://schemas.microsoft.com/office/drawing/2014/main" id="{6B31401F-511B-41BB-A8CA-AB5FC531C3EA}"/>
              </a:ext>
            </a:extLst>
          </p:cNvPr>
          <p:cNvSpPr txBox="1"/>
          <p:nvPr/>
        </p:nvSpPr>
        <p:spPr>
          <a:xfrm>
            <a:off x="10971687" y="5722170"/>
            <a:ext cx="759460" cy="4533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800" spc="-80" dirty="0">
                <a:solidFill>
                  <a:srgbClr val="FF0000"/>
                </a:solidFill>
                <a:latin typeface="Cambria"/>
                <a:cs typeface="Cambria"/>
              </a:rPr>
              <a:t>cos</a:t>
            </a:r>
            <a:r>
              <a:rPr sz="2800" spc="-130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2800" i="1" spc="35" dirty="0">
                <a:solidFill>
                  <a:srgbClr val="FF0000"/>
                </a:solidFill>
                <a:latin typeface="Cambria"/>
                <a:cs typeface="Cambria"/>
              </a:rPr>
              <a:t>β</a:t>
            </a:r>
            <a:endParaRPr sz="2800" dirty="0">
              <a:latin typeface="Cambria"/>
              <a:cs typeface="Cambria"/>
            </a:endParaRPr>
          </a:p>
        </p:txBody>
      </p:sp>
      <p:sp>
        <p:nvSpPr>
          <p:cNvPr id="16" name="object 13">
            <a:extLst>
              <a:ext uri="{FF2B5EF4-FFF2-40B4-BE49-F238E27FC236}">
                <a16:creationId xmlns:a16="http://schemas.microsoft.com/office/drawing/2014/main" id="{3FA8A452-45C4-48F4-9223-569CE81E174C}"/>
              </a:ext>
            </a:extLst>
          </p:cNvPr>
          <p:cNvSpPr txBox="1"/>
          <p:nvPr/>
        </p:nvSpPr>
        <p:spPr>
          <a:xfrm>
            <a:off x="8271438" y="6673532"/>
            <a:ext cx="948055" cy="4533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659130" algn="l"/>
              </a:tabLst>
            </a:pPr>
            <a:r>
              <a:rPr sz="2800" i="1" spc="335" dirty="0">
                <a:solidFill>
                  <a:srgbClr val="FF0000"/>
                </a:solidFill>
                <a:latin typeface="Cambria"/>
                <a:cs typeface="Cambria"/>
              </a:rPr>
              <a:t>RP</a:t>
            </a:r>
            <a:r>
              <a:rPr sz="2800" i="1" dirty="0">
                <a:solidFill>
                  <a:srgbClr val="FF0000"/>
                </a:solidFill>
                <a:latin typeface="Cambria"/>
                <a:cs typeface="Cambria"/>
              </a:rPr>
              <a:t>	</a:t>
            </a:r>
            <a:r>
              <a:rPr sz="2800" spc="550" dirty="0">
                <a:solidFill>
                  <a:srgbClr val="FF0000"/>
                </a:solidFill>
                <a:latin typeface="Cambria"/>
                <a:cs typeface="Cambria"/>
              </a:rPr>
              <a:t>=</a:t>
            </a:r>
            <a:endParaRPr sz="2800">
              <a:latin typeface="Cambria"/>
              <a:cs typeface="Cambria"/>
            </a:endParaRPr>
          </a:p>
        </p:txBody>
      </p:sp>
      <p:sp>
        <p:nvSpPr>
          <p:cNvPr id="17" name="object 14">
            <a:extLst>
              <a:ext uri="{FF2B5EF4-FFF2-40B4-BE49-F238E27FC236}">
                <a16:creationId xmlns:a16="http://schemas.microsoft.com/office/drawing/2014/main" id="{3F942692-CC49-4875-BBB1-64D9129AEFAE}"/>
              </a:ext>
            </a:extLst>
          </p:cNvPr>
          <p:cNvSpPr txBox="1"/>
          <p:nvPr/>
        </p:nvSpPr>
        <p:spPr>
          <a:xfrm>
            <a:off x="9482328" y="6432563"/>
            <a:ext cx="232410" cy="4533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800" i="1" spc="250" dirty="0">
                <a:solidFill>
                  <a:srgbClr val="FF0000"/>
                </a:solidFill>
                <a:latin typeface="Cambria"/>
                <a:cs typeface="Cambria"/>
              </a:rPr>
              <a:t>λ</a:t>
            </a:r>
            <a:endParaRPr sz="2800">
              <a:latin typeface="Cambria"/>
              <a:cs typeface="Cambria"/>
            </a:endParaRPr>
          </a:p>
        </p:txBody>
      </p:sp>
      <p:sp>
        <p:nvSpPr>
          <p:cNvPr id="18" name="object 15">
            <a:extLst>
              <a:ext uri="{FF2B5EF4-FFF2-40B4-BE49-F238E27FC236}">
                <a16:creationId xmlns:a16="http://schemas.microsoft.com/office/drawing/2014/main" id="{AE6F512C-AB9F-497A-A0CE-2BEB5D4F625E}"/>
              </a:ext>
            </a:extLst>
          </p:cNvPr>
          <p:cNvSpPr/>
          <p:nvPr/>
        </p:nvSpPr>
        <p:spPr>
          <a:xfrm>
            <a:off x="9347418" y="6953363"/>
            <a:ext cx="502284" cy="0"/>
          </a:xfrm>
          <a:custGeom>
            <a:avLst/>
            <a:gdLst/>
            <a:ahLst/>
            <a:cxnLst/>
            <a:rect l="l" t="t" r="r" b="b"/>
            <a:pathLst>
              <a:path w="502284">
                <a:moveTo>
                  <a:pt x="0" y="0"/>
                </a:moveTo>
                <a:lnTo>
                  <a:pt x="501893" y="0"/>
                </a:lnTo>
              </a:path>
            </a:pathLst>
          </a:custGeom>
          <a:ln w="14229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6">
            <a:extLst>
              <a:ext uri="{FF2B5EF4-FFF2-40B4-BE49-F238E27FC236}">
                <a16:creationId xmlns:a16="http://schemas.microsoft.com/office/drawing/2014/main" id="{CAC32F9E-F067-4BF9-9252-7453841E15B7}"/>
              </a:ext>
            </a:extLst>
          </p:cNvPr>
          <p:cNvSpPr txBox="1"/>
          <p:nvPr/>
        </p:nvSpPr>
        <p:spPr>
          <a:xfrm>
            <a:off x="9334718" y="6917863"/>
            <a:ext cx="527685" cy="4533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800" spc="450" dirty="0">
                <a:solidFill>
                  <a:srgbClr val="FF0000"/>
                </a:solidFill>
                <a:latin typeface="Cambria"/>
                <a:cs typeface="Cambria"/>
              </a:rPr>
              <a:t>∆</a:t>
            </a:r>
            <a:r>
              <a:rPr sz="2800" i="1" spc="450" dirty="0">
                <a:solidFill>
                  <a:srgbClr val="FF0000"/>
                </a:solidFill>
                <a:latin typeface="Cambria"/>
                <a:cs typeface="Cambria"/>
              </a:rPr>
              <a:t>λ</a:t>
            </a:r>
            <a:endParaRPr sz="2800">
              <a:latin typeface="Cambria"/>
              <a:cs typeface="Cambria"/>
            </a:endParaRPr>
          </a:p>
        </p:txBody>
      </p:sp>
      <p:sp>
        <p:nvSpPr>
          <p:cNvPr id="20" name="object 17">
            <a:extLst>
              <a:ext uri="{FF2B5EF4-FFF2-40B4-BE49-F238E27FC236}">
                <a16:creationId xmlns:a16="http://schemas.microsoft.com/office/drawing/2014/main" id="{DA502F55-D2CC-4D45-AB44-7314D6C8B9CC}"/>
              </a:ext>
            </a:extLst>
          </p:cNvPr>
          <p:cNvSpPr txBox="1"/>
          <p:nvPr/>
        </p:nvSpPr>
        <p:spPr>
          <a:xfrm>
            <a:off x="9977501" y="6673532"/>
            <a:ext cx="1285240" cy="4533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800" spc="600" dirty="0">
                <a:solidFill>
                  <a:srgbClr val="FF0000"/>
                </a:solidFill>
                <a:latin typeface="Cambria"/>
                <a:cs typeface="Cambria"/>
              </a:rPr>
              <a:t>=</a:t>
            </a:r>
            <a:r>
              <a:rPr sz="2800" spc="160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2800" spc="-150" dirty="0">
                <a:solidFill>
                  <a:srgbClr val="FF0000"/>
                </a:solidFill>
                <a:latin typeface="Cambria"/>
                <a:cs typeface="Cambria"/>
              </a:rPr>
              <a:t>18000</a:t>
            </a:r>
            <a:endParaRPr sz="2800">
              <a:latin typeface="Cambria"/>
              <a:cs typeface="Cambria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3AF4439-E60E-4B95-A0BA-0D9828B449CE}"/>
              </a:ext>
            </a:extLst>
          </p:cNvPr>
          <p:cNvSpPr txBox="1"/>
          <p:nvPr/>
        </p:nvSpPr>
        <p:spPr>
          <a:xfrm>
            <a:off x="200353" y="295470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01_SGM_1000eV.ows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798503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726754" y="0"/>
            <a:ext cx="5278045" cy="215900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90500" y="9334500"/>
            <a:ext cx="342900" cy="342900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3543300" y="254000"/>
            <a:ext cx="592455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031240" algn="l"/>
                <a:tab pos="5364480" algn="l"/>
              </a:tabLst>
            </a:pPr>
            <a:r>
              <a:rPr spc="-25" dirty="0"/>
              <a:t>SGM</a:t>
            </a:r>
            <a:r>
              <a:rPr dirty="0"/>
              <a:t>	Ray</a:t>
            </a:r>
            <a:r>
              <a:rPr spc="-155" dirty="0"/>
              <a:t> </a:t>
            </a:r>
            <a:r>
              <a:rPr spc="-45" dirty="0"/>
              <a:t>Tracing</a:t>
            </a:r>
            <a:r>
              <a:rPr spc="-95" dirty="0"/>
              <a:t> </a:t>
            </a:r>
            <a:r>
              <a:rPr dirty="0"/>
              <a:t>at</a:t>
            </a:r>
            <a:r>
              <a:rPr spc="-95" dirty="0"/>
              <a:t> </a:t>
            </a:r>
            <a:r>
              <a:rPr spc="-20" dirty="0"/>
              <a:t>1000</a:t>
            </a:r>
            <a:r>
              <a:rPr dirty="0"/>
              <a:t>	</a:t>
            </a:r>
            <a:r>
              <a:rPr spc="-25" dirty="0"/>
              <a:t>eV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25" dirty="0"/>
              <a:t>19</a:t>
            </a:fld>
            <a:endParaRPr spc="-25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D78903C-AC21-49CA-AC23-BB9597AAEE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6600" y="2514600"/>
            <a:ext cx="5452850" cy="43241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9A77A49-E0DB-45D0-9CB2-B853FB9895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26400" y="3940624"/>
            <a:ext cx="3188850" cy="936176"/>
          </a:xfrm>
          <a:prstGeom prst="rect">
            <a:avLst/>
          </a:prstGeom>
        </p:spPr>
      </p:pic>
      <p:sp>
        <p:nvSpPr>
          <p:cNvPr id="10" name="object 6">
            <a:extLst>
              <a:ext uri="{FF2B5EF4-FFF2-40B4-BE49-F238E27FC236}">
                <a16:creationId xmlns:a16="http://schemas.microsoft.com/office/drawing/2014/main" id="{A2CD15CA-5824-4432-909F-5DE349487105}"/>
              </a:ext>
            </a:extLst>
          </p:cNvPr>
          <p:cNvSpPr txBox="1"/>
          <p:nvPr/>
        </p:nvSpPr>
        <p:spPr>
          <a:xfrm>
            <a:off x="2044700" y="7658100"/>
            <a:ext cx="974725" cy="746760"/>
          </a:xfrm>
          <a:prstGeom prst="rect">
            <a:avLst/>
          </a:prstGeom>
        </p:spPr>
        <p:txBody>
          <a:bodyPr vert="horz" wrap="square" lIns="0" tIns="33019" rIns="0" bIns="0" rtlCol="0">
            <a:spAutoFit/>
          </a:bodyPr>
          <a:lstStyle/>
          <a:p>
            <a:pPr marL="12700" marR="5080">
              <a:lnSpc>
                <a:spcPts val="2800"/>
              </a:lnSpc>
              <a:spcBef>
                <a:spcPts val="259"/>
              </a:spcBef>
            </a:pPr>
            <a:r>
              <a:rPr sz="2400" spc="-10" dirty="0">
                <a:solidFill>
                  <a:srgbClr val="FF2600"/>
                </a:solidFill>
                <a:latin typeface="Arial MT"/>
                <a:cs typeface="Arial MT"/>
              </a:rPr>
              <a:t>Sanity Check!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1" name="object 9">
            <a:extLst>
              <a:ext uri="{FF2B5EF4-FFF2-40B4-BE49-F238E27FC236}">
                <a16:creationId xmlns:a16="http://schemas.microsoft.com/office/drawing/2014/main" id="{14DBF40E-186E-4856-BEC1-F4897E265A55}"/>
              </a:ext>
            </a:extLst>
          </p:cNvPr>
          <p:cNvSpPr/>
          <p:nvPr/>
        </p:nvSpPr>
        <p:spPr>
          <a:xfrm>
            <a:off x="5914669" y="7742396"/>
            <a:ext cx="1745614" cy="0"/>
          </a:xfrm>
          <a:custGeom>
            <a:avLst/>
            <a:gdLst/>
            <a:ahLst/>
            <a:cxnLst/>
            <a:rect l="l" t="t" r="r" b="b"/>
            <a:pathLst>
              <a:path w="1745615">
                <a:moveTo>
                  <a:pt x="0" y="0"/>
                </a:moveTo>
                <a:lnTo>
                  <a:pt x="1745391" y="0"/>
                </a:lnTo>
              </a:path>
            </a:pathLst>
          </a:custGeom>
          <a:ln w="141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0">
            <a:extLst>
              <a:ext uri="{FF2B5EF4-FFF2-40B4-BE49-F238E27FC236}">
                <a16:creationId xmlns:a16="http://schemas.microsoft.com/office/drawing/2014/main" id="{335277E8-0941-45A6-964D-EF167ECB1F31}"/>
              </a:ext>
            </a:extLst>
          </p:cNvPr>
          <p:cNvSpPr/>
          <p:nvPr/>
        </p:nvSpPr>
        <p:spPr>
          <a:xfrm>
            <a:off x="7745084" y="7742396"/>
            <a:ext cx="269240" cy="0"/>
          </a:xfrm>
          <a:custGeom>
            <a:avLst/>
            <a:gdLst/>
            <a:ahLst/>
            <a:cxnLst/>
            <a:rect l="l" t="t" r="r" b="b"/>
            <a:pathLst>
              <a:path w="269240">
                <a:moveTo>
                  <a:pt x="0" y="0"/>
                </a:moveTo>
                <a:lnTo>
                  <a:pt x="269082" y="0"/>
                </a:lnTo>
              </a:path>
            </a:pathLst>
          </a:custGeom>
          <a:ln w="141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1">
            <a:extLst>
              <a:ext uri="{FF2B5EF4-FFF2-40B4-BE49-F238E27FC236}">
                <a16:creationId xmlns:a16="http://schemas.microsoft.com/office/drawing/2014/main" id="{CD6EFFB0-C06C-4370-B77A-F55EE1C9192D}"/>
              </a:ext>
            </a:extLst>
          </p:cNvPr>
          <p:cNvSpPr txBox="1"/>
          <p:nvPr/>
        </p:nvSpPr>
        <p:spPr>
          <a:xfrm>
            <a:off x="3801038" y="7225365"/>
            <a:ext cx="5763260" cy="688975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545465" algn="ctr">
              <a:lnSpc>
                <a:spcPts val="2590"/>
              </a:lnSpc>
              <a:spcBef>
                <a:spcPts val="130"/>
              </a:spcBef>
            </a:pPr>
            <a:r>
              <a:rPr sz="2750" spc="-50" dirty="0">
                <a:latin typeface="Cambria"/>
                <a:cs typeface="Cambria"/>
              </a:rPr>
              <a:t>cos</a:t>
            </a:r>
            <a:r>
              <a:rPr sz="2750" spc="-140" dirty="0">
                <a:latin typeface="Cambria"/>
                <a:cs typeface="Cambria"/>
              </a:rPr>
              <a:t> </a:t>
            </a:r>
            <a:r>
              <a:rPr sz="2750" i="1" spc="-10" dirty="0">
                <a:latin typeface="Cambria"/>
                <a:cs typeface="Cambria"/>
              </a:rPr>
              <a:t>α</a:t>
            </a:r>
            <a:r>
              <a:rPr sz="2750" spc="-10" dirty="0">
                <a:latin typeface="Cambria"/>
                <a:cs typeface="Cambria"/>
              </a:rPr>
              <a:t>(1000)</a:t>
            </a:r>
            <a:r>
              <a:rPr sz="2750" spc="-80" dirty="0">
                <a:latin typeface="Cambria"/>
                <a:cs typeface="Cambria"/>
              </a:rPr>
              <a:t> </a:t>
            </a:r>
            <a:r>
              <a:rPr sz="2750" i="1" spc="-25" dirty="0">
                <a:latin typeface="Cambria"/>
                <a:cs typeface="Cambria"/>
              </a:rPr>
              <a:t>r</a:t>
            </a:r>
            <a:r>
              <a:rPr lang="en-US" sz="2925" i="1" spc="-37" baseline="28490" dirty="0">
                <a:latin typeface="Times New Roman"/>
                <a:cs typeface="Times New Roman"/>
              </a:rPr>
              <a:t>'</a:t>
            </a:r>
            <a:endParaRPr sz="2925" baseline="28490" dirty="0">
              <a:latin typeface="Times New Roman"/>
              <a:cs typeface="Times New Roman"/>
            </a:endParaRPr>
          </a:p>
          <a:p>
            <a:pPr marL="38100">
              <a:lnSpc>
                <a:spcPts val="2590"/>
              </a:lnSpc>
              <a:tabLst>
                <a:tab pos="3993515" algn="l"/>
                <a:tab pos="4353560" algn="l"/>
              </a:tabLst>
            </a:pPr>
            <a:r>
              <a:rPr sz="2750" spc="95" dirty="0">
                <a:latin typeface="Cambria"/>
                <a:cs typeface="Cambria"/>
              </a:rPr>
              <a:t>2</a:t>
            </a:r>
            <a:r>
              <a:rPr sz="2750" i="1" spc="95" dirty="0">
                <a:latin typeface="Cambria"/>
                <a:cs typeface="Cambria"/>
              </a:rPr>
              <a:t>.</a:t>
            </a:r>
            <a:r>
              <a:rPr sz="2750" spc="95" dirty="0">
                <a:latin typeface="Cambria"/>
                <a:cs typeface="Cambria"/>
              </a:rPr>
              <a:t>35</a:t>
            </a:r>
            <a:r>
              <a:rPr lang="en-US" sz="2750" spc="95" dirty="0">
                <a:latin typeface="Symbol" panose="05050102010706020507" pitchFamily="18" charset="2"/>
                <a:cs typeface="Cambria"/>
              </a:rPr>
              <a:t>S</a:t>
            </a:r>
            <a:r>
              <a:rPr sz="2925" i="1" spc="142" baseline="-11396" dirty="0">
                <a:latin typeface="Calibri"/>
                <a:cs typeface="Calibri"/>
              </a:rPr>
              <a:t>z</a:t>
            </a:r>
            <a:r>
              <a:rPr sz="2925" i="1" spc="-315" baseline="-11396" dirty="0">
                <a:latin typeface="Calibri"/>
                <a:cs typeface="Calibri"/>
              </a:rPr>
              <a:t> </a:t>
            </a:r>
            <a:r>
              <a:rPr sz="2750" spc="-85" dirty="0">
                <a:latin typeface="Cambria"/>
                <a:cs typeface="Cambria"/>
              </a:rPr>
              <a:t>(1000)</a:t>
            </a:r>
            <a:r>
              <a:rPr sz="2750" spc="-210" dirty="0">
                <a:latin typeface="Cambria"/>
                <a:cs typeface="Cambria"/>
              </a:rPr>
              <a:t> </a:t>
            </a:r>
            <a:r>
              <a:rPr sz="4125" spc="-75" baseline="-38383" dirty="0">
                <a:latin typeface="Cambria"/>
                <a:cs typeface="Cambria"/>
              </a:rPr>
              <a:t>cos</a:t>
            </a:r>
            <a:r>
              <a:rPr sz="4125" spc="-165" baseline="-38383" dirty="0">
                <a:latin typeface="Cambria"/>
                <a:cs typeface="Cambria"/>
              </a:rPr>
              <a:t> </a:t>
            </a:r>
            <a:r>
              <a:rPr sz="4125" i="1" spc="-15" baseline="-38383" dirty="0">
                <a:latin typeface="Cambria"/>
                <a:cs typeface="Cambria"/>
              </a:rPr>
              <a:t>β</a:t>
            </a:r>
            <a:r>
              <a:rPr sz="4125" spc="-15" baseline="-38383" dirty="0">
                <a:latin typeface="Cambria"/>
                <a:cs typeface="Cambria"/>
              </a:rPr>
              <a:t>(1000)</a:t>
            </a:r>
            <a:r>
              <a:rPr sz="4125" baseline="-38383" dirty="0">
                <a:latin typeface="Cambria"/>
                <a:cs typeface="Cambria"/>
              </a:rPr>
              <a:t>	</a:t>
            </a:r>
            <a:r>
              <a:rPr sz="4125" i="1" spc="104" baseline="-38383" dirty="0">
                <a:latin typeface="Cambria"/>
                <a:cs typeface="Cambria"/>
              </a:rPr>
              <a:t>r</a:t>
            </a:r>
            <a:r>
              <a:rPr sz="4125" i="1" baseline="-38383" dirty="0">
                <a:latin typeface="Cambria"/>
                <a:cs typeface="Cambria"/>
              </a:rPr>
              <a:t>	</a:t>
            </a:r>
            <a:r>
              <a:rPr sz="2750" spc="640" dirty="0">
                <a:latin typeface="Cambria"/>
                <a:cs typeface="Cambria"/>
              </a:rPr>
              <a:t>=</a:t>
            </a:r>
            <a:r>
              <a:rPr sz="2750" spc="40" dirty="0">
                <a:latin typeface="Cambria"/>
                <a:cs typeface="Cambria"/>
              </a:rPr>
              <a:t> </a:t>
            </a:r>
            <a:r>
              <a:rPr sz="2750" dirty="0">
                <a:latin typeface="Cambria"/>
                <a:cs typeface="Cambria"/>
              </a:rPr>
              <a:t>36</a:t>
            </a:r>
            <a:r>
              <a:rPr sz="2750" spc="170" dirty="0">
                <a:latin typeface="Cambria"/>
                <a:cs typeface="Cambria"/>
              </a:rPr>
              <a:t> </a:t>
            </a:r>
            <a:r>
              <a:rPr sz="2750" i="1" spc="175" dirty="0">
                <a:latin typeface="Cambria"/>
                <a:cs typeface="Cambria"/>
              </a:rPr>
              <a:t>µm</a:t>
            </a:r>
            <a:endParaRPr sz="2750" dirty="0">
              <a:latin typeface="Cambria"/>
              <a:cs typeface="Cambria"/>
            </a:endParaRPr>
          </a:p>
        </p:txBody>
      </p:sp>
      <p:sp>
        <p:nvSpPr>
          <p:cNvPr id="14" name="object 12">
            <a:extLst>
              <a:ext uri="{FF2B5EF4-FFF2-40B4-BE49-F238E27FC236}">
                <a16:creationId xmlns:a16="http://schemas.microsoft.com/office/drawing/2014/main" id="{B4251BAF-826C-4691-A516-1B5BE0EAD32F}"/>
              </a:ext>
            </a:extLst>
          </p:cNvPr>
          <p:cNvSpPr/>
          <p:nvPr/>
        </p:nvSpPr>
        <p:spPr>
          <a:xfrm>
            <a:off x="5929817" y="8706980"/>
            <a:ext cx="269240" cy="0"/>
          </a:xfrm>
          <a:custGeom>
            <a:avLst/>
            <a:gdLst/>
            <a:ahLst/>
            <a:cxnLst/>
            <a:rect l="l" t="t" r="r" b="b"/>
            <a:pathLst>
              <a:path w="269239">
                <a:moveTo>
                  <a:pt x="0" y="0"/>
                </a:moveTo>
                <a:lnTo>
                  <a:pt x="269082" y="0"/>
                </a:lnTo>
              </a:path>
            </a:pathLst>
          </a:custGeom>
          <a:ln w="141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3">
            <a:extLst>
              <a:ext uri="{FF2B5EF4-FFF2-40B4-BE49-F238E27FC236}">
                <a16:creationId xmlns:a16="http://schemas.microsoft.com/office/drawing/2014/main" id="{34B19517-3DC6-4A90-892B-C7CF0A02C128}"/>
              </a:ext>
            </a:extLst>
          </p:cNvPr>
          <p:cNvSpPr txBox="1"/>
          <p:nvPr/>
        </p:nvSpPr>
        <p:spPr>
          <a:xfrm>
            <a:off x="3801038" y="8061628"/>
            <a:ext cx="4125595" cy="811761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83540" algn="ctr">
              <a:lnSpc>
                <a:spcPts val="3095"/>
              </a:lnSpc>
              <a:spcBef>
                <a:spcPts val="130"/>
              </a:spcBef>
            </a:pPr>
            <a:r>
              <a:rPr lang="en-GB" sz="4125" i="1" spc="-37" baseline="-20202" dirty="0">
                <a:latin typeface="Cambria"/>
                <a:cs typeface="Cambria"/>
              </a:rPr>
              <a:t>   r’</a:t>
            </a:r>
            <a:endParaRPr lang="pt-BR" sz="1950" dirty="0">
              <a:latin typeface="Times New Roman"/>
              <a:cs typeface="Times New Roman"/>
            </a:endParaRPr>
          </a:p>
          <a:p>
            <a:pPr marL="38100">
              <a:lnSpc>
                <a:spcPts val="3095"/>
              </a:lnSpc>
              <a:tabLst>
                <a:tab pos="2538095" algn="l"/>
              </a:tabLst>
            </a:pPr>
            <a:r>
              <a:rPr lang="pt-BR" sz="2750" dirty="0">
                <a:latin typeface="Cambria"/>
                <a:cs typeface="Cambria"/>
              </a:rPr>
              <a:t>2</a:t>
            </a:r>
            <a:r>
              <a:rPr lang="pt-BR" sz="2750" i="1" dirty="0">
                <a:latin typeface="Cambria"/>
                <a:cs typeface="Cambria"/>
              </a:rPr>
              <a:t>.</a:t>
            </a:r>
            <a:r>
              <a:rPr lang="pt-BR" sz="2750" dirty="0">
                <a:latin typeface="Cambria"/>
                <a:cs typeface="Cambria"/>
              </a:rPr>
              <a:t>35</a:t>
            </a:r>
            <a:r>
              <a:rPr lang="pt-BR" sz="2750" spc="95" dirty="0">
                <a:latin typeface="Symbol" panose="05050102010706020507" pitchFamily="18" charset="2"/>
                <a:cs typeface="Cambria"/>
              </a:rPr>
              <a:t> S</a:t>
            </a:r>
            <a:r>
              <a:rPr lang="pt-BR" sz="2925" i="1" baseline="-11396" dirty="0">
                <a:latin typeface="Calibri"/>
                <a:cs typeface="Calibri"/>
              </a:rPr>
              <a:t>x</a:t>
            </a:r>
            <a:r>
              <a:rPr lang="pt-BR" sz="2750" dirty="0">
                <a:latin typeface="Cambria"/>
                <a:cs typeface="Cambria"/>
              </a:rPr>
              <a:t>(1000)</a:t>
            </a:r>
            <a:r>
              <a:rPr lang="pt-BR" sz="2750" spc="495" dirty="0">
                <a:latin typeface="Cambria"/>
                <a:cs typeface="Cambria"/>
              </a:rPr>
              <a:t> </a:t>
            </a:r>
            <a:r>
              <a:rPr lang="pt-BR" sz="4125" i="1" spc="104" baseline="-38383" dirty="0">
                <a:latin typeface="Cambria"/>
                <a:cs typeface="Cambria"/>
              </a:rPr>
              <a:t>r</a:t>
            </a:r>
            <a:r>
              <a:rPr lang="pt-BR" sz="4125" i="1" baseline="-38383" dirty="0">
                <a:latin typeface="Cambria"/>
                <a:cs typeface="Cambria"/>
              </a:rPr>
              <a:t>	</a:t>
            </a:r>
            <a:r>
              <a:rPr lang="pt-BR" sz="2750" spc="640" dirty="0">
                <a:latin typeface="Cambria"/>
                <a:cs typeface="Cambria"/>
              </a:rPr>
              <a:t>=</a:t>
            </a:r>
            <a:r>
              <a:rPr lang="pt-BR" sz="2750" spc="35" dirty="0">
                <a:latin typeface="Cambria"/>
                <a:cs typeface="Cambria"/>
              </a:rPr>
              <a:t> </a:t>
            </a:r>
            <a:r>
              <a:rPr lang="pt-BR" sz="2750" spc="-40" dirty="0">
                <a:latin typeface="Cambria"/>
                <a:cs typeface="Cambria"/>
              </a:rPr>
              <a:t>217</a:t>
            </a:r>
            <a:r>
              <a:rPr lang="pt-BR" sz="2750" spc="155" dirty="0">
                <a:latin typeface="Cambria"/>
                <a:cs typeface="Cambria"/>
              </a:rPr>
              <a:t> </a:t>
            </a:r>
            <a:r>
              <a:rPr lang="pt-BR" sz="2750" i="1" spc="175" dirty="0">
                <a:latin typeface="Cambria"/>
                <a:cs typeface="Cambria"/>
              </a:rPr>
              <a:t>µm</a:t>
            </a:r>
            <a:endParaRPr lang="pt-BR" sz="2750" dirty="0">
              <a:latin typeface="Cambria"/>
              <a:cs typeface="Cambri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525E9D8-8E34-4AB5-9C09-373BAC105B50}"/>
              </a:ext>
            </a:extLst>
          </p:cNvPr>
          <p:cNvSpPr txBox="1"/>
          <p:nvPr/>
        </p:nvSpPr>
        <p:spPr>
          <a:xfrm>
            <a:off x="200353" y="295470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01_SGM_1000eV.ows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49455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726754" y="0"/>
            <a:ext cx="5278045" cy="215900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3479800" y="254000"/>
            <a:ext cx="605218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031240" algn="l"/>
              </a:tabLst>
            </a:pPr>
            <a:r>
              <a:rPr spc="-25" dirty="0"/>
              <a:t>SGM</a:t>
            </a:r>
            <a:r>
              <a:rPr dirty="0"/>
              <a:t>	Ray</a:t>
            </a:r>
            <a:r>
              <a:rPr spc="-204" dirty="0"/>
              <a:t> </a:t>
            </a:r>
            <a:r>
              <a:rPr spc="-40" dirty="0"/>
              <a:t>Tracings</a:t>
            </a:r>
            <a:r>
              <a:rPr spc="-145" dirty="0"/>
              <a:t> </a:t>
            </a:r>
            <a:r>
              <a:rPr spc="-10" dirty="0"/>
              <a:t>Resolution</a:t>
            </a:r>
          </a:p>
        </p:txBody>
      </p:sp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558432" y="4332225"/>
            <a:ext cx="3804267" cy="935491"/>
          </a:xfrm>
          <a:prstGeom prst="rect">
            <a:avLst/>
          </a:prstGeom>
        </p:spPr>
      </p:pic>
      <p:sp>
        <p:nvSpPr>
          <p:cNvPr id="8" name="object 8"/>
          <p:cNvSpPr txBox="1">
            <a:spLocks noGrp="1"/>
          </p:cNvSpPr>
          <p:nvPr>
            <p:ph type="body" idx="1"/>
          </p:nvPr>
        </p:nvSpPr>
        <p:spPr>
          <a:xfrm>
            <a:off x="498798" y="2829986"/>
            <a:ext cx="6949096" cy="251671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pc="-10" dirty="0"/>
              <a:t>Source</a:t>
            </a:r>
          </a:p>
          <a:p>
            <a:pPr marL="12700">
              <a:lnSpc>
                <a:spcPts val="3350"/>
              </a:lnSpc>
              <a:spcBef>
                <a:spcPts val="30"/>
              </a:spcBef>
            </a:pPr>
            <a:r>
              <a:rPr spc="-50" dirty="0"/>
              <a:t>999</a:t>
            </a:r>
            <a:r>
              <a:rPr i="1" spc="-50" dirty="0">
                <a:latin typeface="Cambria"/>
                <a:cs typeface="Cambria"/>
              </a:rPr>
              <a:t>.</a:t>
            </a:r>
            <a:r>
              <a:rPr spc="-50" dirty="0"/>
              <a:t>8</a:t>
            </a:r>
            <a:r>
              <a:rPr spc="60" dirty="0"/>
              <a:t> </a:t>
            </a:r>
            <a:r>
              <a:rPr i="1" spc="675" dirty="0">
                <a:latin typeface="Cambria"/>
                <a:cs typeface="Cambria"/>
              </a:rPr>
              <a:t>&lt;</a:t>
            </a:r>
            <a:r>
              <a:rPr i="1" spc="65" dirty="0">
                <a:latin typeface="Cambria"/>
                <a:cs typeface="Cambria"/>
              </a:rPr>
              <a:t> </a:t>
            </a:r>
            <a:r>
              <a:rPr i="1" spc="459" dirty="0">
                <a:latin typeface="Cambria"/>
                <a:cs typeface="Cambria"/>
              </a:rPr>
              <a:t>E</a:t>
            </a:r>
            <a:r>
              <a:rPr i="1" spc="200" dirty="0">
                <a:latin typeface="Cambria"/>
                <a:cs typeface="Cambria"/>
              </a:rPr>
              <a:t> </a:t>
            </a:r>
            <a:r>
              <a:rPr i="1" spc="675" dirty="0">
                <a:latin typeface="Cambria"/>
                <a:cs typeface="Cambria"/>
              </a:rPr>
              <a:t>&lt;</a:t>
            </a:r>
            <a:r>
              <a:rPr i="1" spc="65" dirty="0">
                <a:latin typeface="Cambria"/>
                <a:cs typeface="Cambria"/>
              </a:rPr>
              <a:t> </a:t>
            </a:r>
            <a:r>
              <a:rPr spc="-60" dirty="0"/>
              <a:t>1000</a:t>
            </a:r>
            <a:r>
              <a:rPr i="1" spc="-60" dirty="0">
                <a:latin typeface="Cambria"/>
                <a:cs typeface="Cambria"/>
              </a:rPr>
              <a:t>.</a:t>
            </a:r>
            <a:r>
              <a:rPr spc="-60" dirty="0"/>
              <a:t>2</a:t>
            </a:r>
            <a:r>
              <a:rPr spc="195" dirty="0"/>
              <a:t> </a:t>
            </a:r>
            <a:r>
              <a:rPr spc="110" dirty="0"/>
              <a:t>eV</a:t>
            </a:r>
          </a:p>
          <a:p>
            <a:pPr marL="3056890">
              <a:lnSpc>
                <a:spcPts val="2870"/>
              </a:lnSpc>
            </a:pPr>
            <a:r>
              <a:rPr sz="2400" dirty="0">
                <a:solidFill>
                  <a:srgbClr val="000000"/>
                </a:solidFill>
                <a:latin typeface="Arial MT"/>
                <a:cs typeface="Arial MT"/>
              </a:rPr>
              <a:t>At</a:t>
            </a:r>
            <a:r>
              <a:rPr sz="2400" spc="-3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0000"/>
                </a:solidFill>
                <a:latin typeface="Arial MT"/>
                <a:cs typeface="Arial MT"/>
              </a:rPr>
              <a:t>1000</a:t>
            </a:r>
            <a:r>
              <a:rPr sz="2400" spc="-25" dirty="0">
                <a:solidFill>
                  <a:srgbClr val="000000"/>
                </a:solidFill>
                <a:latin typeface="Arial MT"/>
                <a:cs typeface="Arial MT"/>
              </a:rPr>
              <a:t> eV</a:t>
            </a:r>
            <a:endParaRPr sz="24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960"/>
              </a:spcBef>
            </a:pPr>
            <a:endParaRPr sz="2400" dirty="0">
              <a:latin typeface="Arial MT"/>
              <a:cs typeface="Arial MT"/>
            </a:endParaRPr>
          </a:p>
          <a:p>
            <a:pPr marR="5080" algn="r">
              <a:lnSpc>
                <a:spcPct val="100000"/>
              </a:lnSpc>
            </a:pPr>
            <a:r>
              <a:rPr sz="2400" dirty="0">
                <a:solidFill>
                  <a:srgbClr val="000000"/>
                </a:solidFill>
                <a:latin typeface="Arial MT"/>
                <a:cs typeface="Arial MT"/>
              </a:rPr>
              <a:t>55</a:t>
            </a:r>
            <a:r>
              <a:rPr sz="2400" spc="-3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2400" spc="-25" dirty="0">
                <a:solidFill>
                  <a:srgbClr val="000000"/>
                </a:solidFill>
                <a:latin typeface="Arial MT"/>
                <a:cs typeface="Arial MT"/>
              </a:rPr>
              <a:t>meV</a:t>
            </a:r>
            <a:endParaRPr sz="24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60"/>
              </a:spcBef>
            </a:pPr>
            <a:endParaRPr sz="2400" dirty="0">
              <a:latin typeface="Arial MT"/>
              <a:cs typeface="Arial MT"/>
            </a:endParaRPr>
          </a:p>
        </p:txBody>
      </p:sp>
      <p:sp>
        <p:nvSpPr>
          <p:cNvPr id="9" name="object 9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pc="-10" dirty="0"/>
              <a:t>Software</a:t>
            </a:r>
            <a:r>
              <a:rPr spc="-50" dirty="0"/>
              <a:t> </a:t>
            </a:r>
            <a:r>
              <a:rPr dirty="0"/>
              <a:t>for</a:t>
            </a:r>
            <a:r>
              <a:rPr spc="-45" dirty="0"/>
              <a:t> </a:t>
            </a:r>
            <a:r>
              <a:rPr dirty="0"/>
              <a:t>Optical</a:t>
            </a:r>
            <a:r>
              <a:rPr spc="-45" dirty="0"/>
              <a:t> </a:t>
            </a:r>
            <a:r>
              <a:rPr dirty="0"/>
              <a:t>Simulations,</a:t>
            </a:r>
            <a:r>
              <a:rPr spc="-45" dirty="0"/>
              <a:t> </a:t>
            </a:r>
            <a:r>
              <a:rPr spc="-20" dirty="0"/>
              <a:t>Trieste,</a:t>
            </a:r>
            <a:r>
              <a:rPr spc="-45" dirty="0"/>
              <a:t> </a:t>
            </a:r>
            <a:r>
              <a:rPr dirty="0"/>
              <a:t>October</a:t>
            </a:r>
            <a:r>
              <a:rPr spc="-45" dirty="0"/>
              <a:t> </a:t>
            </a:r>
            <a:r>
              <a:rPr dirty="0"/>
              <a:t>2016.</a:t>
            </a:r>
            <a:r>
              <a:rPr spc="-45" dirty="0"/>
              <a:t> </a:t>
            </a:r>
            <a:r>
              <a:rPr dirty="0"/>
              <a:t>Ruben</a:t>
            </a:r>
            <a:r>
              <a:rPr spc="-45" dirty="0"/>
              <a:t> </a:t>
            </a:r>
            <a:r>
              <a:rPr spc="-10" dirty="0"/>
              <a:t>Reininger</a:t>
            </a: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25" dirty="0"/>
              <a:t>20</a:t>
            </a:fld>
            <a:endParaRPr spc="-25" dirty="0"/>
          </a:p>
        </p:txBody>
      </p:sp>
      <p:sp>
        <p:nvSpPr>
          <p:cNvPr id="11" name="object 11"/>
          <p:cNvSpPr txBox="1"/>
          <p:nvPr/>
        </p:nvSpPr>
        <p:spPr>
          <a:xfrm>
            <a:off x="1069339" y="9384967"/>
            <a:ext cx="72390" cy="211454"/>
          </a:xfrm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sz="1200" spc="-50" dirty="0">
                <a:solidFill>
                  <a:srgbClr val="275D90"/>
                </a:solidFill>
                <a:latin typeface="Calibri"/>
                <a:cs typeface="Calibri"/>
              </a:rPr>
              <a:t>-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EB7FB5-9CCE-4B49-B6C0-3D2706A000C1}"/>
              </a:ext>
            </a:extLst>
          </p:cNvPr>
          <p:cNvSpPr txBox="1"/>
          <p:nvPr/>
        </p:nvSpPr>
        <p:spPr>
          <a:xfrm>
            <a:off x="200353" y="295470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01_SGM_1000eV.ows</a:t>
            </a:r>
            <a:endParaRPr lang="en-GB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D8F36A5-E0EA-4209-A5F3-3140D81468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600" y="1118055"/>
            <a:ext cx="6584294" cy="158170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FFE5050-870D-4890-89C6-0EA0BBE549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8800" y="957192"/>
            <a:ext cx="4352602" cy="309658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2E82336-F6EB-4ED4-96C6-9C9B3F5DBD2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98161" y="4091371"/>
            <a:ext cx="4437639" cy="130279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1AA2EA0-30B3-4C9F-8721-7592910775F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6068284"/>
            <a:ext cx="2825454" cy="2332944"/>
          </a:xfrm>
          <a:prstGeom prst="rect">
            <a:avLst/>
          </a:prstGeom>
        </p:spPr>
      </p:pic>
      <p:sp>
        <p:nvSpPr>
          <p:cNvPr id="24" name="object 15">
            <a:extLst>
              <a:ext uri="{FF2B5EF4-FFF2-40B4-BE49-F238E27FC236}">
                <a16:creationId xmlns:a16="http://schemas.microsoft.com/office/drawing/2014/main" id="{26C17AC0-A9AB-4E7A-AD25-E757BDAF298A}"/>
              </a:ext>
            </a:extLst>
          </p:cNvPr>
          <p:cNvSpPr txBox="1"/>
          <p:nvPr/>
        </p:nvSpPr>
        <p:spPr>
          <a:xfrm>
            <a:off x="1320800" y="5562600"/>
            <a:ext cx="95186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800" dirty="0">
                <a:latin typeface="Times New Roman"/>
                <a:cs typeface="Times New Roman"/>
              </a:rPr>
              <a:t>3</a:t>
            </a:r>
            <a:r>
              <a:rPr sz="2800" dirty="0">
                <a:latin typeface="Times New Roman"/>
                <a:cs typeface="Times New Roman"/>
              </a:rPr>
              <a:t> </a:t>
            </a:r>
            <a:r>
              <a:rPr sz="2800" spc="-25" dirty="0">
                <a:latin typeface="Times New Roman"/>
                <a:cs typeface="Times New Roman"/>
              </a:rPr>
              <a:t>µm</a:t>
            </a:r>
            <a:endParaRPr sz="2800" dirty="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775929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726754" y="0"/>
            <a:ext cx="5278045" cy="215900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title"/>
          </p:nvPr>
        </p:nvSpPr>
        <p:spPr>
          <a:xfrm>
            <a:off x="3479800" y="254000"/>
            <a:ext cx="605218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031240" algn="l"/>
              </a:tabLst>
            </a:pPr>
            <a:r>
              <a:rPr spc="-25" dirty="0"/>
              <a:t>SGM</a:t>
            </a:r>
            <a:r>
              <a:rPr dirty="0"/>
              <a:t>	Ray</a:t>
            </a:r>
            <a:r>
              <a:rPr spc="-204" dirty="0"/>
              <a:t> </a:t>
            </a:r>
            <a:r>
              <a:rPr spc="-40" dirty="0"/>
              <a:t>Tracings</a:t>
            </a:r>
            <a:r>
              <a:rPr spc="-145" dirty="0"/>
              <a:t> </a:t>
            </a:r>
            <a:r>
              <a:rPr spc="-10" dirty="0"/>
              <a:t>Resolution</a:t>
            </a:r>
          </a:p>
        </p:txBody>
      </p:sp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558432" y="4332225"/>
            <a:ext cx="3804267" cy="935491"/>
          </a:xfrm>
          <a:prstGeom prst="rect">
            <a:avLst/>
          </a:prstGeom>
        </p:spPr>
      </p:pic>
      <p:sp>
        <p:nvSpPr>
          <p:cNvPr id="8" name="object 8"/>
          <p:cNvSpPr txBox="1">
            <a:spLocks noGrp="1"/>
          </p:cNvSpPr>
          <p:nvPr>
            <p:ph type="body" idx="1"/>
          </p:nvPr>
        </p:nvSpPr>
        <p:spPr>
          <a:xfrm>
            <a:off x="498798" y="2829986"/>
            <a:ext cx="6949096" cy="251671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pc="-10" dirty="0"/>
              <a:t>Source</a:t>
            </a:r>
          </a:p>
          <a:p>
            <a:pPr marL="12700">
              <a:lnSpc>
                <a:spcPts val="3350"/>
              </a:lnSpc>
              <a:spcBef>
                <a:spcPts val="30"/>
              </a:spcBef>
            </a:pPr>
            <a:r>
              <a:rPr spc="-50" dirty="0"/>
              <a:t>999</a:t>
            </a:r>
            <a:r>
              <a:rPr i="1" spc="-50" dirty="0">
                <a:latin typeface="Cambria"/>
                <a:cs typeface="Cambria"/>
              </a:rPr>
              <a:t>.</a:t>
            </a:r>
            <a:r>
              <a:rPr spc="-50" dirty="0"/>
              <a:t>8</a:t>
            </a:r>
            <a:r>
              <a:rPr spc="60" dirty="0"/>
              <a:t> </a:t>
            </a:r>
            <a:r>
              <a:rPr i="1" spc="675" dirty="0">
                <a:latin typeface="Cambria"/>
                <a:cs typeface="Cambria"/>
              </a:rPr>
              <a:t>&lt;</a:t>
            </a:r>
            <a:r>
              <a:rPr i="1" spc="65" dirty="0">
                <a:latin typeface="Cambria"/>
                <a:cs typeface="Cambria"/>
              </a:rPr>
              <a:t> </a:t>
            </a:r>
            <a:r>
              <a:rPr i="1" spc="459" dirty="0">
                <a:latin typeface="Cambria"/>
                <a:cs typeface="Cambria"/>
              </a:rPr>
              <a:t>E</a:t>
            </a:r>
            <a:r>
              <a:rPr i="1" spc="200" dirty="0">
                <a:latin typeface="Cambria"/>
                <a:cs typeface="Cambria"/>
              </a:rPr>
              <a:t> </a:t>
            </a:r>
            <a:r>
              <a:rPr i="1" spc="675" dirty="0">
                <a:latin typeface="Cambria"/>
                <a:cs typeface="Cambria"/>
              </a:rPr>
              <a:t>&lt;</a:t>
            </a:r>
            <a:r>
              <a:rPr i="1" spc="65" dirty="0">
                <a:latin typeface="Cambria"/>
                <a:cs typeface="Cambria"/>
              </a:rPr>
              <a:t> </a:t>
            </a:r>
            <a:r>
              <a:rPr spc="-60" dirty="0"/>
              <a:t>1000</a:t>
            </a:r>
            <a:r>
              <a:rPr i="1" spc="-60" dirty="0">
                <a:latin typeface="Cambria"/>
                <a:cs typeface="Cambria"/>
              </a:rPr>
              <a:t>.</a:t>
            </a:r>
            <a:r>
              <a:rPr spc="-60" dirty="0"/>
              <a:t>2</a:t>
            </a:r>
            <a:r>
              <a:rPr spc="195" dirty="0"/>
              <a:t> </a:t>
            </a:r>
            <a:r>
              <a:rPr spc="110" dirty="0"/>
              <a:t>eV</a:t>
            </a:r>
          </a:p>
          <a:p>
            <a:pPr marL="3056890">
              <a:lnSpc>
                <a:spcPts val="2870"/>
              </a:lnSpc>
            </a:pPr>
            <a:r>
              <a:rPr sz="2400" dirty="0">
                <a:solidFill>
                  <a:srgbClr val="000000"/>
                </a:solidFill>
                <a:latin typeface="Arial MT"/>
                <a:cs typeface="Arial MT"/>
              </a:rPr>
              <a:t>At</a:t>
            </a:r>
            <a:r>
              <a:rPr sz="2400" spc="-3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0000"/>
                </a:solidFill>
                <a:latin typeface="Arial MT"/>
                <a:cs typeface="Arial MT"/>
              </a:rPr>
              <a:t>1000</a:t>
            </a:r>
            <a:r>
              <a:rPr sz="2400" spc="-25" dirty="0">
                <a:solidFill>
                  <a:srgbClr val="000000"/>
                </a:solidFill>
                <a:latin typeface="Arial MT"/>
                <a:cs typeface="Arial MT"/>
              </a:rPr>
              <a:t> eV</a:t>
            </a:r>
            <a:endParaRPr sz="24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960"/>
              </a:spcBef>
            </a:pPr>
            <a:endParaRPr sz="2400" dirty="0">
              <a:latin typeface="Arial MT"/>
              <a:cs typeface="Arial MT"/>
            </a:endParaRPr>
          </a:p>
          <a:p>
            <a:pPr marR="5080" algn="r">
              <a:lnSpc>
                <a:spcPct val="100000"/>
              </a:lnSpc>
            </a:pPr>
            <a:r>
              <a:rPr sz="2400" dirty="0">
                <a:solidFill>
                  <a:srgbClr val="000000"/>
                </a:solidFill>
                <a:latin typeface="Arial MT"/>
                <a:cs typeface="Arial MT"/>
              </a:rPr>
              <a:t>55</a:t>
            </a:r>
            <a:r>
              <a:rPr sz="2400" spc="-3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2400" spc="-25" dirty="0">
                <a:solidFill>
                  <a:srgbClr val="000000"/>
                </a:solidFill>
                <a:latin typeface="Arial MT"/>
                <a:cs typeface="Arial MT"/>
              </a:rPr>
              <a:t>meV</a:t>
            </a:r>
            <a:endParaRPr sz="24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60"/>
              </a:spcBef>
            </a:pPr>
            <a:endParaRPr sz="2400" dirty="0">
              <a:latin typeface="Arial MT"/>
              <a:cs typeface="Arial MT"/>
            </a:endParaRPr>
          </a:p>
        </p:txBody>
      </p:sp>
      <p:sp>
        <p:nvSpPr>
          <p:cNvPr id="9" name="object 9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pc="-10" dirty="0"/>
              <a:t>Software</a:t>
            </a:r>
            <a:r>
              <a:rPr spc="-50" dirty="0"/>
              <a:t> </a:t>
            </a:r>
            <a:r>
              <a:rPr dirty="0"/>
              <a:t>for</a:t>
            </a:r>
            <a:r>
              <a:rPr spc="-45" dirty="0"/>
              <a:t> </a:t>
            </a:r>
            <a:r>
              <a:rPr dirty="0"/>
              <a:t>Optical</a:t>
            </a:r>
            <a:r>
              <a:rPr spc="-45" dirty="0"/>
              <a:t> </a:t>
            </a:r>
            <a:r>
              <a:rPr dirty="0"/>
              <a:t>Simulations,</a:t>
            </a:r>
            <a:r>
              <a:rPr spc="-45" dirty="0"/>
              <a:t> </a:t>
            </a:r>
            <a:r>
              <a:rPr spc="-20" dirty="0"/>
              <a:t>Trieste,</a:t>
            </a:r>
            <a:r>
              <a:rPr spc="-45" dirty="0"/>
              <a:t> </a:t>
            </a:r>
            <a:r>
              <a:rPr dirty="0"/>
              <a:t>October</a:t>
            </a:r>
            <a:r>
              <a:rPr spc="-45" dirty="0"/>
              <a:t> </a:t>
            </a:r>
            <a:r>
              <a:rPr dirty="0"/>
              <a:t>2016.</a:t>
            </a:r>
            <a:r>
              <a:rPr spc="-45" dirty="0"/>
              <a:t> </a:t>
            </a:r>
            <a:r>
              <a:rPr dirty="0"/>
              <a:t>Ruben</a:t>
            </a:r>
            <a:r>
              <a:rPr spc="-45" dirty="0"/>
              <a:t> </a:t>
            </a:r>
            <a:r>
              <a:rPr spc="-10" dirty="0"/>
              <a:t>Reininger</a:t>
            </a: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25" dirty="0"/>
              <a:t>21</a:t>
            </a:fld>
            <a:endParaRPr spc="-25" dirty="0"/>
          </a:p>
        </p:txBody>
      </p:sp>
      <p:sp>
        <p:nvSpPr>
          <p:cNvPr id="11" name="object 11"/>
          <p:cNvSpPr txBox="1"/>
          <p:nvPr/>
        </p:nvSpPr>
        <p:spPr>
          <a:xfrm>
            <a:off x="1069339" y="9384967"/>
            <a:ext cx="72390" cy="211454"/>
          </a:xfrm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sz="1200" spc="-50" dirty="0">
                <a:solidFill>
                  <a:srgbClr val="275D90"/>
                </a:solidFill>
                <a:latin typeface="Calibri"/>
                <a:cs typeface="Calibri"/>
              </a:rPr>
              <a:t>-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EB7FB5-9CCE-4B49-B6C0-3D2706A000C1}"/>
              </a:ext>
            </a:extLst>
          </p:cNvPr>
          <p:cNvSpPr txBox="1"/>
          <p:nvPr/>
        </p:nvSpPr>
        <p:spPr>
          <a:xfrm>
            <a:off x="200353" y="295470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01_SGM_1000eV.ows</a:t>
            </a:r>
            <a:endParaRPr lang="en-GB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D8F36A5-E0EA-4209-A5F3-3140D81468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600" y="1118055"/>
            <a:ext cx="6584294" cy="158170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FFE5050-870D-4890-89C6-0EA0BBE549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8800" y="957192"/>
            <a:ext cx="4352602" cy="309658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2E82336-F6EB-4ED4-96C6-9C9B3F5DBD2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98161" y="3981009"/>
            <a:ext cx="4813560" cy="141315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1AA2EA0-30B3-4C9F-8721-7592910775F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6068284"/>
            <a:ext cx="2825454" cy="2332944"/>
          </a:xfrm>
          <a:prstGeom prst="rect">
            <a:avLst/>
          </a:prstGeom>
        </p:spPr>
      </p:pic>
      <p:sp>
        <p:nvSpPr>
          <p:cNvPr id="17" name="object 13">
            <a:extLst>
              <a:ext uri="{FF2B5EF4-FFF2-40B4-BE49-F238E27FC236}">
                <a16:creationId xmlns:a16="http://schemas.microsoft.com/office/drawing/2014/main" id="{730EBD7A-1FB8-4864-9753-5A760F116A59}"/>
              </a:ext>
            </a:extLst>
          </p:cNvPr>
          <p:cNvSpPr txBox="1"/>
          <p:nvPr/>
        </p:nvSpPr>
        <p:spPr>
          <a:xfrm>
            <a:off x="6658192" y="5671239"/>
            <a:ext cx="95186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dirty="0">
                <a:latin typeface="Times New Roman"/>
                <a:cs typeface="Times New Roman"/>
              </a:rPr>
              <a:t>50 </a:t>
            </a:r>
            <a:r>
              <a:rPr sz="2800" spc="-25" dirty="0">
                <a:latin typeface="Times New Roman"/>
                <a:cs typeface="Times New Roman"/>
              </a:rPr>
              <a:t>µm</a:t>
            </a:r>
            <a:endParaRPr sz="2800" dirty="0">
              <a:latin typeface="Times New Roman"/>
              <a:cs typeface="Times New Roman"/>
            </a:endParaRPr>
          </a:p>
        </p:txBody>
      </p:sp>
      <p:sp>
        <p:nvSpPr>
          <p:cNvPr id="18" name="object 14">
            <a:extLst>
              <a:ext uri="{FF2B5EF4-FFF2-40B4-BE49-F238E27FC236}">
                <a16:creationId xmlns:a16="http://schemas.microsoft.com/office/drawing/2014/main" id="{80A34678-4821-4D6E-8C66-813EDA4BD8F8}"/>
              </a:ext>
            </a:extLst>
          </p:cNvPr>
          <p:cNvSpPr txBox="1"/>
          <p:nvPr/>
        </p:nvSpPr>
        <p:spPr>
          <a:xfrm>
            <a:off x="8967152" y="5671239"/>
            <a:ext cx="112966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dirty="0">
                <a:latin typeface="Times New Roman"/>
                <a:cs typeface="Times New Roman"/>
              </a:rPr>
              <a:t>100 </a:t>
            </a:r>
            <a:r>
              <a:rPr sz="2800" spc="-25" dirty="0">
                <a:latin typeface="Times New Roman"/>
                <a:cs typeface="Times New Roman"/>
              </a:rPr>
              <a:t>µm</a:t>
            </a:r>
            <a:endParaRPr sz="2800" dirty="0">
              <a:latin typeface="Times New Roman"/>
              <a:cs typeface="Times New Roman"/>
            </a:endParaRPr>
          </a:p>
        </p:txBody>
      </p:sp>
      <p:sp>
        <p:nvSpPr>
          <p:cNvPr id="19" name="object 15">
            <a:extLst>
              <a:ext uri="{FF2B5EF4-FFF2-40B4-BE49-F238E27FC236}">
                <a16:creationId xmlns:a16="http://schemas.microsoft.com/office/drawing/2014/main" id="{70AB7FF0-C416-4946-AA15-822089370D29}"/>
              </a:ext>
            </a:extLst>
          </p:cNvPr>
          <p:cNvSpPr txBox="1"/>
          <p:nvPr/>
        </p:nvSpPr>
        <p:spPr>
          <a:xfrm>
            <a:off x="3789958" y="5582460"/>
            <a:ext cx="95186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dirty="0">
                <a:latin typeface="Times New Roman"/>
                <a:cs typeface="Times New Roman"/>
              </a:rPr>
              <a:t>20 </a:t>
            </a:r>
            <a:r>
              <a:rPr sz="2800" spc="-25" dirty="0">
                <a:latin typeface="Times New Roman"/>
                <a:cs typeface="Times New Roman"/>
              </a:rPr>
              <a:t>µm</a:t>
            </a:r>
            <a:endParaRPr sz="2800" dirty="0">
              <a:latin typeface="Times New Roman"/>
              <a:cs typeface="Times New Roman"/>
            </a:endParaRPr>
          </a:p>
        </p:txBody>
      </p:sp>
      <p:sp>
        <p:nvSpPr>
          <p:cNvPr id="20" name="object 17">
            <a:extLst>
              <a:ext uri="{FF2B5EF4-FFF2-40B4-BE49-F238E27FC236}">
                <a16:creationId xmlns:a16="http://schemas.microsoft.com/office/drawing/2014/main" id="{C9935BCD-56BA-4454-9F6F-655148B96D89}"/>
              </a:ext>
            </a:extLst>
          </p:cNvPr>
          <p:cNvSpPr txBox="1"/>
          <p:nvPr/>
        </p:nvSpPr>
        <p:spPr>
          <a:xfrm>
            <a:off x="8547100" y="8648700"/>
            <a:ext cx="14147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solidFill>
                  <a:srgbClr val="FF2600"/>
                </a:solidFill>
                <a:latin typeface="Arial MT"/>
                <a:cs typeface="Arial MT"/>
              </a:rPr>
              <a:t>Slit</a:t>
            </a:r>
            <a:r>
              <a:rPr sz="2400" spc="-40" dirty="0">
                <a:solidFill>
                  <a:srgbClr val="FF2600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FF2600"/>
                </a:solidFill>
                <a:latin typeface="Arial MT"/>
                <a:cs typeface="Arial MT"/>
              </a:rPr>
              <a:t>limited</a:t>
            </a:r>
            <a:endParaRPr sz="2400" dirty="0">
              <a:latin typeface="Arial MT"/>
              <a:cs typeface="Arial MT"/>
            </a:endParaRPr>
          </a:p>
        </p:txBody>
      </p:sp>
      <p:sp>
        <p:nvSpPr>
          <p:cNvPr id="21" name="object 18">
            <a:extLst>
              <a:ext uri="{FF2B5EF4-FFF2-40B4-BE49-F238E27FC236}">
                <a16:creationId xmlns:a16="http://schemas.microsoft.com/office/drawing/2014/main" id="{7EA916D9-B1C1-45BB-82B2-38C21E5E6827}"/>
              </a:ext>
            </a:extLst>
          </p:cNvPr>
          <p:cNvSpPr txBox="1"/>
          <p:nvPr/>
        </p:nvSpPr>
        <p:spPr>
          <a:xfrm>
            <a:off x="3162300" y="8648700"/>
            <a:ext cx="195707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solidFill>
                  <a:srgbClr val="FF2600"/>
                </a:solidFill>
                <a:latin typeface="Arial MT"/>
                <a:cs typeface="Arial MT"/>
              </a:rPr>
              <a:t>Source</a:t>
            </a:r>
            <a:r>
              <a:rPr sz="2400" spc="-95" dirty="0">
                <a:solidFill>
                  <a:srgbClr val="FF2600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FF2600"/>
                </a:solidFill>
                <a:latin typeface="Arial MT"/>
                <a:cs typeface="Arial MT"/>
              </a:rPr>
              <a:t>limited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2" name="object 19">
            <a:extLst>
              <a:ext uri="{FF2B5EF4-FFF2-40B4-BE49-F238E27FC236}">
                <a16:creationId xmlns:a16="http://schemas.microsoft.com/office/drawing/2014/main" id="{3B35C736-23A1-4759-B47D-FA0A307E7D9B}"/>
              </a:ext>
            </a:extLst>
          </p:cNvPr>
          <p:cNvSpPr txBox="1"/>
          <p:nvPr/>
        </p:nvSpPr>
        <p:spPr>
          <a:xfrm>
            <a:off x="11270080" y="5800642"/>
            <a:ext cx="112966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dirty="0">
                <a:latin typeface="Times New Roman"/>
                <a:cs typeface="Times New Roman"/>
              </a:rPr>
              <a:t>200 </a:t>
            </a:r>
            <a:r>
              <a:rPr sz="2800" spc="-25" dirty="0">
                <a:latin typeface="Times New Roman"/>
                <a:cs typeface="Times New Roman"/>
              </a:rPr>
              <a:t>µm</a:t>
            </a:r>
            <a:endParaRPr sz="2800" dirty="0">
              <a:latin typeface="Times New Roman"/>
              <a:cs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09286EE-0A7F-4403-B143-8C2E24F1B92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75877" y="6094886"/>
            <a:ext cx="2613343" cy="230946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E142787-D7ED-4C20-8E7A-554B2E47987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03121" y="6123359"/>
            <a:ext cx="2499054" cy="2173596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E6C77400-364F-41EF-B823-C5A120868D4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02175" y="6162821"/>
            <a:ext cx="2436714" cy="2173595"/>
          </a:xfrm>
          <a:prstGeom prst="rect">
            <a:avLst/>
          </a:prstGeom>
        </p:spPr>
      </p:pic>
      <p:sp>
        <p:nvSpPr>
          <p:cNvPr id="24" name="object 15">
            <a:extLst>
              <a:ext uri="{FF2B5EF4-FFF2-40B4-BE49-F238E27FC236}">
                <a16:creationId xmlns:a16="http://schemas.microsoft.com/office/drawing/2014/main" id="{26C17AC0-A9AB-4E7A-AD25-E757BDAF298A}"/>
              </a:ext>
            </a:extLst>
          </p:cNvPr>
          <p:cNvSpPr txBox="1"/>
          <p:nvPr/>
        </p:nvSpPr>
        <p:spPr>
          <a:xfrm>
            <a:off x="1320800" y="5562600"/>
            <a:ext cx="95186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800" dirty="0">
                <a:latin typeface="Times New Roman"/>
                <a:cs typeface="Times New Roman"/>
              </a:rPr>
              <a:t>3</a:t>
            </a:r>
            <a:r>
              <a:rPr sz="2800" dirty="0">
                <a:latin typeface="Times New Roman"/>
                <a:cs typeface="Times New Roman"/>
              </a:rPr>
              <a:t> </a:t>
            </a:r>
            <a:r>
              <a:rPr sz="2800" spc="-25" dirty="0">
                <a:latin typeface="Times New Roman"/>
                <a:cs typeface="Times New Roman"/>
              </a:rPr>
              <a:t>µm</a:t>
            </a:r>
            <a:endParaRPr sz="2800" dirty="0">
              <a:latin typeface="Times New Roman"/>
              <a:cs typeface="Times New Roman"/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D74EE3D5-E8BE-40B0-AE56-92B0C4AEDAB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01229" y="6241876"/>
            <a:ext cx="2378751" cy="2159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5441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E3FD60FA-ED90-406F-89CD-D04143DDE2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2486" y="2382764"/>
            <a:ext cx="3526836" cy="1153942"/>
          </a:xfrm>
          <a:prstGeom prst="rect">
            <a:avLst/>
          </a:prstGeom>
        </p:spPr>
      </p:pic>
      <p:pic>
        <p:nvPicPr>
          <p:cNvPr id="2" name="object 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726754" y="0"/>
            <a:ext cx="5278045" cy="215900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3543300" y="254000"/>
            <a:ext cx="592455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031240" algn="l"/>
                <a:tab pos="5364480" algn="l"/>
              </a:tabLst>
            </a:pPr>
            <a:r>
              <a:rPr spc="-25" dirty="0"/>
              <a:t>SGM</a:t>
            </a:r>
            <a:r>
              <a:rPr dirty="0"/>
              <a:t>	Ray</a:t>
            </a:r>
            <a:r>
              <a:rPr spc="-155" dirty="0"/>
              <a:t> </a:t>
            </a:r>
            <a:r>
              <a:rPr spc="-45" dirty="0"/>
              <a:t>Tracing</a:t>
            </a:r>
            <a:r>
              <a:rPr spc="-95" dirty="0"/>
              <a:t> </a:t>
            </a:r>
            <a:r>
              <a:rPr dirty="0"/>
              <a:t>at</a:t>
            </a:r>
            <a:r>
              <a:rPr spc="-95" dirty="0"/>
              <a:t> </a:t>
            </a:r>
            <a:r>
              <a:rPr spc="-20" dirty="0"/>
              <a:t>1600</a:t>
            </a:r>
            <a:r>
              <a:rPr dirty="0"/>
              <a:t>	</a:t>
            </a:r>
            <a:r>
              <a:rPr spc="-25" dirty="0"/>
              <a:t>eV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854638" y="4420468"/>
            <a:ext cx="1991360" cy="87185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25"/>
              </a:spcBef>
            </a:pPr>
            <a:r>
              <a:rPr sz="2750" i="1" spc="114" dirty="0">
                <a:solidFill>
                  <a:srgbClr val="0000FF"/>
                </a:solidFill>
                <a:latin typeface="Cambria"/>
                <a:cs typeface="Cambria"/>
              </a:rPr>
              <a:t>β</a:t>
            </a:r>
            <a:r>
              <a:rPr sz="2750" i="1" spc="310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750" spc="640" dirty="0">
                <a:solidFill>
                  <a:srgbClr val="0000FF"/>
                </a:solidFill>
                <a:latin typeface="Cambria"/>
                <a:cs typeface="Cambria"/>
              </a:rPr>
              <a:t>=</a:t>
            </a:r>
            <a:r>
              <a:rPr sz="2750" spc="170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750" i="1" spc="-605" dirty="0">
                <a:solidFill>
                  <a:srgbClr val="0000FF"/>
                </a:solidFill>
                <a:latin typeface="Arial"/>
                <a:cs typeface="Arial"/>
              </a:rPr>
              <a:t>—</a:t>
            </a:r>
            <a:r>
              <a:rPr sz="2750" spc="-10" dirty="0">
                <a:solidFill>
                  <a:srgbClr val="0000FF"/>
                </a:solidFill>
                <a:latin typeface="Cambria"/>
                <a:cs typeface="Cambria"/>
              </a:rPr>
              <a:t>88</a:t>
            </a:r>
            <a:r>
              <a:rPr sz="2750" i="1" spc="-10" dirty="0">
                <a:solidFill>
                  <a:srgbClr val="0000FF"/>
                </a:solidFill>
                <a:latin typeface="Cambria"/>
                <a:cs typeface="Cambria"/>
              </a:rPr>
              <a:t>.</a:t>
            </a:r>
            <a:r>
              <a:rPr sz="2750" spc="-10" dirty="0">
                <a:solidFill>
                  <a:srgbClr val="0000FF"/>
                </a:solidFill>
                <a:latin typeface="Cambria"/>
                <a:cs typeface="Cambria"/>
              </a:rPr>
              <a:t>77</a:t>
            </a:r>
            <a:r>
              <a:rPr sz="2925" spc="-15" baseline="32763" dirty="0">
                <a:solidFill>
                  <a:srgbClr val="0000FF"/>
                </a:solidFill>
                <a:latin typeface="Calibri"/>
                <a:cs typeface="Calibri"/>
              </a:rPr>
              <a:t>o</a:t>
            </a:r>
            <a:endParaRPr sz="2925" baseline="32763">
              <a:latin typeface="Calibri"/>
              <a:cs typeface="Calibri"/>
            </a:endParaRPr>
          </a:p>
          <a:p>
            <a:pPr marL="38100">
              <a:lnSpc>
                <a:spcPct val="100000"/>
              </a:lnSpc>
              <a:spcBef>
                <a:spcPts val="30"/>
              </a:spcBef>
            </a:pPr>
            <a:r>
              <a:rPr sz="2750" i="1" spc="229" dirty="0">
                <a:solidFill>
                  <a:srgbClr val="0000FF"/>
                </a:solidFill>
                <a:latin typeface="Cambria"/>
                <a:cs typeface="Cambria"/>
              </a:rPr>
              <a:t>α</a:t>
            </a:r>
            <a:r>
              <a:rPr sz="2750" i="1" spc="180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750" spc="640" dirty="0">
                <a:solidFill>
                  <a:srgbClr val="0000FF"/>
                </a:solidFill>
                <a:latin typeface="Cambria"/>
                <a:cs typeface="Cambria"/>
              </a:rPr>
              <a:t>=</a:t>
            </a:r>
            <a:r>
              <a:rPr sz="2750" spc="170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750" spc="-10" dirty="0">
                <a:solidFill>
                  <a:srgbClr val="0000FF"/>
                </a:solidFill>
                <a:latin typeface="Cambria"/>
                <a:cs typeface="Cambria"/>
              </a:rPr>
              <a:t>87</a:t>
            </a:r>
            <a:r>
              <a:rPr sz="2750" i="1" spc="-10" dirty="0">
                <a:solidFill>
                  <a:srgbClr val="0000FF"/>
                </a:solidFill>
                <a:latin typeface="Cambria"/>
                <a:cs typeface="Cambria"/>
              </a:rPr>
              <a:t>.</a:t>
            </a:r>
            <a:r>
              <a:rPr sz="2750" spc="-10" dirty="0">
                <a:solidFill>
                  <a:srgbClr val="0000FF"/>
                </a:solidFill>
                <a:latin typeface="Cambria"/>
                <a:cs typeface="Cambria"/>
              </a:rPr>
              <a:t>63</a:t>
            </a:r>
            <a:r>
              <a:rPr sz="2925" spc="-15" baseline="32763" dirty="0">
                <a:solidFill>
                  <a:srgbClr val="0000FF"/>
                </a:solidFill>
                <a:latin typeface="Calibri"/>
                <a:cs typeface="Calibri"/>
              </a:rPr>
              <a:t>o</a:t>
            </a:r>
            <a:endParaRPr sz="2925" baseline="32763">
              <a:latin typeface="Calibri"/>
              <a:cs typeface="Calibri"/>
            </a:endParaRPr>
          </a:p>
        </p:txBody>
      </p:sp>
      <p:sp>
        <p:nvSpPr>
          <p:cNvPr id="19" name="object 19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pc="-10" dirty="0"/>
              <a:t>Software</a:t>
            </a:r>
            <a:r>
              <a:rPr spc="-50" dirty="0"/>
              <a:t> </a:t>
            </a:r>
            <a:r>
              <a:rPr dirty="0"/>
              <a:t>for</a:t>
            </a:r>
            <a:r>
              <a:rPr spc="-45" dirty="0"/>
              <a:t> </a:t>
            </a:r>
            <a:r>
              <a:rPr dirty="0"/>
              <a:t>Optical</a:t>
            </a:r>
            <a:r>
              <a:rPr spc="-45" dirty="0"/>
              <a:t> </a:t>
            </a:r>
            <a:r>
              <a:rPr dirty="0"/>
              <a:t>Simulations,</a:t>
            </a:r>
            <a:r>
              <a:rPr spc="-45" dirty="0"/>
              <a:t> </a:t>
            </a:r>
            <a:r>
              <a:rPr spc="-20" dirty="0"/>
              <a:t>Trieste,</a:t>
            </a:r>
            <a:r>
              <a:rPr spc="-45" dirty="0"/>
              <a:t> </a:t>
            </a:r>
            <a:r>
              <a:rPr dirty="0"/>
              <a:t>October</a:t>
            </a:r>
            <a:r>
              <a:rPr spc="-45" dirty="0"/>
              <a:t> </a:t>
            </a:r>
            <a:r>
              <a:rPr dirty="0"/>
              <a:t>2016.</a:t>
            </a:r>
            <a:r>
              <a:rPr spc="-45" dirty="0"/>
              <a:t> </a:t>
            </a:r>
            <a:r>
              <a:rPr dirty="0"/>
              <a:t>Ruben</a:t>
            </a:r>
            <a:r>
              <a:rPr spc="-45" dirty="0"/>
              <a:t> </a:t>
            </a:r>
            <a:r>
              <a:rPr spc="-10" dirty="0"/>
              <a:t>Reininger</a:t>
            </a:r>
          </a:p>
        </p:txBody>
      </p:sp>
      <p:sp>
        <p:nvSpPr>
          <p:cNvPr id="20" name="object 2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25" dirty="0"/>
              <a:t>22</a:t>
            </a:fld>
            <a:endParaRPr spc="-25" dirty="0"/>
          </a:p>
        </p:txBody>
      </p:sp>
      <p:sp>
        <p:nvSpPr>
          <p:cNvPr id="21" name="object 21"/>
          <p:cNvSpPr txBox="1"/>
          <p:nvPr/>
        </p:nvSpPr>
        <p:spPr>
          <a:xfrm>
            <a:off x="1069339" y="9384967"/>
            <a:ext cx="72390" cy="211454"/>
          </a:xfrm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sz="1200" spc="-50" dirty="0">
                <a:solidFill>
                  <a:srgbClr val="275D90"/>
                </a:solidFill>
                <a:latin typeface="Calibri"/>
                <a:cs typeface="Calibri"/>
              </a:rPr>
              <a:t>-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930838" y="1143960"/>
            <a:ext cx="1050290" cy="45021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2750" spc="-10" dirty="0">
                <a:solidFill>
                  <a:srgbClr val="FF0000"/>
                </a:solidFill>
                <a:latin typeface="Cambria"/>
                <a:cs typeface="Cambria"/>
              </a:rPr>
              <a:t>Source</a:t>
            </a:r>
            <a:endParaRPr sz="2750">
              <a:latin typeface="Cambria"/>
              <a:cs typeface="Cambria"/>
            </a:endParaRPr>
          </a:p>
        </p:txBody>
      </p:sp>
      <p:sp>
        <p:nvSpPr>
          <p:cNvPr id="22" name="object 7">
            <a:extLst>
              <a:ext uri="{FF2B5EF4-FFF2-40B4-BE49-F238E27FC236}">
                <a16:creationId xmlns:a16="http://schemas.microsoft.com/office/drawing/2014/main" id="{F472A029-8678-447E-BF3B-A46CB497332A}"/>
              </a:ext>
            </a:extLst>
          </p:cNvPr>
          <p:cNvSpPr txBox="1"/>
          <p:nvPr/>
        </p:nvSpPr>
        <p:spPr>
          <a:xfrm>
            <a:off x="892738" y="1143960"/>
            <a:ext cx="2409262" cy="2158924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135"/>
              </a:spcBef>
            </a:pPr>
            <a:r>
              <a:rPr sz="2750" spc="-10" dirty="0">
                <a:solidFill>
                  <a:srgbClr val="FF0000"/>
                </a:solidFill>
                <a:latin typeface="Cambria"/>
                <a:cs typeface="Cambria"/>
              </a:rPr>
              <a:t>Source</a:t>
            </a:r>
            <a:endParaRPr sz="2750" dirty="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160"/>
              </a:spcBef>
            </a:pPr>
            <a:endParaRPr sz="2750" dirty="0">
              <a:latin typeface="Cambria"/>
              <a:cs typeface="Cambria"/>
            </a:endParaRPr>
          </a:p>
          <a:p>
            <a:pPr marL="50800">
              <a:lnSpc>
                <a:spcPct val="100000"/>
              </a:lnSpc>
            </a:pPr>
            <a:r>
              <a:rPr sz="2750" i="1" spc="480" dirty="0">
                <a:solidFill>
                  <a:srgbClr val="FF0000"/>
                </a:solidFill>
                <a:latin typeface="Cambria"/>
                <a:cs typeface="Cambria"/>
              </a:rPr>
              <a:t>E</a:t>
            </a:r>
            <a:r>
              <a:rPr sz="2750" i="1" spc="325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2750" spc="640" dirty="0">
                <a:solidFill>
                  <a:srgbClr val="FF0000"/>
                </a:solidFill>
                <a:latin typeface="Cambria"/>
                <a:cs typeface="Cambria"/>
              </a:rPr>
              <a:t>=</a:t>
            </a:r>
            <a:r>
              <a:rPr sz="2750" spc="170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2750" spc="-10" dirty="0">
                <a:solidFill>
                  <a:srgbClr val="FF0000"/>
                </a:solidFill>
                <a:latin typeface="Cambria"/>
                <a:cs typeface="Cambria"/>
              </a:rPr>
              <a:t>1600</a:t>
            </a:r>
            <a:r>
              <a:rPr lang="en-US" sz="2750" spc="-10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2750" spc="-10" dirty="0">
                <a:solidFill>
                  <a:srgbClr val="FF0000"/>
                </a:solidFill>
                <a:latin typeface="Cambria"/>
                <a:cs typeface="Cambria"/>
              </a:rPr>
              <a:t>eV</a:t>
            </a:r>
            <a:endParaRPr sz="2750" dirty="0">
              <a:latin typeface="Cambria"/>
              <a:cs typeface="Cambria"/>
            </a:endParaRPr>
          </a:p>
          <a:p>
            <a:pPr marL="50800">
              <a:lnSpc>
                <a:spcPct val="100000"/>
              </a:lnSpc>
              <a:spcBef>
                <a:spcPts val="45"/>
              </a:spcBef>
            </a:pPr>
            <a:r>
              <a:rPr lang="en-US" sz="2750" spc="445" dirty="0" err="1">
                <a:solidFill>
                  <a:srgbClr val="FF0000"/>
                </a:solidFill>
                <a:latin typeface="Symbol" panose="05050102010706020507" pitchFamily="18" charset="2"/>
                <a:cs typeface="Cambria"/>
              </a:rPr>
              <a:t>S</a:t>
            </a:r>
            <a:r>
              <a:rPr sz="2925" i="1" spc="667" baseline="-11396" dirty="0" err="1">
                <a:solidFill>
                  <a:srgbClr val="FF0000"/>
                </a:solidFill>
                <a:latin typeface="Calibri"/>
                <a:cs typeface="Calibri"/>
              </a:rPr>
              <a:t>x</a:t>
            </a:r>
            <a:r>
              <a:rPr sz="2925" i="1" spc="697" baseline="-11396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750" spc="640" dirty="0">
                <a:solidFill>
                  <a:srgbClr val="FF0000"/>
                </a:solidFill>
                <a:latin typeface="Cambria"/>
                <a:cs typeface="Cambria"/>
              </a:rPr>
              <a:t>=</a:t>
            </a:r>
            <a:r>
              <a:rPr sz="2750" spc="175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2750" spc="-20" dirty="0">
                <a:solidFill>
                  <a:srgbClr val="FF0000"/>
                </a:solidFill>
                <a:latin typeface="Cambria"/>
                <a:cs typeface="Cambria"/>
              </a:rPr>
              <a:t>280</a:t>
            </a:r>
            <a:r>
              <a:rPr lang="en-US" sz="2750" spc="-20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2750" i="1" spc="-20" dirty="0">
                <a:solidFill>
                  <a:srgbClr val="FF0000"/>
                </a:solidFill>
                <a:latin typeface="Cambria"/>
                <a:cs typeface="Cambria"/>
              </a:rPr>
              <a:t>µ</a:t>
            </a:r>
            <a:r>
              <a:rPr sz="2750" spc="-20" dirty="0">
                <a:solidFill>
                  <a:srgbClr val="FF0000"/>
                </a:solidFill>
                <a:latin typeface="Cambria"/>
                <a:cs typeface="Cambria"/>
              </a:rPr>
              <a:t>m</a:t>
            </a:r>
            <a:endParaRPr sz="2750" dirty="0">
              <a:latin typeface="Cambria"/>
              <a:cs typeface="Cambria"/>
            </a:endParaRPr>
          </a:p>
          <a:p>
            <a:pPr marL="50800">
              <a:lnSpc>
                <a:spcPct val="100000"/>
              </a:lnSpc>
              <a:spcBef>
                <a:spcPts val="45"/>
              </a:spcBef>
            </a:pPr>
            <a:r>
              <a:rPr lang="en-US" sz="2750" spc="445" dirty="0" err="1">
                <a:solidFill>
                  <a:srgbClr val="FF0000"/>
                </a:solidFill>
                <a:latin typeface="Symbol" panose="05050102010706020507" pitchFamily="18" charset="2"/>
                <a:cs typeface="Cambria"/>
              </a:rPr>
              <a:t>S</a:t>
            </a:r>
            <a:r>
              <a:rPr sz="2925" i="1" spc="577" baseline="-11396" dirty="0" err="1">
                <a:solidFill>
                  <a:srgbClr val="FF0000"/>
                </a:solidFill>
                <a:latin typeface="Calibri"/>
                <a:cs typeface="Calibri"/>
              </a:rPr>
              <a:t>z</a:t>
            </a:r>
            <a:r>
              <a:rPr sz="2925" i="1" spc="817" baseline="-11396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750" spc="640" dirty="0">
                <a:solidFill>
                  <a:srgbClr val="FF0000"/>
                </a:solidFill>
                <a:latin typeface="Cambria"/>
                <a:cs typeface="Cambria"/>
              </a:rPr>
              <a:t>=</a:t>
            </a:r>
            <a:r>
              <a:rPr sz="2750" spc="175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2750" spc="-10" dirty="0">
                <a:solidFill>
                  <a:srgbClr val="FF0000"/>
                </a:solidFill>
                <a:latin typeface="Cambria"/>
                <a:cs typeface="Cambria"/>
              </a:rPr>
              <a:t>154</a:t>
            </a:r>
            <a:r>
              <a:rPr lang="en-US" sz="2750" spc="-10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2750" i="1" spc="-10" dirty="0">
                <a:solidFill>
                  <a:srgbClr val="FF0000"/>
                </a:solidFill>
                <a:latin typeface="Cambria"/>
                <a:cs typeface="Cambria"/>
              </a:rPr>
              <a:t>µ</a:t>
            </a:r>
            <a:r>
              <a:rPr sz="2750" spc="-10" dirty="0">
                <a:solidFill>
                  <a:srgbClr val="FF0000"/>
                </a:solidFill>
                <a:latin typeface="Cambria"/>
                <a:cs typeface="Cambria"/>
              </a:rPr>
              <a:t>m</a:t>
            </a:r>
            <a:endParaRPr sz="2750" dirty="0">
              <a:latin typeface="Cambria"/>
              <a:cs typeface="Cambria"/>
            </a:endParaRPr>
          </a:p>
        </p:txBody>
      </p:sp>
      <p:sp>
        <p:nvSpPr>
          <p:cNvPr id="23" name="object 8">
            <a:extLst>
              <a:ext uri="{FF2B5EF4-FFF2-40B4-BE49-F238E27FC236}">
                <a16:creationId xmlns:a16="http://schemas.microsoft.com/office/drawing/2014/main" id="{16F513CB-12B7-450E-B50B-AEBCCBAE6E77}"/>
              </a:ext>
            </a:extLst>
          </p:cNvPr>
          <p:cNvSpPr txBox="1"/>
          <p:nvPr/>
        </p:nvSpPr>
        <p:spPr>
          <a:xfrm>
            <a:off x="905438" y="3249289"/>
            <a:ext cx="2650562" cy="95346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35"/>
              </a:spcBef>
            </a:pPr>
            <a:r>
              <a:rPr lang="en-US" sz="3200" spc="445" dirty="0" err="1">
                <a:solidFill>
                  <a:srgbClr val="FF0000"/>
                </a:solidFill>
                <a:latin typeface="Symbol" panose="05050102010706020507" pitchFamily="18" charset="2"/>
                <a:cs typeface="Cambria"/>
              </a:rPr>
              <a:t>S</a:t>
            </a:r>
            <a:r>
              <a:rPr lang="en-US" sz="3600" i="1" spc="667" baseline="-11396" dirty="0" err="1">
                <a:solidFill>
                  <a:srgbClr val="FF0000"/>
                </a:solidFill>
                <a:latin typeface="Calibri"/>
                <a:cs typeface="Calibri"/>
              </a:rPr>
              <a:t>x</a:t>
            </a:r>
            <a:r>
              <a:rPr lang="en-US" sz="3600" i="1" spc="667" baseline="-11396" dirty="0">
                <a:solidFill>
                  <a:srgbClr val="FF0000"/>
                </a:solidFill>
                <a:latin typeface="Calibri"/>
                <a:cs typeface="Calibri"/>
              </a:rPr>
              <a:t>’</a:t>
            </a:r>
            <a:r>
              <a:rPr lang="en-US" sz="3600" i="1" spc="697" baseline="-11396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3200" spc="640" dirty="0">
                <a:solidFill>
                  <a:srgbClr val="FF0000"/>
                </a:solidFill>
                <a:latin typeface="Cambria"/>
                <a:cs typeface="Cambria"/>
              </a:rPr>
              <a:t>=</a:t>
            </a:r>
            <a:r>
              <a:rPr lang="en-GB" sz="3200" spc="-10" dirty="0">
                <a:solidFill>
                  <a:srgbClr val="FF0000"/>
                </a:solidFill>
                <a:latin typeface="Cambria"/>
                <a:cs typeface="Cambria"/>
              </a:rPr>
              <a:t> 18 </a:t>
            </a:r>
            <a:r>
              <a:rPr lang="en-GB" sz="3200" i="1" spc="-10" dirty="0">
                <a:solidFill>
                  <a:srgbClr val="FF0000"/>
                </a:solidFill>
                <a:latin typeface="Cambria"/>
                <a:cs typeface="Cambria"/>
              </a:rPr>
              <a:t>µ</a:t>
            </a:r>
            <a:r>
              <a:rPr lang="en-GB" sz="3200" spc="-10" dirty="0">
                <a:solidFill>
                  <a:srgbClr val="FF0000"/>
                </a:solidFill>
                <a:latin typeface="Cambria"/>
                <a:cs typeface="Cambria"/>
              </a:rPr>
              <a:t>rad</a:t>
            </a:r>
            <a:r>
              <a:rPr lang="en-US" sz="3200" spc="175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</a:p>
          <a:p>
            <a:pPr marL="38100">
              <a:lnSpc>
                <a:spcPct val="100000"/>
              </a:lnSpc>
              <a:spcBef>
                <a:spcPts val="135"/>
              </a:spcBef>
            </a:pPr>
            <a:r>
              <a:rPr lang="en-US" sz="2800" spc="445" dirty="0" err="1">
                <a:solidFill>
                  <a:srgbClr val="FF0000"/>
                </a:solidFill>
                <a:latin typeface="Symbol" panose="05050102010706020507" pitchFamily="18" charset="2"/>
                <a:cs typeface="Cambria"/>
              </a:rPr>
              <a:t>S</a:t>
            </a:r>
            <a:r>
              <a:rPr lang="en-US" sz="3200" i="1" spc="577" baseline="-11396" dirty="0" err="1">
                <a:solidFill>
                  <a:srgbClr val="FF0000"/>
                </a:solidFill>
                <a:latin typeface="Calibri"/>
                <a:cs typeface="Calibri"/>
              </a:rPr>
              <a:t>z</a:t>
            </a:r>
            <a:r>
              <a:rPr lang="en-US" sz="3200" i="1" spc="577" baseline="-11396" dirty="0">
                <a:solidFill>
                  <a:srgbClr val="FF0000"/>
                </a:solidFill>
                <a:latin typeface="Calibri"/>
                <a:cs typeface="Calibri"/>
              </a:rPr>
              <a:t>’</a:t>
            </a:r>
            <a:r>
              <a:rPr lang="en-US" sz="3200" i="1" spc="817" baseline="-11396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800" spc="640" dirty="0">
                <a:solidFill>
                  <a:srgbClr val="FF0000"/>
                </a:solidFill>
                <a:latin typeface="Cambria"/>
                <a:cs typeface="Cambria"/>
              </a:rPr>
              <a:t>=</a:t>
            </a:r>
            <a:r>
              <a:rPr lang="en-GB" sz="2800" spc="-10" dirty="0">
                <a:solidFill>
                  <a:srgbClr val="FF0000"/>
                </a:solidFill>
                <a:latin typeface="Cambria"/>
                <a:cs typeface="Cambria"/>
              </a:rPr>
              <a:t> 14 </a:t>
            </a:r>
            <a:r>
              <a:rPr lang="en-GB" sz="2800" i="1" spc="-10" dirty="0">
                <a:solidFill>
                  <a:srgbClr val="FF0000"/>
                </a:solidFill>
                <a:latin typeface="Cambria"/>
                <a:cs typeface="Cambria"/>
              </a:rPr>
              <a:t>µ</a:t>
            </a:r>
            <a:r>
              <a:rPr lang="en-GB" sz="2800" spc="-10" dirty="0">
                <a:solidFill>
                  <a:srgbClr val="FF0000"/>
                </a:solidFill>
                <a:latin typeface="Cambria"/>
                <a:cs typeface="Cambria"/>
              </a:rPr>
              <a:t>rad</a:t>
            </a:r>
            <a:endParaRPr sz="2800" dirty="0">
              <a:latin typeface="+mj-lt"/>
              <a:cs typeface="Trebuchet MS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377CA5C-7A02-4C9F-B5E1-0AF5BAD4AB5D}"/>
              </a:ext>
            </a:extLst>
          </p:cNvPr>
          <p:cNvSpPr/>
          <p:nvPr/>
        </p:nvSpPr>
        <p:spPr>
          <a:xfrm>
            <a:off x="71328" y="0"/>
            <a:ext cx="249299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02_SGM_1600eV.ows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C4231F85-14A5-414B-A204-E4DC8AE5C4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0361" y="1521056"/>
            <a:ext cx="4664078" cy="3211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7036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E3FD60FA-ED90-406F-89CD-D04143DDE2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2486" y="2382764"/>
            <a:ext cx="3526836" cy="1153942"/>
          </a:xfrm>
          <a:prstGeom prst="rect">
            <a:avLst/>
          </a:prstGeom>
        </p:spPr>
      </p:pic>
      <p:pic>
        <p:nvPicPr>
          <p:cNvPr id="2" name="object 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726754" y="0"/>
            <a:ext cx="5278045" cy="215900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3543300" y="254000"/>
            <a:ext cx="592455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031240" algn="l"/>
                <a:tab pos="5364480" algn="l"/>
              </a:tabLst>
            </a:pPr>
            <a:r>
              <a:rPr spc="-25" dirty="0"/>
              <a:t>SGM</a:t>
            </a:r>
            <a:r>
              <a:rPr dirty="0"/>
              <a:t>	Ray</a:t>
            </a:r>
            <a:r>
              <a:rPr spc="-155" dirty="0"/>
              <a:t> </a:t>
            </a:r>
            <a:r>
              <a:rPr spc="-45" dirty="0"/>
              <a:t>Tracing</a:t>
            </a:r>
            <a:r>
              <a:rPr spc="-95" dirty="0"/>
              <a:t> </a:t>
            </a:r>
            <a:r>
              <a:rPr dirty="0"/>
              <a:t>at</a:t>
            </a:r>
            <a:r>
              <a:rPr spc="-95" dirty="0"/>
              <a:t> </a:t>
            </a:r>
            <a:r>
              <a:rPr spc="-20" dirty="0"/>
              <a:t>1600</a:t>
            </a:r>
            <a:r>
              <a:rPr dirty="0"/>
              <a:t>	</a:t>
            </a:r>
            <a:r>
              <a:rPr spc="-25" dirty="0"/>
              <a:t>eV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10642600" y="5722788"/>
            <a:ext cx="1490345" cy="33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620"/>
              </a:lnSpc>
            </a:pPr>
            <a:r>
              <a:rPr sz="2400" dirty="0">
                <a:solidFill>
                  <a:srgbClr val="FF2600"/>
                </a:solidFill>
                <a:latin typeface="Times New Roman"/>
                <a:cs typeface="Times New Roman"/>
              </a:rPr>
              <a:t>Not</a:t>
            </a:r>
            <a:r>
              <a:rPr sz="2400" spc="-20" dirty="0">
                <a:solidFill>
                  <a:srgbClr val="FF2600"/>
                </a:solidFill>
                <a:latin typeface="Times New Roman"/>
                <a:cs typeface="Times New Roman"/>
              </a:rPr>
              <a:t> </a:t>
            </a:r>
            <a:r>
              <a:rPr sz="2400" dirty="0">
                <a:solidFill>
                  <a:srgbClr val="FF2600"/>
                </a:solidFill>
                <a:latin typeface="Times New Roman"/>
                <a:cs typeface="Times New Roman"/>
              </a:rPr>
              <a:t>at</a:t>
            </a:r>
            <a:r>
              <a:rPr sz="2400" spc="-15" dirty="0">
                <a:solidFill>
                  <a:srgbClr val="FF2600"/>
                </a:solidFill>
                <a:latin typeface="Times New Roman"/>
                <a:cs typeface="Times New Roman"/>
              </a:rPr>
              <a:t> </a:t>
            </a:r>
            <a:r>
              <a:rPr sz="2400" spc="-10" dirty="0">
                <a:solidFill>
                  <a:srgbClr val="FF2600"/>
                </a:solidFill>
                <a:latin typeface="Times New Roman"/>
                <a:cs typeface="Times New Roman"/>
              </a:rPr>
              <a:t>focus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400300" y="5638800"/>
            <a:ext cx="974725" cy="746760"/>
          </a:xfrm>
          <a:prstGeom prst="rect">
            <a:avLst/>
          </a:prstGeom>
        </p:spPr>
        <p:txBody>
          <a:bodyPr vert="horz" wrap="square" lIns="0" tIns="33020" rIns="0" bIns="0" rtlCol="0">
            <a:spAutoFit/>
          </a:bodyPr>
          <a:lstStyle/>
          <a:p>
            <a:pPr marL="12700" marR="5080">
              <a:lnSpc>
                <a:spcPts val="2800"/>
              </a:lnSpc>
              <a:spcBef>
                <a:spcPts val="260"/>
              </a:spcBef>
            </a:pPr>
            <a:r>
              <a:rPr sz="2400" spc="-10" dirty="0">
                <a:solidFill>
                  <a:srgbClr val="FF2600"/>
                </a:solidFill>
                <a:latin typeface="Arial MT"/>
                <a:cs typeface="Arial MT"/>
              </a:rPr>
              <a:t>Sanity Check!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2141200" y="3111500"/>
            <a:ext cx="2578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90" dirty="0">
                <a:solidFill>
                  <a:srgbClr val="FF2600"/>
                </a:solidFill>
                <a:latin typeface="Segoe UI Symbol"/>
                <a:cs typeface="Segoe UI Symbol"/>
              </a:rPr>
              <a:t>✖</a:t>
            </a:r>
            <a:endParaRPr sz="2400">
              <a:latin typeface="Segoe UI Symbol"/>
              <a:cs typeface="Segoe UI Symbo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54638" y="4420468"/>
            <a:ext cx="1991360" cy="87185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25"/>
              </a:spcBef>
            </a:pPr>
            <a:r>
              <a:rPr sz="2750" i="1" spc="114" dirty="0">
                <a:solidFill>
                  <a:srgbClr val="0000FF"/>
                </a:solidFill>
                <a:latin typeface="Cambria"/>
                <a:cs typeface="Cambria"/>
              </a:rPr>
              <a:t>β</a:t>
            </a:r>
            <a:r>
              <a:rPr sz="2750" i="1" spc="310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750" spc="640" dirty="0">
                <a:solidFill>
                  <a:srgbClr val="0000FF"/>
                </a:solidFill>
                <a:latin typeface="Cambria"/>
                <a:cs typeface="Cambria"/>
              </a:rPr>
              <a:t>=</a:t>
            </a:r>
            <a:r>
              <a:rPr sz="2750" spc="170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750" i="1" spc="-605" dirty="0">
                <a:solidFill>
                  <a:srgbClr val="0000FF"/>
                </a:solidFill>
                <a:latin typeface="Arial"/>
                <a:cs typeface="Arial"/>
              </a:rPr>
              <a:t>—</a:t>
            </a:r>
            <a:r>
              <a:rPr sz="2750" spc="-10" dirty="0">
                <a:solidFill>
                  <a:srgbClr val="0000FF"/>
                </a:solidFill>
                <a:latin typeface="Cambria"/>
                <a:cs typeface="Cambria"/>
              </a:rPr>
              <a:t>88</a:t>
            </a:r>
            <a:r>
              <a:rPr sz="2750" i="1" spc="-10" dirty="0">
                <a:solidFill>
                  <a:srgbClr val="0000FF"/>
                </a:solidFill>
                <a:latin typeface="Cambria"/>
                <a:cs typeface="Cambria"/>
              </a:rPr>
              <a:t>.</a:t>
            </a:r>
            <a:r>
              <a:rPr sz="2750" spc="-10" dirty="0">
                <a:solidFill>
                  <a:srgbClr val="0000FF"/>
                </a:solidFill>
                <a:latin typeface="Cambria"/>
                <a:cs typeface="Cambria"/>
              </a:rPr>
              <a:t>77</a:t>
            </a:r>
            <a:r>
              <a:rPr sz="2925" spc="-15" baseline="32763" dirty="0">
                <a:solidFill>
                  <a:srgbClr val="0000FF"/>
                </a:solidFill>
                <a:latin typeface="Calibri"/>
                <a:cs typeface="Calibri"/>
              </a:rPr>
              <a:t>o</a:t>
            </a:r>
            <a:endParaRPr sz="2925" baseline="32763">
              <a:latin typeface="Calibri"/>
              <a:cs typeface="Calibri"/>
            </a:endParaRPr>
          </a:p>
          <a:p>
            <a:pPr marL="38100">
              <a:lnSpc>
                <a:spcPct val="100000"/>
              </a:lnSpc>
              <a:spcBef>
                <a:spcPts val="30"/>
              </a:spcBef>
            </a:pPr>
            <a:r>
              <a:rPr sz="2750" i="1" spc="229" dirty="0">
                <a:solidFill>
                  <a:srgbClr val="0000FF"/>
                </a:solidFill>
                <a:latin typeface="Cambria"/>
                <a:cs typeface="Cambria"/>
              </a:rPr>
              <a:t>α</a:t>
            </a:r>
            <a:r>
              <a:rPr sz="2750" i="1" spc="180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750" spc="640" dirty="0">
                <a:solidFill>
                  <a:srgbClr val="0000FF"/>
                </a:solidFill>
                <a:latin typeface="Cambria"/>
                <a:cs typeface="Cambria"/>
              </a:rPr>
              <a:t>=</a:t>
            </a:r>
            <a:r>
              <a:rPr sz="2750" spc="170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750" spc="-10" dirty="0">
                <a:solidFill>
                  <a:srgbClr val="0000FF"/>
                </a:solidFill>
                <a:latin typeface="Cambria"/>
                <a:cs typeface="Cambria"/>
              </a:rPr>
              <a:t>87</a:t>
            </a:r>
            <a:r>
              <a:rPr sz="2750" i="1" spc="-10" dirty="0">
                <a:solidFill>
                  <a:srgbClr val="0000FF"/>
                </a:solidFill>
                <a:latin typeface="Cambria"/>
                <a:cs typeface="Cambria"/>
              </a:rPr>
              <a:t>.</a:t>
            </a:r>
            <a:r>
              <a:rPr sz="2750" spc="-10" dirty="0">
                <a:solidFill>
                  <a:srgbClr val="0000FF"/>
                </a:solidFill>
                <a:latin typeface="Cambria"/>
                <a:cs typeface="Cambria"/>
              </a:rPr>
              <a:t>63</a:t>
            </a:r>
            <a:r>
              <a:rPr sz="2925" spc="-15" baseline="32763" dirty="0">
                <a:solidFill>
                  <a:srgbClr val="0000FF"/>
                </a:solidFill>
                <a:latin typeface="Calibri"/>
                <a:cs typeface="Calibri"/>
              </a:rPr>
              <a:t>o</a:t>
            </a:r>
            <a:endParaRPr sz="2925" baseline="32763">
              <a:latin typeface="Calibri"/>
              <a:cs typeface="Calibri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6206769" y="6013566"/>
            <a:ext cx="1745614" cy="0"/>
          </a:xfrm>
          <a:custGeom>
            <a:avLst/>
            <a:gdLst/>
            <a:ahLst/>
            <a:cxnLst/>
            <a:rect l="l" t="t" r="r" b="b"/>
            <a:pathLst>
              <a:path w="1745615">
                <a:moveTo>
                  <a:pt x="0" y="0"/>
                </a:moveTo>
                <a:lnTo>
                  <a:pt x="1745391" y="0"/>
                </a:lnTo>
              </a:path>
            </a:pathLst>
          </a:custGeom>
          <a:ln w="1430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8037184" y="6013566"/>
            <a:ext cx="269240" cy="0"/>
          </a:xfrm>
          <a:custGeom>
            <a:avLst/>
            <a:gdLst/>
            <a:ahLst/>
            <a:cxnLst/>
            <a:rect l="l" t="t" r="r" b="b"/>
            <a:pathLst>
              <a:path w="269240">
                <a:moveTo>
                  <a:pt x="0" y="0"/>
                </a:moveTo>
                <a:lnTo>
                  <a:pt x="269082" y="0"/>
                </a:lnTo>
              </a:path>
            </a:pathLst>
          </a:custGeom>
          <a:ln w="1430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4093138" y="5490094"/>
            <a:ext cx="5763260" cy="69786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545465" algn="ctr">
              <a:lnSpc>
                <a:spcPts val="2635"/>
              </a:lnSpc>
              <a:spcBef>
                <a:spcPts val="120"/>
              </a:spcBef>
            </a:pPr>
            <a:r>
              <a:rPr sz="2800" spc="-80" dirty="0">
                <a:latin typeface="Cambria"/>
                <a:cs typeface="Cambria"/>
              </a:rPr>
              <a:t>cos</a:t>
            </a:r>
            <a:r>
              <a:rPr sz="2800" spc="-155" dirty="0">
                <a:latin typeface="Cambria"/>
                <a:cs typeface="Cambria"/>
              </a:rPr>
              <a:t> </a:t>
            </a:r>
            <a:r>
              <a:rPr sz="2800" i="1" spc="-40" dirty="0">
                <a:latin typeface="Cambria"/>
                <a:cs typeface="Cambria"/>
              </a:rPr>
              <a:t>α</a:t>
            </a:r>
            <a:r>
              <a:rPr sz="2800" spc="-40" dirty="0">
                <a:latin typeface="Cambria"/>
                <a:cs typeface="Cambria"/>
              </a:rPr>
              <a:t>(1600)</a:t>
            </a:r>
            <a:r>
              <a:rPr sz="2800" spc="-70" dirty="0">
                <a:latin typeface="Cambria"/>
                <a:cs typeface="Cambria"/>
              </a:rPr>
              <a:t> </a:t>
            </a:r>
            <a:r>
              <a:rPr sz="2800" i="1" spc="-25" dirty="0">
                <a:latin typeface="Cambria"/>
                <a:cs typeface="Cambria"/>
              </a:rPr>
              <a:t>r</a:t>
            </a:r>
            <a:r>
              <a:rPr lang="en-US" sz="2925" i="1" spc="-37" baseline="28490" dirty="0">
                <a:latin typeface="Times New Roman"/>
                <a:cs typeface="Times New Roman"/>
              </a:rPr>
              <a:t>'</a:t>
            </a:r>
            <a:endParaRPr sz="2925" baseline="28490" dirty="0">
              <a:latin typeface="Times New Roman"/>
              <a:cs typeface="Times New Roman"/>
            </a:endParaRPr>
          </a:p>
          <a:p>
            <a:pPr marL="38100">
              <a:lnSpc>
                <a:spcPts val="2635"/>
              </a:lnSpc>
              <a:tabLst>
                <a:tab pos="3993515" algn="l"/>
                <a:tab pos="4353560" algn="l"/>
              </a:tabLst>
            </a:pPr>
            <a:r>
              <a:rPr sz="2800" spc="70" dirty="0">
                <a:latin typeface="Cambria"/>
                <a:cs typeface="Cambria"/>
              </a:rPr>
              <a:t>2</a:t>
            </a:r>
            <a:r>
              <a:rPr sz="2800" i="1" spc="70" dirty="0">
                <a:latin typeface="Cambria"/>
                <a:cs typeface="Cambria"/>
              </a:rPr>
              <a:t>.</a:t>
            </a:r>
            <a:r>
              <a:rPr sz="2800" spc="70" dirty="0">
                <a:latin typeface="Cambria"/>
                <a:cs typeface="Cambria"/>
              </a:rPr>
              <a:t>35</a:t>
            </a:r>
            <a:r>
              <a:rPr lang="en-US" sz="2800" spc="70" dirty="0">
                <a:latin typeface="Symbol" panose="05050102010706020507" pitchFamily="18" charset="2"/>
                <a:cs typeface="Cambria"/>
              </a:rPr>
              <a:t>S</a:t>
            </a:r>
            <a:r>
              <a:rPr sz="2925" i="1" spc="104" baseline="-11396" dirty="0">
                <a:latin typeface="Calibri"/>
                <a:cs typeface="Calibri"/>
              </a:rPr>
              <a:t>z</a:t>
            </a:r>
            <a:r>
              <a:rPr sz="2925" i="1" spc="-307" baseline="-11396" dirty="0">
                <a:latin typeface="Calibri"/>
                <a:cs typeface="Calibri"/>
              </a:rPr>
              <a:t> </a:t>
            </a:r>
            <a:r>
              <a:rPr sz="2800" spc="-114" dirty="0">
                <a:latin typeface="Cambria"/>
                <a:cs typeface="Cambria"/>
              </a:rPr>
              <a:t>(1600)</a:t>
            </a:r>
            <a:r>
              <a:rPr sz="2800" spc="-220" dirty="0">
                <a:latin typeface="Cambria"/>
                <a:cs typeface="Cambria"/>
              </a:rPr>
              <a:t> </a:t>
            </a:r>
            <a:r>
              <a:rPr sz="4200" spc="-120" baseline="-38690" dirty="0">
                <a:latin typeface="Cambria"/>
                <a:cs typeface="Cambria"/>
              </a:rPr>
              <a:t>cos</a:t>
            </a:r>
            <a:r>
              <a:rPr sz="4200" spc="-187" baseline="-38690" dirty="0">
                <a:latin typeface="Cambria"/>
                <a:cs typeface="Cambria"/>
              </a:rPr>
              <a:t> </a:t>
            </a:r>
            <a:r>
              <a:rPr sz="4200" i="1" spc="-15" baseline="-38690" dirty="0">
                <a:latin typeface="Cambria"/>
                <a:cs typeface="Cambria"/>
              </a:rPr>
              <a:t>β</a:t>
            </a:r>
            <a:r>
              <a:rPr sz="4200" spc="-15" baseline="-38690" dirty="0">
                <a:latin typeface="Cambria"/>
                <a:cs typeface="Cambria"/>
              </a:rPr>
              <a:t>(1600)</a:t>
            </a:r>
            <a:r>
              <a:rPr sz="4200" baseline="-38690" dirty="0">
                <a:latin typeface="Cambria"/>
                <a:cs typeface="Cambria"/>
              </a:rPr>
              <a:t>	</a:t>
            </a:r>
            <a:r>
              <a:rPr sz="4200" i="1" spc="89" baseline="-38690" dirty="0">
                <a:latin typeface="Cambria"/>
                <a:cs typeface="Cambria"/>
              </a:rPr>
              <a:t>r</a:t>
            </a:r>
            <a:r>
              <a:rPr sz="4200" i="1" baseline="-38690" dirty="0">
                <a:latin typeface="Cambria"/>
                <a:cs typeface="Cambria"/>
              </a:rPr>
              <a:t>	</a:t>
            </a:r>
            <a:r>
              <a:rPr sz="2800" spc="600" dirty="0">
                <a:latin typeface="Cambria"/>
                <a:cs typeface="Cambria"/>
              </a:rPr>
              <a:t>=</a:t>
            </a:r>
            <a:r>
              <a:rPr sz="2800" spc="15" dirty="0">
                <a:latin typeface="Cambria"/>
                <a:cs typeface="Cambria"/>
              </a:rPr>
              <a:t> </a:t>
            </a:r>
            <a:r>
              <a:rPr sz="2800" spc="-10" dirty="0">
                <a:latin typeface="Cambria"/>
                <a:cs typeface="Cambria"/>
              </a:rPr>
              <a:t>20</a:t>
            </a:r>
            <a:r>
              <a:rPr sz="2800" spc="130" dirty="0">
                <a:latin typeface="Cambria"/>
                <a:cs typeface="Cambria"/>
              </a:rPr>
              <a:t> </a:t>
            </a:r>
            <a:r>
              <a:rPr sz="2800" i="1" spc="140" dirty="0">
                <a:latin typeface="Cambria"/>
                <a:cs typeface="Cambria"/>
              </a:rPr>
              <a:t>µm</a:t>
            </a:r>
            <a:endParaRPr sz="2800" dirty="0">
              <a:latin typeface="Cambria"/>
              <a:cs typeface="Cambria"/>
            </a:endParaRPr>
          </a:p>
        </p:txBody>
      </p:sp>
      <p:sp>
        <p:nvSpPr>
          <p:cNvPr id="19" name="object 19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pc="-10" dirty="0"/>
              <a:t>Software</a:t>
            </a:r>
            <a:r>
              <a:rPr spc="-50" dirty="0"/>
              <a:t> </a:t>
            </a:r>
            <a:r>
              <a:rPr dirty="0"/>
              <a:t>for</a:t>
            </a:r>
            <a:r>
              <a:rPr spc="-45" dirty="0"/>
              <a:t> </a:t>
            </a:r>
            <a:r>
              <a:rPr dirty="0"/>
              <a:t>Optical</a:t>
            </a:r>
            <a:r>
              <a:rPr spc="-45" dirty="0"/>
              <a:t> </a:t>
            </a:r>
            <a:r>
              <a:rPr dirty="0"/>
              <a:t>Simulations,</a:t>
            </a:r>
            <a:r>
              <a:rPr spc="-45" dirty="0"/>
              <a:t> </a:t>
            </a:r>
            <a:r>
              <a:rPr spc="-20" dirty="0"/>
              <a:t>Trieste,</a:t>
            </a:r>
            <a:r>
              <a:rPr spc="-45" dirty="0"/>
              <a:t> </a:t>
            </a:r>
            <a:r>
              <a:rPr dirty="0"/>
              <a:t>October</a:t>
            </a:r>
            <a:r>
              <a:rPr spc="-45" dirty="0"/>
              <a:t> </a:t>
            </a:r>
            <a:r>
              <a:rPr dirty="0"/>
              <a:t>2016.</a:t>
            </a:r>
            <a:r>
              <a:rPr spc="-45" dirty="0"/>
              <a:t> </a:t>
            </a:r>
            <a:r>
              <a:rPr dirty="0"/>
              <a:t>Ruben</a:t>
            </a:r>
            <a:r>
              <a:rPr spc="-45" dirty="0"/>
              <a:t> </a:t>
            </a:r>
            <a:r>
              <a:rPr spc="-10" dirty="0"/>
              <a:t>Reininger</a:t>
            </a:r>
          </a:p>
        </p:txBody>
      </p:sp>
      <p:sp>
        <p:nvSpPr>
          <p:cNvPr id="20" name="object 2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25" dirty="0"/>
              <a:t>23</a:t>
            </a:fld>
            <a:endParaRPr spc="-25" dirty="0"/>
          </a:p>
        </p:txBody>
      </p:sp>
      <p:sp>
        <p:nvSpPr>
          <p:cNvPr id="21" name="object 21"/>
          <p:cNvSpPr txBox="1"/>
          <p:nvPr/>
        </p:nvSpPr>
        <p:spPr>
          <a:xfrm>
            <a:off x="1069339" y="9384967"/>
            <a:ext cx="72390" cy="211454"/>
          </a:xfrm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sz="1200" spc="-50" dirty="0">
                <a:solidFill>
                  <a:srgbClr val="275D90"/>
                </a:solidFill>
                <a:latin typeface="Calibri"/>
                <a:cs typeface="Calibri"/>
              </a:rPr>
              <a:t>-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0528174" y="5683912"/>
            <a:ext cx="1662430" cy="444500"/>
          </a:xfrm>
          <a:prstGeom prst="rect">
            <a:avLst/>
          </a:prstGeom>
          <a:solidFill>
            <a:srgbClr val="FFFDBB"/>
          </a:solidFill>
        </p:spPr>
        <p:txBody>
          <a:bodyPr vert="horz" wrap="square" lIns="0" tIns="18415" rIns="0" bIns="0" rtlCol="0">
            <a:spAutoFit/>
          </a:bodyPr>
          <a:lstStyle/>
          <a:p>
            <a:pPr marL="114300">
              <a:lnSpc>
                <a:spcPct val="100000"/>
              </a:lnSpc>
              <a:spcBef>
                <a:spcPts val="145"/>
              </a:spcBef>
            </a:pPr>
            <a:r>
              <a:rPr sz="2400" dirty="0">
                <a:solidFill>
                  <a:srgbClr val="FF2600"/>
                </a:solidFill>
                <a:latin typeface="Times New Roman"/>
                <a:cs typeface="Times New Roman"/>
              </a:rPr>
              <a:t>Not</a:t>
            </a:r>
            <a:r>
              <a:rPr sz="2400" spc="-20" dirty="0">
                <a:solidFill>
                  <a:srgbClr val="FF2600"/>
                </a:solidFill>
                <a:latin typeface="Times New Roman"/>
                <a:cs typeface="Times New Roman"/>
              </a:rPr>
              <a:t> </a:t>
            </a:r>
            <a:r>
              <a:rPr sz="2400" dirty="0">
                <a:solidFill>
                  <a:srgbClr val="FF2600"/>
                </a:solidFill>
                <a:latin typeface="Times New Roman"/>
                <a:cs typeface="Times New Roman"/>
              </a:rPr>
              <a:t>at</a:t>
            </a:r>
            <a:r>
              <a:rPr sz="2400" spc="-15" dirty="0">
                <a:solidFill>
                  <a:srgbClr val="FF2600"/>
                </a:solidFill>
                <a:latin typeface="Times New Roman"/>
                <a:cs typeface="Times New Roman"/>
              </a:rPr>
              <a:t> </a:t>
            </a:r>
            <a:r>
              <a:rPr sz="2400" spc="-10" dirty="0">
                <a:solidFill>
                  <a:srgbClr val="FF2600"/>
                </a:solidFill>
                <a:latin typeface="Times New Roman"/>
                <a:cs typeface="Times New Roman"/>
              </a:rPr>
              <a:t>focus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10198100" y="5803900"/>
            <a:ext cx="2578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90" dirty="0">
                <a:solidFill>
                  <a:srgbClr val="FF2600"/>
                </a:solidFill>
                <a:latin typeface="Segoe UI Symbol"/>
                <a:cs typeface="Segoe UI Symbol"/>
              </a:rPr>
              <a:t>✖</a:t>
            </a:r>
            <a:endParaRPr sz="2400">
              <a:latin typeface="Segoe UI Symbol"/>
              <a:cs typeface="Segoe UI Symbo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930838" y="1143960"/>
            <a:ext cx="1050290" cy="45021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2750" spc="-10" dirty="0">
                <a:solidFill>
                  <a:srgbClr val="FF0000"/>
                </a:solidFill>
                <a:latin typeface="Cambria"/>
                <a:cs typeface="Cambria"/>
              </a:rPr>
              <a:t>Source</a:t>
            </a:r>
            <a:endParaRPr sz="2750">
              <a:latin typeface="Cambria"/>
              <a:cs typeface="Cambria"/>
            </a:endParaRPr>
          </a:p>
        </p:txBody>
      </p:sp>
      <p:sp>
        <p:nvSpPr>
          <p:cNvPr id="22" name="object 7">
            <a:extLst>
              <a:ext uri="{FF2B5EF4-FFF2-40B4-BE49-F238E27FC236}">
                <a16:creationId xmlns:a16="http://schemas.microsoft.com/office/drawing/2014/main" id="{F472A029-8678-447E-BF3B-A46CB497332A}"/>
              </a:ext>
            </a:extLst>
          </p:cNvPr>
          <p:cNvSpPr txBox="1"/>
          <p:nvPr/>
        </p:nvSpPr>
        <p:spPr>
          <a:xfrm>
            <a:off x="892738" y="1143960"/>
            <a:ext cx="2409262" cy="2158924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135"/>
              </a:spcBef>
            </a:pPr>
            <a:r>
              <a:rPr sz="2750" spc="-10" dirty="0">
                <a:solidFill>
                  <a:srgbClr val="FF0000"/>
                </a:solidFill>
                <a:latin typeface="Cambria"/>
                <a:cs typeface="Cambria"/>
              </a:rPr>
              <a:t>Source</a:t>
            </a:r>
            <a:endParaRPr sz="2750" dirty="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160"/>
              </a:spcBef>
            </a:pPr>
            <a:endParaRPr sz="2750" dirty="0">
              <a:latin typeface="Cambria"/>
              <a:cs typeface="Cambria"/>
            </a:endParaRPr>
          </a:p>
          <a:p>
            <a:pPr marL="50800">
              <a:lnSpc>
                <a:spcPct val="100000"/>
              </a:lnSpc>
            </a:pPr>
            <a:r>
              <a:rPr sz="2750" i="1" spc="480" dirty="0">
                <a:solidFill>
                  <a:srgbClr val="FF0000"/>
                </a:solidFill>
                <a:latin typeface="Cambria"/>
                <a:cs typeface="Cambria"/>
              </a:rPr>
              <a:t>E</a:t>
            </a:r>
            <a:r>
              <a:rPr sz="2750" i="1" spc="325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2750" spc="640" dirty="0">
                <a:solidFill>
                  <a:srgbClr val="FF0000"/>
                </a:solidFill>
                <a:latin typeface="Cambria"/>
                <a:cs typeface="Cambria"/>
              </a:rPr>
              <a:t>=</a:t>
            </a:r>
            <a:r>
              <a:rPr sz="2750" spc="170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2750" spc="-10" dirty="0">
                <a:solidFill>
                  <a:srgbClr val="FF0000"/>
                </a:solidFill>
                <a:latin typeface="Cambria"/>
                <a:cs typeface="Cambria"/>
              </a:rPr>
              <a:t>1600</a:t>
            </a:r>
            <a:r>
              <a:rPr lang="en-US" sz="2750" spc="-10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2750" spc="-10" dirty="0">
                <a:solidFill>
                  <a:srgbClr val="FF0000"/>
                </a:solidFill>
                <a:latin typeface="Cambria"/>
                <a:cs typeface="Cambria"/>
              </a:rPr>
              <a:t>eV</a:t>
            </a:r>
            <a:endParaRPr sz="2750" dirty="0">
              <a:latin typeface="Cambria"/>
              <a:cs typeface="Cambria"/>
            </a:endParaRPr>
          </a:p>
          <a:p>
            <a:pPr marL="50800">
              <a:lnSpc>
                <a:spcPct val="100000"/>
              </a:lnSpc>
              <a:spcBef>
                <a:spcPts val="45"/>
              </a:spcBef>
            </a:pPr>
            <a:r>
              <a:rPr lang="en-US" sz="2750" spc="445" dirty="0" err="1">
                <a:solidFill>
                  <a:srgbClr val="FF0000"/>
                </a:solidFill>
                <a:latin typeface="Symbol" panose="05050102010706020507" pitchFamily="18" charset="2"/>
                <a:cs typeface="Cambria"/>
              </a:rPr>
              <a:t>S</a:t>
            </a:r>
            <a:r>
              <a:rPr sz="2925" i="1" spc="667" baseline="-11396" dirty="0" err="1">
                <a:solidFill>
                  <a:srgbClr val="FF0000"/>
                </a:solidFill>
                <a:latin typeface="Calibri"/>
                <a:cs typeface="Calibri"/>
              </a:rPr>
              <a:t>x</a:t>
            </a:r>
            <a:r>
              <a:rPr sz="2925" i="1" spc="697" baseline="-11396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750" spc="640" dirty="0">
                <a:solidFill>
                  <a:srgbClr val="FF0000"/>
                </a:solidFill>
                <a:latin typeface="Cambria"/>
                <a:cs typeface="Cambria"/>
              </a:rPr>
              <a:t>=</a:t>
            </a:r>
            <a:r>
              <a:rPr sz="2750" spc="175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2750" spc="-20" dirty="0">
                <a:solidFill>
                  <a:srgbClr val="FF0000"/>
                </a:solidFill>
                <a:latin typeface="Cambria"/>
                <a:cs typeface="Cambria"/>
              </a:rPr>
              <a:t>280</a:t>
            </a:r>
            <a:r>
              <a:rPr lang="en-US" sz="2750" spc="-20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2750" i="1" spc="-20" dirty="0">
                <a:solidFill>
                  <a:srgbClr val="FF0000"/>
                </a:solidFill>
                <a:latin typeface="Cambria"/>
                <a:cs typeface="Cambria"/>
              </a:rPr>
              <a:t>µ</a:t>
            </a:r>
            <a:r>
              <a:rPr sz="2750" spc="-20" dirty="0">
                <a:solidFill>
                  <a:srgbClr val="FF0000"/>
                </a:solidFill>
                <a:latin typeface="Cambria"/>
                <a:cs typeface="Cambria"/>
              </a:rPr>
              <a:t>m</a:t>
            </a:r>
            <a:endParaRPr sz="2750" dirty="0">
              <a:latin typeface="Cambria"/>
              <a:cs typeface="Cambria"/>
            </a:endParaRPr>
          </a:p>
          <a:p>
            <a:pPr marL="50800">
              <a:lnSpc>
                <a:spcPct val="100000"/>
              </a:lnSpc>
              <a:spcBef>
                <a:spcPts val="45"/>
              </a:spcBef>
            </a:pPr>
            <a:r>
              <a:rPr lang="en-US" sz="2750" spc="445" dirty="0" err="1">
                <a:solidFill>
                  <a:srgbClr val="FF0000"/>
                </a:solidFill>
                <a:latin typeface="Symbol" panose="05050102010706020507" pitchFamily="18" charset="2"/>
                <a:cs typeface="Cambria"/>
              </a:rPr>
              <a:t>S</a:t>
            </a:r>
            <a:r>
              <a:rPr sz="2925" i="1" spc="577" baseline="-11396" dirty="0" err="1">
                <a:solidFill>
                  <a:srgbClr val="FF0000"/>
                </a:solidFill>
                <a:latin typeface="Calibri"/>
                <a:cs typeface="Calibri"/>
              </a:rPr>
              <a:t>z</a:t>
            </a:r>
            <a:r>
              <a:rPr sz="2925" i="1" spc="817" baseline="-11396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750" spc="640" dirty="0">
                <a:solidFill>
                  <a:srgbClr val="FF0000"/>
                </a:solidFill>
                <a:latin typeface="Cambria"/>
                <a:cs typeface="Cambria"/>
              </a:rPr>
              <a:t>=</a:t>
            </a:r>
            <a:r>
              <a:rPr sz="2750" spc="175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2750" spc="-10" dirty="0">
                <a:solidFill>
                  <a:srgbClr val="FF0000"/>
                </a:solidFill>
                <a:latin typeface="Cambria"/>
                <a:cs typeface="Cambria"/>
              </a:rPr>
              <a:t>154</a:t>
            </a:r>
            <a:r>
              <a:rPr lang="en-US" sz="2750" spc="-10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2750" i="1" spc="-10" dirty="0">
                <a:solidFill>
                  <a:srgbClr val="FF0000"/>
                </a:solidFill>
                <a:latin typeface="Cambria"/>
                <a:cs typeface="Cambria"/>
              </a:rPr>
              <a:t>µ</a:t>
            </a:r>
            <a:r>
              <a:rPr sz="2750" spc="-10" dirty="0">
                <a:solidFill>
                  <a:srgbClr val="FF0000"/>
                </a:solidFill>
                <a:latin typeface="Cambria"/>
                <a:cs typeface="Cambria"/>
              </a:rPr>
              <a:t>m</a:t>
            </a:r>
            <a:endParaRPr sz="2750" dirty="0">
              <a:latin typeface="Cambria"/>
              <a:cs typeface="Cambria"/>
            </a:endParaRPr>
          </a:p>
        </p:txBody>
      </p:sp>
      <p:sp>
        <p:nvSpPr>
          <p:cNvPr id="23" name="object 8">
            <a:extLst>
              <a:ext uri="{FF2B5EF4-FFF2-40B4-BE49-F238E27FC236}">
                <a16:creationId xmlns:a16="http://schemas.microsoft.com/office/drawing/2014/main" id="{16F513CB-12B7-450E-B50B-AEBCCBAE6E77}"/>
              </a:ext>
            </a:extLst>
          </p:cNvPr>
          <p:cNvSpPr txBox="1"/>
          <p:nvPr/>
        </p:nvSpPr>
        <p:spPr>
          <a:xfrm>
            <a:off x="905438" y="3249289"/>
            <a:ext cx="2650562" cy="95346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35"/>
              </a:spcBef>
            </a:pPr>
            <a:r>
              <a:rPr lang="en-US" sz="3200" spc="445" dirty="0" err="1">
                <a:solidFill>
                  <a:srgbClr val="FF0000"/>
                </a:solidFill>
                <a:latin typeface="Symbol" panose="05050102010706020507" pitchFamily="18" charset="2"/>
                <a:cs typeface="Cambria"/>
              </a:rPr>
              <a:t>S</a:t>
            </a:r>
            <a:r>
              <a:rPr lang="en-US" sz="3600" i="1" spc="667" baseline="-11396" dirty="0" err="1">
                <a:solidFill>
                  <a:srgbClr val="FF0000"/>
                </a:solidFill>
                <a:latin typeface="Calibri"/>
                <a:cs typeface="Calibri"/>
              </a:rPr>
              <a:t>x</a:t>
            </a:r>
            <a:r>
              <a:rPr lang="en-US" sz="3600" i="1" spc="667" baseline="-11396" dirty="0">
                <a:solidFill>
                  <a:srgbClr val="FF0000"/>
                </a:solidFill>
                <a:latin typeface="Calibri"/>
                <a:cs typeface="Calibri"/>
              </a:rPr>
              <a:t>’</a:t>
            </a:r>
            <a:r>
              <a:rPr lang="en-US" sz="3600" i="1" spc="697" baseline="-11396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3200" spc="640" dirty="0">
                <a:solidFill>
                  <a:srgbClr val="FF0000"/>
                </a:solidFill>
                <a:latin typeface="Cambria"/>
                <a:cs typeface="Cambria"/>
              </a:rPr>
              <a:t>=</a:t>
            </a:r>
            <a:r>
              <a:rPr lang="en-GB" sz="3200" spc="-10" dirty="0">
                <a:solidFill>
                  <a:srgbClr val="FF0000"/>
                </a:solidFill>
                <a:latin typeface="Cambria"/>
                <a:cs typeface="Cambria"/>
              </a:rPr>
              <a:t> 18 </a:t>
            </a:r>
            <a:r>
              <a:rPr lang="en-GB" sz="3200" i="1" spc="-10" dirty="0">
                <a:solidFill>
                  <a:srgbClr val="FF0000"/>
                </a:solidFill>
                <a:latin typeface="Cambria"/>
                <a:cs typeface="Cambria"/>
              </a:rPr>
              <a:t>µ</a:t>
            </a:r>
            <a:r>
              <a:rPr lang="en-GB" sz="3200" spc="-10" dirty="0">
                <a:solidFill>
                  <a:srgbClr val="FF0000"/>
                </a:solidFill>
                <a:latin typeface="Cambria"/>
                <a:cs typeface="Cambria"/>
              </a:rPr>
              <a:t>rad</a:t>
            </a:r>
            <a:r>
              <a:rPr lang="en-US" sz="3200" spc="175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</a:p>
          <a:p>
            <a:pPr marL="38100">
              <a:lnSpc>
                <a:spcPct val="100000"/>
              </a:lnSpc>
              <a:spcBef>
                <a:spcPts val="135"/>
              </a:spcBef>
            </a:pPr>
            <a:r>
              <a:rPr lang="en-US" sz="2800" spc="445" dirty="0" err="1">
                <a:solidFill>
                  <a:srgbClr val="FF0000"/>
                </a:solidFill>
                <a:latin typeface="Symbol" panose="05050102010706020507" pitchFamily="18" charset="2"/>
                <a:cs typeface="Cambria"/>
              </a:rPr>
              <a:t>S</a:t>
            </a:r>
            <a:r>
              <a:rPr lang="en-US" sz="3200" i="1" spc="577" baseline="-11396" dirty="0" err="1">
                <a:solidFill>
                  <a:srgbClr val="FF0000"/>
                </a:solidFill>
                <a:latin typeface="Calibri"/>
                <a:cs typeface="Calibri"/>
              </a:rPr>
              <a:t>z</a:t>
            </a:r>
            <a:r>
              <a:rPr lang="en-US" sz="3200" i="1" spc="577" baseline="-11396" dirty="0">
                <a:solidFill>
                  <a:srgbClr val="FF0000"/>
                </a:solidFill>
                <a:latin typeface="Calibri"/>
                <a:cs typeface="Calibri"/>
              </a:rPr>
              <a:t>’</a:t>
            </a:r>
            <a:r>
              <a:rPr lang="en-US" sz="3200" i="1" spc="817" baseline="-11396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800" spc="640" dirty="0">
                <a:solidFill>
                  <a:srgbClr val="FF0000"/>
                </a:solidFill>
                <a:latin typeface="Cambria"/>
                <a:cs typeface="Cambria"/>
              </a:rPr>
              <a:t>=</a:t>
            </a:r>
            <a:r>
              <a:rPr lang="en-GB" sz="2800" spc="-10" dirty="0">
                <a:solidFill>
                  <a:srgbClr val="FF0000"/>
                </a:solidFill>
                <a:latin typeface="Cambria"/>
                <a:cs typeface="Cambria"/>
              </a:rPr>
              <a:t> 14 </a:t>
            </a:r>
            <a:r>
              <a:rPr lang="en-GB" sz="2800" i="1" spc="-10" dirty="0">
                <a:solidFill>
                  <a:srgbClr val="FF0000"/>
                </a:solidFill>
                <a:latin typeface="Cambria"/>
                <a:cs typeface="Cambria"/>
              </a:rPr>
              <a:t>µ</a:t>
            </a:r>
            <a:r>
              <a:rPr lang="en-GB" sz="2800" spc="-10" dirty="0">
                <a:solidFill>
                  <a:srgbClr val="FF0000"/>
                </a:solidFill>
                <a:latin typeface="Cambria"/>
                <a:cs typeface="Cambria"/>
              </a:rPr>
              <a:t>rad</a:t>
            </a:r>
            <a:endParaRPr sz="2800" dirty="0">
              <a:latin typeface="+mj-lt"/>
              <a:cs typeface="Trebuchet MS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377CA5C-7A02-4C9F-B5E1-0AF5BAD4AB5D}"/>
              </a:ext>
            </a:extLst>
          </p:cNvPr>
          <p:cNvSpPr/>
          <p:nvPr/>
        </p:nvSpPr>
        <p:spPr>
          <a:xfrm>
            <a:off x="71328" y="0"/>
            <a:ext cx="249299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02_SGM_1600eV.ows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C4231F85-14A5-414B-A204-E4DC8AE5C4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0361" y="1521056"/>
            <a:ext cx="4664078" cy="3211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41136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E3FD60FA-ED90-406F-89CD-D04143DDE2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2486" y="2382764"/>
            <a:ext cx="3526836" cy="1153942"/>
          </a:xfrm>
          <a:prstGeom prst="rect">
            <a:avLst/>
          </a:prstGeom>
        </p:spPr>
      </p:pic>
      <p:pic>
        <p:nvPicPr>
          <p:cNvPr id="2" name="object 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726754" y="0"/>
            <a:ext cx="5278045" cy="215900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3543300" y="254000"/>
            <a:ext cx="592455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031240" algn="l"/>
                <a:tab pos="5364480" algn="l"/>
              </a:tabLst>
            </a:pPr>
            <a:r>
              <a:rPr spc="-25" dirty="0"/>
              <a:t>SGM</a:t>
            </a:r>
            <a:r>
              <a:rPr dirty="0"/>
              <a:t>	Ray</a:t>
            </a:r>
            <a:r>
              <a:rPr spc="-155" dirty="0"/>
              <a:t> </a:t>
            </a:r>
            <a:r>
              <a:rPr spc="-45" dirty="0"/>
              <a:t>Tracing</a:t>
            </a:r>
            <a:r>
              <a:rPr spc="-95" dirty="0"/>
              <a:t> </a:t>
            </a:r>
            <a:r>
              <a:rPr dirty="0"/>
              <a:t>at</a:t>
            </a:r>
            <a:r>
              <a:rPr spc="-95" dirty="0"/>
              <a:t> </a:t>
            </a:r>
            <a:r>
              <a:rPr spc="-20" dirty="0"/>
              <a:t>1600</a:t>
            </a:r>
            <a:r>
              <a:rPr dirty="0"/>
              <a:t>	</a:t>
            </a:r>
            <a:r>
              <a:rPr spc="-25" dirty="0"/>
              <a:t>eV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10642600" y="5722788"/>
            <a:ext cx="1490345" cy="33782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620"/>
              </a:lnSpc>
            </a:pPr>
            <a:r>
              <a:rPr sz="2400" dirty="0">
                <a:solidFill>
                  <a:srgbClr val="FF2600"/>
                </a:solidFill>
                <a:latin typeface="Times New Roman"/>
                <a:cs typeface="Times New Roman"/>
              </a:rPr>
              <a:t>Not</a:t>
            </a:r>
            <a:r>
              <a:rPr sz="2400" spc="-20" dirty="0">
                <a:solidFill>
                  <a:srgbClr val="FF2600"/>
                </a:solidFill>
                <a:latin typeface="Times New Roman"/>
                <a:cs typeface="Times New Roman"/>
              </a:rPr>
              <a:t> </a:t>
            </a:r>
            <a:r>
              <a:rPr sz="2400" dirty="0">
                <a:solidFill>
                  <a:srgbClr val="FF2600"/>
                </a:solidFill>
                <a:latin typeface="Times New Roman"/>
                <a:cs typeface="Times New Roman"/>
              </a:rPr>
              <a:t>at</a:t>
            </a:r>
            <a:r>
              <a:rPr sz="2400" spc="-15" dirty="0">
                <a:solidFill>
                  <a:srgbClr val="FF2600"/>
                </a:solidFill>
                <a:latin typeface="Times New Roman"/>
                <a:cs typeface="Times New Roman"/>
              </a:rPr>
              <a:t> </a:t>
            </a:r>
            <a:r>
              <a:rPr sz="2400" spc="-10" dirty="0">
                <a:solidFill>
                  <a:srgbClr val="FF2600"/>
                </a:solidFill>
                <a:latin typeface="Times New Roman"/>
                <a:cs typeface="Times New Roman"/>
              </a:rPr>
              <a:t>focus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400300" y="5638800"/>
            <a:ext cx="974725" cy="746760"/>
          </a:xfrm>
          <a:prstGeom prst="rect">
            <a:avLst/>
          </a:prstGeom>
        </p:spPr>
        <p:txBody>
          <a:bodyPr vert="horz" wrap="square" lIns="0" tIns="33020" rIns="0" bIns="0" rtlCol="0">
            <a:spAutoFit/>
          </a:bodyPr>
          <a:lstStyle/>
          <a:p>
            <a:pPr marL="12700" marR="5080">
              <a:lnSpc>
                <a:spcPts val="2800"/>
              </a:lnSpc>
              <a:spcBef>
                <a:spcPts val="260"/>
              </a:spcBef>
            </a:pPr>
            <a:r>
              <a:rPr sz="2400" spc="-10" dirty="0">
                <a:solidFill>
                  <a:srgbClr val="FF2600"/>
                </a:solidFill>
                <a:latin typeface="Arial MT"/>
                <a:cs typeface="Arial MT"/>
              </a:rPr>
              <a:t>Sanity Check!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2141200" y="3111500"/>
            <a:ext cx="2578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90" dirty="0">
                <a:solidFill>
                  <a:srgbClr val="FF2600"/>
                </a:solidFill>
                <a:latin typeface="Segoe UI Symbol"/>
                <a:cs typeface="Segoe UI Symbol"/>
              </a:rPr>
              <a:t>✖</a:t>
            </a:r>
            <a:endParaRPr sz="2400">
              <a:latin typeface="Segoe UI Symbol"/>
              <a:cs typeface="Segoe UI Symbo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54638" y="4420468"/>
            <a:ext cx="1991360" cy="87185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25"/>
              </a:spcBef>
            </a:pPr>
            <a:r>
              <a:rPr sz="2750" i="1" spc="114" dirty="0">
                <a:solidFill>
                  <a:srgbClr val="0000FF"/>
                </a:solidFill>
                <a:latin typeface="Cambria"/>
                <a:cs typeface="Cambria"/>
              </a:rPr>
              <a:t>β</a:t>
            </a:r>
            <a:r>
              <a:rPr sz="2750" i="1" spc="310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750" spc="640" dirty="0">
                <a:solidFill>
                  <a:srgbClr val="0000FF"/>
                </a:solidFill>
                <a:latin typeface="Cambria"/>
                <a:cs typeface="Cambria"/>
              </a:rPr>
              <a:t>=</a:t>
            </a:r>
            <a:r>
              <a:rPr sz="2750" spc="170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750" i="1" spc="-605" dirty="0">
                <a:solidFill>
                  <a:srgbClr val="0000FF"/>
                </a:solidFill>
                <a:latin typeface="Arial"/>
                <a:cs typeface="Arial"/>
              </a:rPr>
              <a:t>—</a:t>
            </a:r>
            <a:r>
              <a:rPr sz="2750" spc="-10" dirty="0">
                <a:solidFill>
                  <a:srgbClr val="0000FF"/>
                </a:solidFill>
                <a:latin typeface="Cambria"/>
                <a:cs typeface="Cambria"/>
              </a:rPr>
              <a:t>88</a:t>
            </a:r>
            <a:r>
              <a:rPr sz="2750" i="1" spc="-10" dirty="0">
                <a:solidFill>
                  <a:srgbClr val="0000FF"/>
                </a:solidFill>
                <a:latin typeface="Cambria"/>
                <a:cs typeface="Cambria"/>
              </a:rPr>
              <a:t>.</a:t>
            </a:r>
            <a:r>
              <a:rPr sz="2750" spc="-10" dirty="0">
                <a:solidFill>
                  <a:srgbClr val="0000FF"/>
                </a:solidFill>
                <a:latin typeface="Cambria"/>
                <a:cs typeface="Cambria"/>
              </a:rPr>
              <a:t>77</a:t>
            </a:r>
            <a:r>
              <a:rPr sz="2925" spc="-15" baseline="32763" dirty="0">
                <a:solidFill>
                  <a:srgbClr val="0000FF"/>
                </a:solidFill>
                <a:latin typeface="Calibri"/>
                <a:cs typeface="Calibri"/>
              </a:rPr>
              <a:t>o</a:t>
            </a:r>
            <a:endParaRPr sz="2925" baseline="32763">
              <a:latin typeface="Calibri"/>
              <a:cs typeface="Calibri"/>
            </a:endParaRPr>
          </a:p>
          <a:p>
            <a:pPr marL="38100">
              <a:lnSpc>
                <a:spcPct val="100000"/>
              </a:lnSpc>
              <a:spcBef>
                <a:spcPts val="30"/>
              </a:spcBef>
            </a:pPr>
            <a:r>
              <a:rPr sz="2750" i="1" spc="229" dirty="0">
                <a:solidFill>
                  <a:srgbClr val="0000FF"/>
                </a:solidFill>
                <a:latin typeface="Cambria"/>
                <a:cs typeface="Cambria"/>
              </a:rPr>
              <a:t>α</a:t>
            </a:r>
            <a:r>
              <a:rPr sz="2750" i="1" spc="180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750" spc="640" dirty="0">
                <a:solidFill>
                  <a:srgbClr val="0000FF"/>
                </a:solidFill>
                <a:latin typeface="Cambria"/>
                <a:cs typeface="Cambria"/>
              </a:rPr>
              <a:t>=</a:t>
            </a:r>
            <a:r>
              <a:rPr sz="2750" spc="170" dirty="0">
                <a:solidFill>
                  <a:srgbClr val="0000FF"/>
                </a:solidFill>
                <a:latin typeface="Cambria"/>
                <a:cs typeface="Cambria"/>
              </a:rPr>
              <a:t> </a:t>
            </a:r>
            <a:r>
              <a:rPr sz="2750" spc="-10" dirty="0">
                <a:solidFill>
                  <a:srgbClr val="0000FF"/>
                </a:solidFill>
                <a:latin typeface="Cambria"/>
                <a:cs typeface="Cambria"/>
              </a:rPr>
              <a:t>87</a:t>
            </a:r>
            <a:r>
              <a:rPr sz="2750" i="1" spc="-10" dirty="0">
                <a:solidFill>
                  <a:srgbClr val="0000FF"/>
                </a:solidFill>
                <a:latin typeface="Cambria"/>
                <a:cs typeface="Cambria"/>
              </a:rPr>
              <a:t>.</a:t>
            </a:r>
            <a:r>
              <a:rPr sz="2750" spc="-10" dirty="0">
                <a:solidFill>
                  <a:srgbClr val="0000FF"/>
                </a:solidFill>
                <a:latin typeface="Cambria"/>
                <a:cs typeface="Cambria"/>
              </a:rPr>
              <a:t>63</a:t>
            </a:r>
            <a:r>
              <a:rPr sz="2925" spc="-15" baseline="32763" dirty="0">
                <a:solidFill>
                  <a:srgbClr val="0000FF"/>
                </a:solidFill>
                <a:latin typeface="Calibri"/>
                <a:cs typeface="Calibri"/>
              </a:rPr>
              <a:t>o</a:t>
            </a:r>
            <a:endParaRPr sz="2925" baseline="32763">
              <a:latin typeface="Calibri"/>
              <a:cs typeface="Calibri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6206769" y="6013566"/>
            <a:ext cx="1745614" cy="0"/>
          </a:xfrm>
          <a:custGeom>
            <a:avLst/>
            <a:gdLst/>
            <a:ahLst/>
            <a:cxnLst/>
            <a:rect l="l" t="t" r="r" b="b"/>
            <a:pathLst>
              <a:path w="1745615">
                <a:moveTo>
                  <a:pt x="0" y="0"/>
                </a:moveTo>
                <a:lnTo>
                  <a:pt x="1745391" y="0"/>
                </a:lnTo>
              </a:path>
            </a:pathLst>
          </a:custGeom>
          <a:ln w="1430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8037184" y="6013566"/>
            <a:ext cx="269240" cy="0"/>
          </a:xfrm>
          <a:custGeom>
            <a:avLst/>
            <a:gdLst/>
            <a:ahLst/>
            <a:cxnLst/>
            <a:rect l="l" t="t" r="r" b="b"/>
            <a:pathLst>
              <a:path w="269240">
                <a:moveTo>
                  <a:pt x="0" y="0"/>
                </a:moveTo>
                <a:lnTo>
                  <a:pt x="269082" y="0"/>
                </a:lnTo>
              </a:path>
            </a:pathLst>
          </a:custGeom>
          <a:ln w="1430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4093138" y="5490094"/>
            <a:ext cx="5763260" cy="69786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545465" algn="ctr">
              <a:lnSpc>
                <a:spcPts val="2635"/>
              </a:lnSpc>
              <a:spcBef>
                <a:spcPts val="120"/>
              </a:spcBef>
            </a:pPr>
            <a:r>
              <a:rPr sz="2800" spc="-80" dirty="0">
                <a:latin typeface="Cambria"/>
                <a:cs typeface="Cambria"/>
              </a:rPr>
              <a:t>cos</a:t>
            </a:r>
            <a:r>
              <a:rPr sz="2800" spc="-155" dirty="0">
                <a:latin typeface="Cambria"/>
                <a:cs typeface="Cambria"/>
              </a:rPr>
              <a:t> </a:t>
            </a:r>
            <a:r>
              <a:rPr sz="2800" i="1" spc="-40" dirty="0">
                <a:latin typeface="Cambria"/>
                <a:cs typeface="Cambria"/>
              </a:rPr>
              <a:t>α</a:t>
            </a:r>
            <a:r>
              <a:rPr sz="2800" spc="-40" dirty="0">
                <a:latin typeface="Cambria"/>
                <a:cs typeface="Cambria"/>
              </a:rPr>
              <a:t>(1600)</a:t>
            </a:r>
            <a:r>
              <a:rPr sz="2800" spc="-70" dirty="0">
                <a:latin typeface="Cambria"/>
                <a:cs typeface="Cambria"/>
              </a:rPr>
              <a:t> </a:t>
            </a:r>
            <a:r>
              <a:rPr sz="2800" i="1" spc="-25" dirty="0">
                <a:latin typeface="Cambria"/>
                <a:cs typeface="Cambria"/>
              </a:rPr>
              <a:t>r</a:t>
            </a:r>
            <a:r>
              <a:rPr lang="en-US" sz="2925" i="1" spc="-37" baseline="28490" dirty="0">
                <a:latin typeface="Times New Roman"/>
                <a:cs typeface="Times New Roman"/>
              </a:rPr>
              <a:t>'</a:t>
            </a:r>
            <a:endParaRPr sz="2925" baseline="28490" dirty="0">
              <a:latin typeface="Times New Roman"/>
              <a:cs typeface="Times New Roman"/>
            </a:endParaRPr>
          </a:p>
          <a:p>
            <a:pPr marL="38100">
              <a:lnSpc>
                <a:spcPts val="2635"/>
              </a:lnSpc>
              <a:tabLst>
                <a:tab pos="3993515" algn="l"/>
                <a:tab pos="4353560" algn="l"/>
              </a:tabLst>
            </a:pPr>
            <a:r>
              <a:rPr sz="2800" spc="70" dirty="0">
                <a:latin typeface="Cambria"/>
                <a:cs typeface="Cambria"/>
              </a:rPr>
              <a:t>2</a:t>
            </a:r>
            <a:r>
              <a:rPr sz="2800" i="1" spc="70" dirty="0">
                <a:latin typeface="Cambria"/>
                <a:cs typeface="Cambria"/>
              </a:rPr>
              <a:t>.</a:t>
            </a:r>
            <a:r>
              <a:rPr sz="2800" spc="70" dirty="0">
                <a:latin typeface="Cambria"/>
                <a:cs typeface="Cambria"/>
              </a:rPr>
              <a:t>35</a:t>
            </a:r>
            <a:r>
              <a:rPr lang="en-US" sz="2800" spc="70" dirty="0">
                <a:latin typeface="Symbol" panose="05050102010706020507" pitchFamily="18" charset="2"/>
                <a:cs typeface="Cambria"/>
              </a:rPr>
              <a:t>S</a:t>
            </a:r>
            <a:r>
              <a:rPr sz="2925" i="1" spc="104" baseline="-11396" dirty="0">
                <a:latin typeface="Calibri"/>
                <a:cs typeface="Calibri"/>
              </a:rPr>
              <a:t>z</a:t>
            </a:r>
            <a:r>
              <a:rPr sz="2925" i="1" spc="-307" baseline="-11396" dirty="0">
                <a:latin typeface="Calibri"/>
                <a:cs typeface="Calibri"/>
              </a:rPr>
              <a:t> </a:t>
            </a:r>
            <a:r>
              <a:rPr sz="2800" spc="-114" dirty="0">
                <a:latin typeface="Cambria"/>
                <a:cs typeface="Cambria"/>
              </a:rPr>
              <a:t>(1600)</a:t>
            </a:r>
            <a:r>
              <a:rPr sz="2800" spc="-220" dirty="0">
                <a:latin typeface="Cambria"/>
                <a:cs typeface="Cambria"/>
              </a:rPr>
              <a:t> </a:t>
            </a:r>
            <a:r>
              <a:rPr sz="4200" spc="-120" baseline="-38690" dirty="0">
                <a:latin typeface="Cambria"/>
                <a:cs typeface="Cambria"/>
              </a:rPr>
              <a:t>cos</a:t>
            </a:r>
            <a:r>
              <a:rPr sz="4200" spc="-187" baseline="-38690" dirty="0">
                <a:latin typeface="Cambria"/>
                <a:cs typeface="Cambria"/>
              </a:rPr>
              <a:t> </a:t>
            </a:r>
            <a:r>
              <a:rPr sz="4200" i="1" spc="-15" baseline="-38690" dirty="0">
                <a:latin typeface="Cambria"/>
                <a:cs typeface="Cambria"/>
              </a:rPr>
              <a:t>β</a:t>
            </a:r>
            <a:r>
              <a:rPr sz="4200" spc="-15" baseline="-38690" dirty="0">
                <a:latin typeface="Cambria"/>
                <a:cs typeface="Cambria"/>
              </a:rPr>
              <a:t>(1600)</a:t>
            </a:r>
            <a:r>
              <a:rPr sz="4200" baseline="-38690" dirty="0">
                <a:latin typeface="Cambria"/>
                <a:cs typeface="Cambria"/>
              </a:rPr>
              <a:t>	</a:t>
            </a:r>
            <a:r>
              <a:rPr sz="4200" i="1" spc="89" baseline="-38690" dirty="0">
                <a:latin typeface="Cambria"/>
                <a:cs typeface="Cambria"/>
              </a:rPr>
              <a:t>r</a:t>
            </a:r>
            <a:r>
              <a:rPr sz="4200" i="1" baseline="-38690" dirty="0">
                <a:latin typeface="Cambria"/>
                <a:cs typeface="Cambria"/>
              </a:rPr>
              <a:t>	</a:t>
            </a:r>
            <a:r>
              <a:rPr sz="2800" spc="600" dirty="0">
                <a:latin typeface="Cambria"/>
                <a:cs typeface="Cambria"/>
              </a:rPr>
              <a:t>=</a:t>
            </a:r>
            <a:r>
              <a:rPr sz="2800" spc="15" dirty="0">
                <a:latin typeface="Cambria"/>
                <a:cs typeface="Cambria"/>
              </a:rPr>
              <a:t> </a:t>
            </a:r>
            <a:r>
              <a:rPr sz="2800" spc="-10" dirty="0">
                <a:latin typeface="Cambria"/>
                <a:cs typeface="Cambria"/>
              </a:rPr>
              <a:t>20</a:t>
            </a:r>
            <a:r>
              <a:rPr sz="2800" spc="130" dirty="0">
                <a:latin typeface="Cambria"/>
                <a:cs typeface="Cambria"/>
              </a:rPr>
              <a:t> </a:t>
            </a:r>
            <a:r>
              <a:rPr sz="2800" i="1" spc="140" dirty="0">
                <a:latin typeface="Cambria"/>
                <a:cs typeface="Cambria"/>
              </a:rPr>
              <a:t>µm</a:t>
            </a:r>
            <a:endParaRPr sz="2800" dirty="0">
              <a:latin typeface="Cambria"/>
              <a:cs typeface="Cambria"/>
            </a:endParaRPr>
          </a:p>
        </p:txBody>
      </p:sp>
      <p:sp>
        <p:nvSpPr>
          <p:cNvPr id="19" name="object 19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pc="-10" dirty="0"/>
              <a:t>Software</a:t>
            </a:r>
            <a:r>
              <a:rPr spc="-50" dirty="0"/>
              <a:t> </a:t>
            </a:r>
            <a:r>
              <a:rPr dirty="0"/>
              <a:t>for</a:t>
            </a:r>
            <a:r>
              <a:rPr spc="-45" dirty="0"/>
              <a:t> </a:t>
            </a:r>
            <a:r>
              <a:rPr dirty="0"/>
              <a:t>Optical</a:t>
            </a:r>
            <a:r>
              <a:rPr spc="-45" dirty="0"/>
              <a:t> </a:t>
            </a:r>
            <a:r>
              <a:rPr dirty="0"/>
              <a:t>Simulations,</a:t>
            </a:r>
            <a:r>
              <a:rPr spc="-45" dirty="0"/>
              <a:t> </a:t>
            </a:r>
            <a:r>
              <a:rPr spc="-20" dirty="0"/>
              <a:t>Trieste,</a:t>
            </a:r>
            <a:r>
              <a:rPr spc="-45" dirty="0"/>
              <a:t> </a:t>
            </a:r>
            <a:r>
              <a:rPr dirty="0"/>
              <a:t>October</a:t>
            </a:r>
            <a:r>
              <a:rPr spc="-45" dirty="0"/>
              <a:t> </a:t>
            </a:r>
            <a:r>
              <a:rPr dirty="0"/>
              <a:t>2016.</a:t>
            </a:r>
            <a:r>
              <a:rPr spc="-45" dirty="0"/>
              <a:t> </a:t>
            </a:r>
            <a:r>
              <a:rPr dirty="0"/>
              <a:t>Ruben</a:t>
            </a:r>
            <a:r>
              <a:rPr spc="-45" dirty="0"/>
              <a:t> </a:t>
            </a:r>
            <a:r>
              <a:rPr spc="-10" dirty="0"/>
              <a:t>Reininger</a:t>
            </a:r>
          </a:p>
        </p:txBody>
      </p:sp>
      <p:sp>
        <p:nvSpPr>
          <p:cNvPr id="20" name="object 2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25" dirty="0"/>
              <a:t>24</a:t>
            </a:fld>
            <a:endParaRPr spc="-25" dirty="0"/>
          </a:p>
        </p:txBody>
      </p:sp>
      <p:sp>
        <p:nvSpPr>
          <p:cNvPr id="21" name="object 21"/>
          <p:cNvSpPr txBox="1"/>
          <p:nvPr/>
        </p:nvSpPr>
        <p:spPr>
          <a:xfrm>
            <a:off x="1069339" y="9384967"/>
            <a:ext cx="72390" cy="211454"/>
          </a:xfrm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sz="1200" spc="-50" dirty="0">
                <a:solidFill>
                  <a:srgbClr val="275D90"/>
                </a:solidFill>
                <a:latin typeface="Calibri"/>
                <a:cs typeface="Calibri"/>
              </a:rPr>
              <a:t>-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0528174" y="5683912"/>
            <a:ext cx="1662430" cy="444500"/>
          </a:xfrm>
          <a:prstGeom prst="rect">
            <a:avLst/>
          </a:prstGeom>
          <a:solidFill>
            <a:srgbClr val="FFFDBB"/>
          </a:solidFill>
        </p:spPr>
        <p:txBody>
          <a:bodyPr vert="horz" wrap="square" lIns="0" tIns="18415" rIns="0" bIns="0" rtlCol="0">
            <a:spAutoFit/>
          </a:bodyPr>
          <a:lstStyle/>
          <a:p>
            <a:pPr marL="114300">
              <a:lnSpc>
                <a:spcPct val="100000"/>
              </a:lnSpc>
              <a:spcBef>
                <a:spcPts val="145"/>
              </a:spcBef>
            </a:pPr>
            <a:r>
              <a:rPr sz="2400" dirty="0">
                <a:solidFill>
                  <a:srgbClr val="FF2600"/>
                </a:solidFill>
                <a:latin typeface="Times New Roman"/>
                <a:cs typeface="Times New Roman"/>
              </a:rPr>
              <a:t>Not</a:t>
            </a:r>
            <a:r>
              <a:rPr sz="2400" spc="-20" dirty="0">
                <a:solidFill>
                  <a:srgbClr val="FF2600"/>
                </a:solidFill>
                <a:latin typeface="Times New Roman"/>
                <a:cs typeface="Times New Roman"/>
              </a:rPr>
              <a:t> </a:t>
            </a:r>
            <a:r>
              <a:rPr sz="2400" dirty="0">
                <a:solidFill>
                  <a:srgbClr val="FF2600"/>
                </a:solidFill>
                <a:latin typeface="Times New Roman"/>
                <a:cs typeface="Times New Roman"/>
              </a:rPr>
              <a:t>at</a:t>
            </a:r>
            <a:r>
              <a:rPr sz="2400" spc="-15" dirty="0">
                <a:solidFill>
                  <a:srgbClr val="FF2600"/>
                </a:solidFill>
                <a:latin typeface="Times New Roman"/>
                <a:cs typeface="Times New Roman"/>
              </a:rPr>
              <a:t> </a:t>
            </a:r>
            <a:r>
              <a:rPr sz="2400" spc="-10" dirty="0">
                <a:solidFill>
                  <a:srgbClr val="FF2600"/>
                </a:solidFill>
                <a:latin typeface="Times New Roman"/>
                <a:cs typeface="Times New Roman"/>
              </a:rPr>
              <a:t>focus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10198100" y="5803900"/>
            <a:ext cx="25781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90" dirty="0">
                <a:solidFill>
                  <a:srgbClr val="FF2600"/>
                </a:solidFill>
                <a:latin typeface="Segoe UI Symbol"/>
                <a:cs typeface="Segoe UI Symbol"/>
              </a:rPr>
              <a:t>✖</a:t>
            </a:r>
            <a:endParaRPr sz="2400">
              <a:latin typeface="Segoe UI Symbol"/>
              <a:cs typeface="Segoe UI Symbo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930838" y="1143960"/>
            <a:ext cx="1050290" cy="45021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2750" spc="-10" dirty="0">
                <a:solidFill>
                  <a:srgbClr val="FF0000"/>
                </a:solidFill>
                <a:latin typeface="Cambria"/>
                <a:cs typeface="Cambria"/>
              </a:rPr>
              <a:t>Source</a:t>
            </a:r>
            <a:endParaRPr sz="2750">
              <a:latin typeface="Cambria"/>
              <a:cs typeface="Cambria"/>
            </a:endParaRPr>
          </a:p>
        </p:txBody>
      </p:sp>
      <p:sp>
        <p:nvSpPr>
          <p:cNvPr id="22" name="object 7">
            <a:extLst>
              <a:ext uri="{FF2B5EF4-FFF2-40B4-BE49-F238E27FC236}">
                <a16:creationId xmlns:a16="http://schemas.microsoft.com/office/drawing/2014/main" id="{F472A029-8678-447E-BF3B-A46CB497332A}"/>
              </a:ext>
            </a:extLst>
          </p:cNvPr>
          <p:cNvSpPr txBox="1"/>
          <p:nvPr/>
        </p:nvSpPr>
        <p:spPr>
          <a:xfrm>
            <a:off x="892738" y="1143960"/>
            <a:ext cx="2409262" cy="2158924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135"/>
              </a:spcBef>
            </a:pPr>
            <a:r>
              <a:rPr sz="2750" spc="-10" dirty="0">
                <a:solidFill>
                  <a:srgbClr val="FF0000"/>
                </a:solidFill>
                <a:latin typeface="Cambria"/>
                <a:cs typeface="Cambria"/>
              </a:rPr>
              <a:t>Source</a:t>
            </a:r>
            <a:endParaRPr sz="2750" dirty="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160"/>
              </a:spcBef>
            </a:pPr>
            <a:endParaRPr sz="2750" dirty="0">
              <a:latin typeface="Cambria"/>
              <a:cs typeface="Cambria"/>
            </a:endParaRPr>
          </a:p>
          <a:p>
            <a:pPr marL="50800">
              <a:lnSpc>
                <a:spcPct val="100000"/>
              </a:lnSpc>
            </a:pPr>
            <a:r>
              <a:rPr sz="2750" i="1" spc="480" dirty="0">
                <a:solidFill>
                  <a:srgbClr val="FF0000"/>
                </a:solidFill>
                <a:latin typeface="Cambria"/>
                <a:cs typeface="Cambria"/>
              </a:rPr>
              <a:t>E</a:t>
            </a:r>
            <a:r>
              <a:rPr sz="2750" i="1" spc="325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2750" spc="640" dirty="0">
                <a:solidFill>
                  <a:srgbClr val="FF0000"/>
                </a:solidFill>
                <a:latin typeface="Cambria"/>
                <a:cs typeface="Cambria"/>
              </a:rPr>
              <a:t>=</a:t>
            </a:r>
            <a:r>
              <a:rPr sz="2750" spc="170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2750" spc="-10" dirty="0">
                <a:solidFill>
                  <a:srgbClr val="FF0000"/>
                </a:solidFill>
                <a:latin typeface="Cambria"/>
                <a:cs typeface="Cambria"/>
              </a:rPr>
              <a:t>1600</a:t>
            </a:r>
            <a:r>
              <a:rPr lang="en-US" sz="2750" spc="-10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2750" spc="-10" dirty="0">
                <a:solidFill>
                  <a:srgbClr val="FF0000"/>
                </a:solidFill>
                <a:latin typeface="Cambria"/>
                <a:cs typeface="Cambria"/>
              </a:rPr>
              <a:t>eV</a:t>
            </a:r>
            <a:endParaRPr sz="2750" dirty="0">
              <a:latin typeface="Cambria"/>
              <a:cs typeface="Cambria"/>
            </a:endParaRPr>
          </a:p>
          <a:p>
            <a:pPr marL="50800">
              <a:lnSpc>
                <a:spcPct val="100000"/>
              </a:lnSpc>
              <a:spcBef>
                <a:spcPts val="45"/>
              </a:spcBef>
            </a:pPr>
            <a:r>
              <a:rPr lang="en-US" sz="2750" spc="445" dirty="0" err="1">
                <a:solidFill>
                  <a:srgbClr val="FF0000"/>
                </a:solidFill>
                <a:latin typeface="Symbol" panose="05050102010706020507" pitchFamily="18" charset="2"/>
                <a:cs typeface="Cambria"/>
              </a:rPr>
              <a:t>S</a:t>
            </a:r>
            <a:r>
              <a:rPr sz="2925" i="1" spc="667" baseline="-11396" dirty="0" err="1">
                <a:solidFill>
                  <a:srgbClr val="FF0000"/>
                </a:solidFill>
                <a:latin typeface="Calibri"/>
                <a:cs typeface="Calibri"/>
              </a:rPr>
              <a:t>x</a:t>
            </a:r>
            <a:r>
              <a:rPr sz="2925" i="1" spc="697" baseline="-11396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750" spc="640" dirty="0">
                <a:solidFill>
                  <a:srgbClr val="FF0000"/>
                </a:solidFill>
                <a:latin typeface="Cambria"/>
                <a:cs typeface="Cambria"/>
              </a:rPr>
              <a:t>=</a:t>
            </a:r>
            <a:r>
              <a:rPr sz="2750" spc="175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2750" spc="-20" dirty="0">
                <a:solidFill>
                  <a:srgbClr val="FF0000"/>
                </a:solidFill>
                <a:latin typeface="Cambria"/>
                <a:cs typeface="Cambria"/>
              </a:rPr>
              <a:t>280</a:t>
            </a:r>
            <a:r>
              <a:rPr lang="en-US" sz="2750" spc="-20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2750" i="1" spc="-20" dirty="0">
                <a:solidFill>
                  <a:srgbClr val="FF0000"/>
                </a:solidFill>
                <a:latin typeface="Cambria"/>
                <a:cs typeface="Cambria"/>
              </a:rPr>
              <a:t>µ</a:t>
            </a:r>
            <a:r>
              <a:rPr sz="2750" spc="-20" dirty="0">
                <a:solidFill>
                  <a:srgbClr val="FF0000"/>
                </a:solidFill>
                <a:latin typeface="Cambria"/>
                <a:cs typeface="Cambria"/>
              </a:rPr>
              <a:t>m</a:t>
            </a:r>
            <a:endParaRPr sz="2750" dirty="0">
              <a:latin typeface="Cambria"/>
              <a:cs typeface="Cambria"/>
            </a:endParaRPr>
          </a:p>
          <a:p>
            <a:pPr marL="50800">
              <a:lnSpc>
                <a:spcPct val="100000"/>
              </a:lnSpc>
              <a:spcBef>
                <a:spcPts val="45"/>
              </a:spcBef>
            </a:pPr>
            <a:r>
              <a:rPr lang="en-US" sz="2750" spc="445" dirty="0" err="1">
                <a:solidFill>
                  <a:srgbClr val="FF0000"/>
                </a:solidFill>
                <a:latin typeface="Symbol" panose="05050102010706020507" pitchFamily="18" charset="2"/>
                <a:cs typeface="Cambria"/>
              </a:rPr>
              <a:t>S</a:t>
            </a:r>
            <a:r>
              <a:rPr sz="2925" i="1" spc="577" baseline="-11396" dirty="0" err="1">
                <a:solidFill>
                  <a:srgbClr val="FF0000"/>
                </a:solidFill>
                <a:latin typeface="Calibri"/>
                <a:cs typeface="Calibri"/>
              </a:rPr>
              <a:t>z</a:t>
            </a:r>
            <a:r>
              <a:rPr sz="2925" i="1" spc="817" baseline="-11396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750" spc="640" dirty="0">
                <a:solidFill>
                  <a:srgbClr val="FF0000"/>
                </a:solidFill>
                <a:latin typeface="Cambria"/>
                <a:cs typeface="Cambria"/>
              </a:rPr>
              <a:t>=</a:t>
            </a:r>
            <a:r>
              <a:rPr sz="2750" spc="175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2750" spc="-10" dirty="0">
                <a:solidFill>
                  <a:srgbClr val="FF0000"/>
                </a:solidFill>
                <a:latin typeface="Cambria"/>
                <a:cs typeface="Cambria"/>
              </a:rPr>
              <a:t>154</a:t>
            </a:r>
            <a:r>
              <a:rPr lang="en-US" sz="2750" spc="-10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2750" i="1" spc="-10" dirty="0">
                <a:solidFill>
                  <a:srgbClr val="FF0000"/>
                </a:solidFill>
                <a:latin typeface="Cambria"/>
                <a:cs typeface="Cambria"/>
              </a:rPr>
              <a:t>µ</a:t>
            </a:r>
            <a:r>
              <a:rPr sz="2750" spc="-10" dirty="0">
                <a:solidFill>
                  <a:srgbClr val="FF0000"/>
                </a:solidFill>
                <a:latin typeface="Cambria"/>
                <a:cs typeface="Cambria"/>
              </a:rPr>
              <a:t>m</a:t>
            </a:r>
            <a:endParaRPr sz="2750" dirty="0">
              <a:latin typeface="Cambria"/>
              <a:cs typeface="Cambria"/>
            </a:endParaRPr>
          </a:p>
        </p:txBody>
      </p:sp>
      <p:sp>
        <p:nvSpPr>
          <p:cNvPr id="23" name="object 8">
            <a:extLst>
              <a:ext uri="{FF2B5EF4-FFF2-40B4-BE49-F238E27FC236}">
                <a16:creationId xmlns:a16="http://schemas.microsoft.com/office/drawing/2014/main" id="{16F513CB-12B7-450E-B50B-AEBCCBAE6E77}"/>
              </a:ext>
            </a:extLst>
          </p:cNvPr>
          <p:cNvSpPr txBox="1"/>
          <p:nvPr/>
        </p:nvSpPr>
        <p:spPr>
          <a:xfrm>
            <a:off x="905438" y="3249289"/>
            <a:ext cx="2650562" cy="953466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35"/>
              </a:spcBef>
            </a:pPr>
            <a:r>
              <a:rPr lang="en-US" sz="3200" spc="445" dirty="0" err="1">
                <a:solidFill>
                  <a:srgbClr val="FF0000"/>
                </a:solidFill>
                <a:latin typeface="Symbol" panose="05050102010706020507" pitchFamily="18" charset="2"/>
                <a:cs typeface="Cambria"/>
              </a:rPr>
              <a:t>S</a:t>
            </a:r>
            <a:r>
              <a:rPr lang="en-US" sz="3600" i="1" spc="667" baseline="-11396" dirty="0" err="1">
                <a:solidFill>
                  <a:srgbClr val="FF0000"/>
                </a:solidFill>
                <a:latin typeface="Calibri"/>
                <a:cs typeface="Calibri"/>
              </a:rPr>
              <a:t>x</a:t>
            </a:r>
            <a:r>
              <a:rPr lang="en-US" sz="3600" i="1" spc="667" baseline="-11396" dirty="0">
                <a:solidFill>
                  <a:srgbClr val="FF0000"/>
                </a:solidFill>
                <a:latin typeface="Calibri"/>
                <a:cs typeface="Calibri"/>
              </a:rPr>
              <a:t>’</a:t>
            </a:r>
            <a:r>
              <a:rPr lang="en-US" sz="3600" i="1" spc="697" baseline="-11396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3200" spc="640" dirty="0">
                <a:solidFill>
                  <a:srgbClr val="FF0000"/>
                </a:solidFill>
                <a:latin typeface="Cambria"/>
                <a:cs typeface="Cambria"/>
              </a:rPr>
              <a:t>=</a:t>
            </a:r>
            <a:r>
              <a:rPr lang="en-GB" sz="3200" spc="-10" dirty="0">
                <a:solidFill>
                  <a:srgbClr val="FF0000"/>
                </a:solidFill>
                <a:latin typeface="Cambria"/>
                <a:cs typeface="Cambria"/>
              </a:rPr>
              <a:t> 18 </a:t>
            </a:r>
            <a:r>
              <a:rPr lang="en-GB" sz="3200" i="1" spc="-10" dirty="0">
                <a:solidFill>
                  <a:srgbClr val="FF0000"/>
                </a:solidFill>
                <a:latin typeface="Cambria"/>
                <a:cs typeface="Cambria"/>
              </a:rPr>
              <a:t>µ</a:t>
            </a:r>
            <a:r>
              <a:rPr lang="en-GB" sz="3200" spc="-10" dirty="0">
                <a:solidFill>
                  <a:srgbClr val="FF0000"/>
                </a:solidFill>
                <a:latin typeface="Cambria"/>
                <a:cs typeface="Cambria"/>
              </a:rPr>
              <a:t>rad</a:t>
            </a:r>
            <a:r>
              <a:rPr lang="en-US" sz="3200" spc="175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</a:p>
          <a:p>
            <a:pPr marL="38100">
              <a:lnSpc>
                <a:spcPct val="100000"/>
              </a:lnSpc>
              <a:spcBef>
                <a:spcPts val="135"/>
              </a:spcBef>
            </a:pPr>
            <a:r>
              <a:rPr lang="en-US" sz="2800" spc="445" dirty="0" err="1">
                <a:solidFill>
                  <a:srgbClr val="FF0000"/>
                </a:solidFill>
                <a:latin typeface="Symbol" panose="05050102010706020507" pitchFamily="18" charset="2"/>
                <a:cs typeface="Cambria"/>
              </a:rPr>
              <a:t>S</a:t>
            </a:r>
            <a:r>
              <a:rPr lang="en-US" sz="3200" i="1" spc="577" baseline="-11396" dirty="0" err="1">
                <a:solidFill>
                  <a:srgbClr val="FF0000"/>
                </a:solidFill>
                <a:latin typeface="Calibri"/>
                <a:cs typeface="Calibri"/>
              </a:rPr>
              <a:t>z</a:t>
            </a:r>
            <a:r>
              <a:rPr lang="en-US" sz="3200" i="1" spc="577" baseline="-11396" dirty="0">
                <a:solidFill>
                  <a:srgbClr val="FF0000"/>
                </a:solidFill>
                <a:latin typeface="Calibri"/>
                <a:cs typeface="Calibri"/>
              </a:rPr>
              <a:t>’</a:t>
            </a:r>
            <a:r>
              <a:rPr lang="en-US" sz="3200" i="1" spc="817" baseline="-11396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800" spc="640" dirty="0">
                <a:solidFill>
                  <a:srgbClr val="FF0000"/>
                </a:solidFill>
                <a:latin typeface="Cambria"/>
                <a:cs typeface="Cambria"/>
              </a:rPr>
              <a:t>=</a:t>
            </a:r>
            <a:r>
              <a:rPr lang="en-GB" sz="2800" spc="-10" dirty="0">
                <a:solidFill>
                  <a:srgbClr val="FF0000"/>
                </a:solidFill>
                <a:latin typeface="Cambria"/>
                <a:cs typeface="Cambria"/>
              </a:rPr>
              <a:t> 14 </a:t>
            </a:r>
            <a:r>
              <a:rPr lang="en-GB" sz="2800" i="1" spc="-10" dirty="0">
                <a:solidFill>
                  <a:srgbClr val="FF0000"/>
                </a:solidFill>
                <a:latin typeface="Cambria"/>
                <a:cs typeface="Cambria"/>
              </a:rPr>
              <a:t>µ</a:t>
            </a:r>
            <a:r>
              <a:rPr lang="en-GB" sz="2800" spc="-10" dirty="0">
                <a:solidFill>
                  <a:srgbClr val="FF0000"/>
                </a:solidFill>
                <a:latin typeface="Cambria"/>
                <a:cs typeface="Cambria"/>
              </a:rPr>
              <a:t>rad</a:t>
            </a:r>
            <a:endParaRPr sz="2800" dirty="0">
              <a:latin typeface="+mj-lt"/>
              <a:cs typeface="Trebuchet MS"/>
            </a:endParaRPr>
          </a:p>
        </p:txBody>
      </p:sp>
      <p:sp>
        <p:nvSpPr>
          <p:cNvPr id="25" name="object 9">
            <a:extLst>
              <a:ext uri="{FF2B5EF4-FFF2-40B4-BE49-F238E27FC236}">
                <a16:creationId xmlns:a16="http://schemas.microsoft.com/office/drawing/2014/main" id="{7413FF74-EC37-4280-B977-CF08BC429298}"/>
              </a:ext>
            </a:extLst>
          </p:cNvPr>
          <p:cNvSpPr txBox="1"/>
          <p:nvPr/>
        </p:nvSpPr>
        <p:spPr>
          <a:xfrm>
            <a:off x="6210300" y="6972300"/>
            <a:ext cx="302450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solidFill>
                  <a:srgbClr val="FF2600"/>
                </a:solidFill>
                <a:latin typeface="Arial MT"/>
                <a:cs typeface="Arial MT"/>
              </a:rPr>
              <a:t>Second</a:t>
            </a:r>
            <a:r>
              <a:rPr sz="2400" spc="-80" dirty="0">
                <a:solidFill>
                  <a:srgbClr val="FF2600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F2600"/>
                </a:solidFill>
                <a:latin typeface="Arial MT"/>
                <a:cs typeface="Arial MT"/>
              </a:rPr>
              <a:t>Sanity</a:t>
            </a:r>
            <a:r>
              <a:rPr sz="2400" spc="-75" dirty="0">
                <a:solidFill>
                  <a:srgbClr val="FF2600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FF2600"/>
                </a:solidFill>
                <a:latin typeface="Arial MT"/>
                <a:cs typeface="Arial MT"/>
              </a:rPr>
              <a:t>Check!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377CA5C-7A02-4C9F-B5E1-0AF5BAD4AB5D}"/>
              </a:ext>
            </a:extLst>
          </p:cNvPr>
          <p:cNvSpPr/>
          <p:nvPr/>
        </p:nvSpPr>
        <p:spPr>
          <a:xfrm>
            <a:off x="71328" y="0"/>
            <a:ext cx="249299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02_SGM_1600eV.ows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F67361D-7ADF-4FEB-BCBD-78A063B7B1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9929" y="7637838"/>
            <a:ext cx="5569418" cy="81731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8FE70755-6502-417F-9217-910A61F554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5776" y="6549516"/>
            <a:ext cx="2549234" cy="2335138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43EA9290-8451-4560-9EDD-31644C7698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17863" y="7508507"/>
            <a:ext cx="3170295" cy="1101133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C4231F85-14A5-414B-A204-E4DC8AE5C47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70361" y="1521056"/>
            <a:ext cx="4664078" cy="3211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28418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726754" y="0"/>
            <a:ext cx="5278045" cy="215900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069339" y="254000"/>
            <a:ext cx="11046461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031240" algn="l"/>
                <a:tab pos="5364480" algn="l"/>
              </a:tabLst>
            </a:pPr>
            <a:r>
              <a:rPr spc="-25" dirty="0"/>
              <a:t>SGM</a:t>
            </a:r>
            <a:r>
              <a:rPr dirty="0"/>
              <a:t>	Ray</a:t>
            </a:r>
            <a:r>
              <a:rPr spc="-155" dirty="0"/>
              <a:t> </a:t>
            </a:r>
            <a:r>
              <a:rPr spc="-45" dirty="0"/>
              <a:t>Tracing</a:t>
            </a:r>
            <a:r>
              <a:rPr spc="-95" dirty="0"/>
              <a:t> </a:t>
            </a:r>
            <a:r>
              <a:rPr dirty="0"/>
              <a:t>at</a:t>
            </a:r>
            <a:r>
              <a:rPr spc="-95" dirty="0"/>
              <a:t> </a:t>
            </a:r>
            <a:r>
              <a:rPr spc="-20" dirty="0"/>
              <a:t>1600</a:t>
            </a:r>
            <a:r>
              <a:rPr dirty="0"/>
              <a:t>	</a:t>
            </a:r>
            <a:r>
              <a:rPr spc="-90" dirty="0"/>
              <a:t>eV,</a:t>
            </a:r>
            <a:r>
              <a:rPr spc="-170" dirty="0"/>
              <a:t> </a:t>
            </a:r>
            <a:r>
              <a:rPr lang="en-US" spc="-170" dirty="0"/>
              <a:t>slit moved, </a:t>
            </a:r>
            <a:r>
              <a:rPr spc="-10" dirty="0"/>
              <a:t>corrected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6314650" y="7302420"/>
            <a:ext cx="5203825" cy="1158875"/>
          </a:xfrm>
          <a:prstGeom prst="rect">
            <a:avLst/>
          </a:prstGeom>
          <a:solidFill>
            <a:srgbClr val="EFEACC"/>
          </a:solidFill>
        </p:spPr>
        <p:txBody>
          <a:bodyPr vert="horz" wrap="square" lIns="0" tIns="25400" rIns="0" bIns="0" rtlCol="0">
            <a:spAutoFit/>
          </a:bodyPr>
          <a:lstStyle/>
          <a:p>
            <a:pPr marL="111125">
              <a:lnSpc>
                <a:spcPts val="2840"/>
              </a:lnSpc>
              <a:spcBef>
                <a:spcPts val="200"/>
              </a:spcBef>
            </a:pPr>
            <a:r>
              <a:rPr sz="2400" dirty="0">
                <a:solidFill>
                  <a:srgbClr val="005493"/>
                </a:solidFill>
                <a:latin typeface="Arial MT"/>
                <a:cs typeface="Arial MT"/>
              </a:rPr>
              <a:t>In</a:t>
            </a:r>
            <a:r>
              <a:rPr sz="2400" spc="-30" dirty="0">
                <a:solidFill>
                  <a:srgbClr val="005493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5493"/>
                </a:solidFill>
                <a:latin typeface="Arial MT"/>
                <a:cs typeface="Arial MT"/>
              </a:rPr>
              <a:t>the</a:t>
            </a:r>
            <a:r>
              <a:rPr sz="2400" spc="-25" dirty="0">
                <a:solidFill>
                  <a:srgbClr val="005493"/>
                </a:solidFill>
                <a:latin typeface="Arial MT"/>
                <a:cs typeface="Arial MT"/>
              </a:rPr>
              <a:t> </a:t>
            </a:r>
            <a:r>
              <a:rPr sz="2400" spc="-20" dirty="0">
                <a:solidFill>
                  <a:srgbClr val="005493"/>
                </a:solidFill>
                <a:latin typeface="Arial MT"/>
                <a:cs typeface="Arial MT"/>
              </a:rPr>
              <a:t>SGM:</a:t>
            </a:r>
            <a:endParaRPr sz="2400" dirty="0">
              <a:latin typeface="Arial MT"/>
              <a:cs typeface="Arial MT"/>
            </a:endParaRPr>
          </a:p>
          <a:p>
            <a:pPr marL="111125" marR="137795">
              <a:lnSpc>
                <a:spcPts val="2800"/>
              </a:lnSpc>
              <a:spcBef>
                <a:spcPts val="120"/>
              </a:spcBef>
            </a:pPr>
            <a:r>
              <a:rPr sz="2400" dirty="0">
                <a:solidFill>
                  <a:srgbClr val="005493"/>
                </a:solidFill>
                <a:latin typeface="Arial MT"/>
                <a:cs typeface="Arial MT"/>
              </a:rPr>
              <a:t>Exit</a:t>
            </a:r>
            <a:r>
              <a:rPr sz="2400" spc="-50" dirty="0">
                <a:solidFill>
                  <a:srgbClr val="005493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5493"/>
                </a:solidFill>
                <a:latin typeface="Arial MT"/>
                <a:cs typeface="Arial MT"/>
              </a:rPr>
              <a:t>slit</a:t>
            </a:r>
            <a:r>
              <a:rPr sz="2400" spc="-45" dirty="0">
                <a:solidFill>
                  <a:srgbClr val="005493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5493"/>
                </a:solidFill>
                <a:latin typeface="Arial MT"/>
                <a:cs typeface="Arial MT"/>
              </a:rPr>
              <a:t>need</a:t>
            </a:r>
            <a:r>
              <a:rPr sz="2400" spc="-45" dirty="0">
                <a:solidFill>
                  <a:srgbClr val="005493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5493"/>
                </a:solidFill>
                <a:latin typeface="Arial MT"/>
                <a:cs typeface="Arial MT"/>
              </a:rPr>
              <a:t>to</a:t>
            </a:r>
            <a:r>
              <a:rPr sz="2400" spc="-40" dirty="0">
                <a:solidFill>
                  <a:srgbClr val="005493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5493"/>
                </a:solidFill>
                <a:latin typeface="Arial MT"/>
                <a:cs typeface="Arial MT"/>
              </a:rPr>
              <a:t>move</a:t>
            </a:r>
            <a:r>
              <a:rPr sz="2400" spc="-40" dirty="0">
                <a:solidFill>
                  <a:srgbClr val="005493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5493"/>
                </a:solidFill>
                <a:latin typeface="Arial MT"/>
                <a:cs typeface="Arial MT"/>
              </a:rPr>
              <a:t>to</a:t>
            </a:r>
            <a:r>
              <a:rPr sz="2400" spc="-45" dirty="0">
                <a:solidFill>
                  <a:srgbClr val="005493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5493"/>
                </a:solidFill>
                <a:latin typeface="Arial MT"/>
                <a:cs typeface="Arial MT"/>
              </a:rPr>
              <a:t>keep</a:t>
            </a:r>
            <a:r>
              <a:rPr sz="2400" spc="-40" dirty="0">
                <a:solidFill>
                  <a:srgbClr val="005493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05493"/>
                </a:solidFill>
                <a:latin typeface="Arial MT"/>
                <a:cs typeface="Arial MT"/>
              </a:rPr>
              <a:t>focus </a:t>
            </a:r>
            <a:r>
              <a:rPr sz="2400" dirty="0">
                <a:solidFill>
                  <a:srgbClr val="005493"/>
                </a:solidFill>
                <a:latin typeface="Arial MT"/>
                <a:cs typeface="Arial MT"/>
              </a:rPr>
              <a:t>(does</a:t>
            </a:r>
            <a:r>
              <a:rPr sz="2400" spc="-60" dirty="0">
                <a:solidFill>
                  <a:srgbClr val="005493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5493"/>
                </a:solidFill>
                <a:latin typeface="Arial MT"/>
                <a:cs typeface="Arial MT"/>
              </a:rPr>
              <a:t>not</a:t>
            </a:r>
            <a:r>
              <a:rPr sz="2400" spc="-60" dirty="0">
                <a:solidFill>
                  <a:srgbClr val="005493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5493"/>
                </a:solidFill>
                <a:latin typeface="Arial MT"/>
                <a:cs typeface="Arial MT"/>
              </a:rPr>
              <a:t>correct</a:t>
            </a:r>
            <a:r>
              <a:rPr sz="2400" spc="-60" dirty="0">
                <a:solidFill>
                  <a:srgbClr val="005493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5493"/>
                </a:solidFill>
                <a:latin typeface="Arial MT"/>
                <a:cs typeface="Arial MT"/>
              </a:rPr>
              <a:t>coma</a:t>
            </a:r>
            <a:r>
              <a:rPr sz="2400" spc="-55" dirty="0">
                <a:solidFill>
                  <a:srgbClr val="005493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05493"/>
                </a:solidFill>
                <a:latin typeface="Arial MT"/>
                <a:cs typeface="Arial MT"/>
              </a:rPr>
              <a:t>aberration)</a:t>
            </a:r>
            <a:endParaRPr sz="2400" dirty="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29238" y="3733739"/>
            <a:ext cx="6134100" cy="437299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10"/>
              </a:spcBef>
              <a:tabLst>
                <a:tab pos="3311525" algn="l"/>
              </a:tabLst>
            </a:pPr>
            <a:r>
              <a:rPr sz="2750" i="1" spc="80" dirty="0">
                <a:latin typeface="Cambria"/>
                <a:cs typeface="Cambria"/>
              </a:rPr>
              <a:t>F</a:t>
            </a:r>
            <a:r>
              <a:rPr sz="2850" spc="120" baseline="-11695" dirty="0">
                <a:latin typeface="Calibri"/>
                <a:cs typeface="Calibri"/>
              </a:rPr>
              <a:t>20</a:t>
            </a:r>
            <a:r>
              <a:rPr sz="2750" spc="80" dirty="0">
                <a:latin typeface="Cambria"/>
                <a:cs typeface="Cambria"/>
              </a:rPr>
              <a:t>(1600eV)=0</a:t>
            </a:r>
            <a:r>
              <a:rPr sz="2750" spc="210" dirty="0">
                <a:latin typeface="Cambria"/>
                <a:cs typeface="Cambria"/>
              </a:rPr>
              <a:t> </a:t>
            </a:r>
            <a:r>
              <a:rPr lang="en-US" sz="2750" spc="994" dirty="0">
                <a:latin typeface="Cambria"/>
                <a:cs typeface="Cambria"/>
              </a:rPr>
              <a:t> </a:t>
            </a:r>
            <a:r>
              <a:rPr sz="2750" i="1" dirty="0">
                <a:latin typeface="Arial"/>
                <a:cs typeface="Arial"/>
              </a:rPr>
              <a:t>	</a:t>
            </a:r>
            <a:r>
              <a:rPr sz="2750" i="1" dirty="0">
                <a:latin typeface="Cambria"/>
                <a:cs typeface="Cambria"/>
              </a:rPr>
              <a:t>r</a:t>
            </a:r>
            <a:r>
              <a:rPr lang="en-US" sz="2850" i="1" baseline="33625" dirty="0">
                <a:latin typeface="Times New Roman"/>
                <a:cs typeface="Times New Roman"/>
              </a:rPr>
              <a:t>'</a:t>
            </a:r>
            <a:r>
              <a:rPr sz="2850" i="1" spc="419" baseline="33625" dirty="0">
                <a:latin typeface="Times New Roman"/>
                <a:cs typeface="Times New Roman"/>
              </a:rPr>
              <a:t> </a:t>
            </a:r>
            <a:r>
              <a:rPr sz="2750" spc="640" dirty="0">
                <a:latin typeface="Cambria"/>
                <a:cs typeface="Cambria"/>
              </a:rPr>
              <a:t>=</a:t>
            </a:r>
            <a:r>
              <a:rPr sz="2750" spc="55" dirty="0">
                <a:latin typeface="Cambria"/>
                <a:cs typeface="Cambria"/>
              </a:rPr>
              <a:t> </a:t>
            </a:r>
            <a:r>
              <a:rPr sz="2750" spc="-80" dirty="0">
                <a:latin typeface="Cambria"/>
                <a:cs typeface="Cambria"/>
              </a:rPr>
              <a:t>11046</a:t>
            </a:r>
            <a:r>
              <a:rPr sz="2750" spc="175" dirty="0">
                <a:latin typeface="Cambria"/>
                <a:cs typeface="Cambria"/>
              </a:rPr>
              <a:t> </a:t>
            </a:r>
            <a:r>
              <a:rPr sz="2750" spc="-25" dirty="0">
                <a:latin typeface="Cambria"/>
                <a:cs typeface="Cambria"/>
              </a:rPr>
              <a:t>mm</a:t>
            </a:r>
            <a:endParaRPr sz="2750" dirty="0">
              <a:latin typeface="Cambria"/>
              <a:cs typeface="Cambria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8988069" y="4762708"/>
            <a:ext cx="1745614" cy="0"/>
          </a:xfrm>
          <a:custGeom>
            <a:avLst/>
            <a:gdLst/>
            <a:ahLst/>
            <a:cxnLst/>
            <a:rect l="l" t="t" r="r" b="b"/>
            <a:pathLst>
              <a:path w="1745615">
                <a:moveTo>
                  <a:pt x="0" y="0"/>
                </a:moveTo>
                <a:lnTo>
                  <a:pt x="1745391" y="0"/>
                </a:lnTo>
              </a:path>
            </a:pathLst>
          </a:custGeom>
          <a:ln w="1409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10818484" y="4762708"/>
            <a:ext cx="269240" cy="0"/>
          </a:xfrm>
          <a:custGeom>
            <a:avLst/>
            <a:gdLst/>
            <a:ahLst/>
            <a:cxnLst/>
            <a:rect l="l" t="t" r="r" b="b"/>
            <a:pathLst>
              <a:path w="269240">
                <a:moveTo>
                  <a:pt x="0" y="0"/>
                </a:moveTo>
                <a:lnTo>
                  <a:pt x="269082" y="0"/>
                </a:lnTo>
              </a:path>
            </a:pathLst>
          </a:custGeom>
          <a:ln w="1409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6874438" y="3429000"/>
            <a:ext cx="5763260" cy="1505585"/>
          </a:xfrm>
          <a:prstGeom prst="rect">
            <a:avLst/>
          </a:prstGeom>
        </p:spPr>
        <p:txBody>
          <a:bodyPr vert="horz" wrap="square" lIns="0" tIns="33020" rIns="0" bIns="0" rtlCol="0">
            <a:spAutoFit/>
          </a:bodyPr>
          <a:lstStyle/>
          <a:p>
            <a:pPr marL="2713990" marR="2092325" indent="-102235" algn="ctr">
              <a:lnSpc>
                <a:spcPts val="2800"/>
              </a:lnSpc>
              <a:spcBef>
                <a:spcPts val="260"/>
              </a:spcBef>
            </a:pPr>
            <a:r>
              <a:rPr sz="2400" spc="-10" dirty="0">
                <a:solidFill>
                  <a:srgbClr val="FF2600"/>
                </a:solidFill>
                <a:latin typeface="Arial MT"/>
                <a:cs typeface="Arial MT"/>
              </a:rPr>
              <a:t>Sanity Check!</a:t>
            </a:r>
            <a:endParaRPr sz="2400" dirty="0">
              <a:latin typeface="Arial MT"/>
              <a:cs typeface="Arial MT"/>
            </a:endParaRPr>
          </a:p>
          <a:p>
            <a:pPr marL="545465" algn="ctr">
              <a:lnSpc>
                <a:spcPts val="2590"/>
              </a:lnSpc>
              <a:spcBef>
                <a:spcPts val="705"/>
              </a:spcBef>
            </a:pPr>
            <a:r>
              <a:rPr sz="2750" spc="-50" dirty="0">
                <a:latin typeface="Cambria"/>
                <a:cs typeface="Cambria"/>
              </a:rPr>
              <a:t>cos</a:t>
            </a:r>
            <a:r>
              <a:rPr sz="2750" spc="-140" dirty="0">
                <a:latin typeface="Cambria"/>
                <a:cs typeface="Cambria"/>
              </a:rPr>
              <a:t> </a:t>
            </a:r>
            <a:r>
              <a:rPr sz="2750" i="1" spc="-10" dirty="0">
                <a:latin typeface="Cambria"/>
                <a:cs typeface="Cambria"/>
              </a:rPr>
              <a:t>α</a:t>
            </a:r>
            <a:r>
              <a:rPr sz="2750" spc="-10" dirty="0">
                <a:latin typeface="Cambria"/>
                <a:cs typeface="Cambria"/>
              </a:rPr>
              <a:t>(1600)</a:t>
            </a:r>
            <a:r>
              <a:rPr sz="2750" spc="-80" dirty="0">
                <a:latin typeface="Cambria"/>
                <a:cs typeface="Cambria"/>
              </a:rPr>
              <a:t> </a:t>
            </a:r>
            <a:r>
              <a:rPr sz="2750" i="1" spc="-25" dirty="0">
                <a:latin typeface="Cambria"/>
                <a:cs typeface="Cambria"/>
              </a:rPr>
              <a:t>r</a:t>
            </a:r>
            <a:r>
              <a:rPr lang="en-US" sz="2925" i="1" spc="-37" baseline="28490" dirty="0">
                <a:latin typeface="Times New Roman"/>
                <a:cs typeface="Times New Roman"/>
              </a:rPr>
              <a:t>'</a:t>
            </a:r>
            <a:endParaRPr sz="2925" baseline="28490" dirty="0">
              <a:latin typeface="Times New Roman"/>
              <a:cs typeface="Times New Roman"/>
            </a:endParaRPr>
          </a:p>
          <a:p>
            <a:pPr marL="38100">
              <a:lnSpc>
                <a:spcPts val="2590"/>
              </a:lnSpc>
              <a:tabLst>
                <a:tab pos="3993515" algn="l"/>
                <a:tab pos="4353560" algn="l"/>
              </a:tabLst>
            </a:pPr>
            <a:r>
              <a:rPr sz="2750" spc="95" dirty="0">
                <a:latin typeface="Cambria"/>
                <a:cs typeface="Cambria"/>
              </a:rPr>
              <a:t>2</a:t>
            </a:r>
            <a:r>
              <a:rPr sz="2750" i="1" spc="95" dirty="0">
                <a:latin typeface="Cambria"/>
                <a:cs typeface="Cambria"/>
              </a:rPr>
              <a:t>.</a:t>
            </a:r>
            <a:r>
              <a:rPr sz="2750" spc="95" dirty="0">
                <a:latin typeface="Cambria"/>
                <a:cs typeface="Cambria"/>
              </a:rPr>
              <a:t>35</a:t>
            </a:r>
            <a:r>
              <a:rPr lang="en-US" sz="2750" spc="95" dirty="0">
                <a:latin typeface="Symbol" panose="05050102010706020507" pitchFamily="18" charset="2"/>
                <a:cs typeface="Cambria"/>
              </a:rPr>
              <a:t>S</a:t>
            </a:r>
            <a:r>
              <a:rPr sz="2925" i="1" spc="142" baseline="-11396" dirty="0">
                <a:latin typeface="Calibri"/>
                <a:cs typeface="Calibri"/>
              </a:rPr>
              <a:t>z</a:t>
            </a:r>
            <a:r>
              <a:rPr sz="2925" i="1" spc="-315" baseline="-11396" dirty="0">
                <a:latin typeface="Calibri"/>
                <a:cs typeface="Calibri"/>
              </a:rPr>
              <a:t> </a:t>
            </a:r>
            <a:r>
              <a:rPr sz="2750" spc="-85" dirty="0">
                <a:latin typeface="Cambria"/>
                <a:cs typeface="Cambria"/>
              </a:rPr>
              <a:t>(1600)</a:t>
            </a:r>
            <a:r>
              <a:rPr sz="2750" spc="-210" dirty="0">
                <a:latin typeface="Cambria"/>
                <a:cs typeface="Cambria"/>
              </a:rPr>
              <a:t> </a:t>
            </a:r>
            <a:r>
              <a:rPr sz="4125" spc="-75" baseline="-38383" dirty="0">
                <a:latin typeface="Cambria"/>
                <a:cs typeface="Cambria"/>
              </a:rPr>
              <a:t>cos</a:t>
            </a:r>
            <a:r>
              <a:rPr sz="4125" spc="-165" baseline="-38383" dirty="0">
                <a:latin typeface="Cambria"/>
                <a:cs typeface="Cambria"/>
              </a:rPr>
              <a:t> </a:t>
            </a:r>
            <a:r>
              <a:rPr sz="4125" i="1" spc="-15" baseline="-38383" dirty="0">
                <a:latin typeface="Cambria"/>
                <a:cs typeface="Cambria"/>
              </a:rPr>
              <a:t>β</a:t>
            </a:r>
            <a:r>
              <a:rPr sz="4125" spc="-15" baseline="-38383" dirty="0">
                <a:latin typeface="Cambria"/>
                <a:cs typeface="Cambria"/>
              </a:rPr>
              <a:t>(1600)</a:t>
            </a:r>
            <a:r>
              <a:rPr sz="4125" baseline="-38383" dirty="0">
                <a:latin typeface="Cambria"/>
                <a:cs typeface="Cambria"/>
              </a:rPr>
              <a:t>	</a:t>
            </a:r>
            <a:r>
              <a:rPr sz="4125" i="1" spc="104" baseline="-38383" dirty="0">
                <a:latin typeface="Cambria"/>
                <a:cs typeface="Cambria"/>
              </a:rPr>
              <a:t>r</a:t>
            </a:r>
            <a:r>
              <a:rPr sz="4125" i="1" baseline="-38383" dirty="0">
                <a:latin typeface="Cambria"/>
                <a:cs typeface="Cambria"/>
              </a:rPr>
              <a:t>	</a:t>
            </a:r>
            <a:r>
              <a:rPr sz="2750" spc="640" dirty="0">
                <a:latin typeface="Cambria"/>
                <a:cs typeface="Cambria"/>
              </a:rPr>
              <a:t>=</a:t>
            </a:r>
            <a:r>
              <a:rPr sz="2750" spc="40" dirty="0">
                <a:latin typeface="Cambria"/>
                <a:cs typeface="Cambria"/>
              </a:rPr>
              <a:t> </a:t>
            </a:r>
            <a:r>
              <a:rPr sz="2750" dirty="0">
                <a:latin typeface="Cambria"/>
                <a:cs typeface="Cambria"/>
              </a:rPr>
              <a:t>22</a:t>
            </a:r>
            <a:r>
              <a:rPr sz="2750" spc="170" dirty="0">
                <a:latin typeface="Cambria"/>
                <a:cs typeface="Cambria"/>
              </a:rPr>
              <a:t> </a:t>
            </a:r>
            <a:r>
              <a:rPr sz="2750" i="1" spc="175" dirty="0">
                <a:latin typeface="Cambria"/>
                <a:cs typeface="Cambria"/>
              </a:rPr>
              <a:t>µm</a:t>
            </a:r>
            <a:endParaRPr sz="2750" dirty="0">
              <a:latin typeface="Cambria"/>
              <a:cs typeface="Cambria"/>
            </a:endParaRPr>
          </a:p>
        </p:txBody>
      </p: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pc="-10" dirty="0"/>
              <a:t>Software</a:t>
            </a:r>
            <a:r>
              <a:rPr spc="-50" dirty="0"/>
              <a:t> </a:t>
            </a:r>
            <a:r>
              <a:rPr dirty="0"/>
              <a:t>for</a:t>
            </a:r>
            <a:r>
              <a:rPr spc="-45" dirty="0"/>
              <a:t> </a:t>
            </a:r>
            <a:r>
              <a:rPr dirty="0"/>
              <a:t>Optical</a:t>
            </a:r>
            <a:r>
              <a:rPr spc="-45" dirty="0"/>
              <a:t> </a:t>
            </a:r>
            <a:r>
              <a:rPr dirty="0"/>
              <a:t>Simulations,</a:t>
            </a:r>
            <a:r>
              <a:rPr spc="-45" dirty="0"/>
              <a:t> </a:t>
            </a:r>
            <a:r>
              <a:rPr spc="-20" dirty="0"/>
              <a:t>Trieste,</a:t>
            </a:r>
            <a:r>
              <a:rPr spc="-45" dirty="0"/>
              <a:t> </a:t>
            </a:r>
            <a:r>
              <a:rPr dirty="0"/>
              <a:t>October</a:t>
            </a:r>
            <a:r>
              <a:rPr spc="-45" dirty="0"/>
              <a:t> </a:t>
            </a:r>
            <a:r>
              <a:rPr dirty="0"/>
              <a:t>2016.</a:t>
            </a:r>
            <a:r>
              <a:rPr spc="-45" dirty="0"/>
              <a:t> </a:t>
            </a:r>
            <a:r>
              <a:rPr dirty="0"/>
              <a:t>Ruben</a:t>
            </a:r>
            <a:r>
              <a:rPr spc="-45" dirty="0"/>
              <a:t> </a:t>
            </a:r>
            <a:r>
              <a:rPr spc="-10" dirty="0"/>
              <a:t>Reininger</a:t>
            </a:r>
          </a:p>
        </p:txBody>
      </p:sp>
      <p:sp>
        <p:nvSpPr>
          <p:cNvPr id="14" name="object 1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25" dirty="0"/>
              <a:t>25</a:t>
            </a:fld>
            <a:endParaRPr spc="-25" dirty="0"/>
          </a:p>
        </p:txBody>
      </p:sp>
      <p:sp>
        <p:nvSpPr>
          <p:cNvPr id="15" name="object 15"/>
          <p:cNvSpPr txBox="1"/>
          <p:nvPr/>
        </p:nvSpPr>
        <p:spPr>
          <a:xfrm>
            <a:off x="1069339" y="9384967"/>
            <a:ext cx="72390" cy="211454"/>
          </a:xfrm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sz="1200" spc="-50" dirty="0">
                <a:solidFill>
                  <a:srgbClr val="275D90"/>
                </a:solidFill>
                <a:latin typeface="Calibri"/>
                <a:cs typeface="Calibri"/>
              </a:rPr>
              <a:t>-</a:t>
            </a:r>
            <a:endParaRPr sz="1200">
              <a:latin typeface="Calibri"/>
              <a:cs typeface="Calibri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BCD9C0B-D05F-4FE4-A513-E7E301365C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7011" y="2020796"/>
            <a:ext cx="5569418" cy="81731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2D47B77-51B0-4362-84DB-14DD6134F3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8464" y="1005088"/>
            <a:ext cx="2549234" cy="233513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0CE2A46-6219-4521-9862-54AD2B7BAB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4945" y="1891465"/>
            <a:ext cx="3170295" cy="1101133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A940FC2A-9276-4119-A064-907DB2DAF5D2}"/>
              </a:ext>
            </a:extLst>
          </p:cNvPr>
          <p:cNvSpPr/>
          <p:nvPr/>
        </p:nvSpPr>
        <p:spPr>
          <a:xfrm>
            <a:off x="71328" y="0"/>
            <a:ext cx="249299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02_SGM_1600eV.ows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290DD08D-74AA-46BA-B2B5-8BA282DB63F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9659" y="4514731"/>
            <a:ext cx="4120423" cy="1054312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CB0E671E-ACEE-486B-BA26-E7EC473E189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5598" y="5898297"/>
            <a:ext cx="3505201" cy="289975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75E0BA79-E502-4621-8D8B-385ED92A00C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8948" y="5444412"/>
            <a:ext cx="4700254" cy="1516211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726754" y="0"/>
            <a:ext cx="5278045" cy="203200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54990" y="1705843"/>
            <a:ext cx="289388" cy="260449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54990" y="2229817"/>
            <a:ext cx="289388" cy="260449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54990" y="2753790"/>
            <a:ext cx="289388" cy="260449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800100" y="1493519"/>
            <a:ext cx="8513445" cy="1600200"/>
          </a:xfrm>
          <a:prstGeom prst="rect">
            <a:avLst/>
          </a:prstGeom>
        </p:spPr>
        <p:txBody>
          <a:bodyPr vert="horz" wrap="square" lIns="0" tIns="10668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840"/>
              </a:spcBef>
            </a:pPr>
            <a:r>
              <a:rPr sz="2800" dirty="0">
                <a:solidFill>
                  <a:srgbClr val="424242"/>
                </a:solidFill>
                <a:latin typeface="Calibri"/>
                <a:cs typeface="Calibri"/>
              </a:rPr>
              <a:t>Plane</a:t>
            </a:r>
            <a:r>
              <a:rPr sz="2800" spc="-55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2800" dirty="0">
                <a:solidFill>
                  <a:srgbClr val="424242"/>
                </a:solidFill>
                <a:latin typeface="Calibri"/>
                <a:cs typeface="Calibri"/>
              </a:rPr>
              <a:t>grating</a:t>
            </a:r>
            <a:r>
              <a:rPr sz="2800" spc="-50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2800" dirty="0">
                <a:solidFill>
                  <a:srgbClr val="424242"/>
                </a:solidFill>
                <a:latin typeface="Calibri"/>
                <a:cs typeface="Calibri"/>
              </a:rPr>
              <a:t>(without</a:t>
            </a:r>
            <a:r>
              <a:rPr sz="2800" spc="-55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2800" dirty="0">
                <a:solidFill>
                  <a:srgbClr val="424242"/>
                </a:solidFill>
                <a:latin typeface="Calibri"/>
                <a:cs typeface="Calibri"/>
              </a:rPr>
              <a:t>VLS)</a:t>
            </a:r>
            <a:r>
              <a:rPr sz="2800" spc="-50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2800" dirty="0">
                <a:solidFill>
                  <a:srgbClr val="424242"/>
                </a:solidFill>
                <a:latin typeface="Calibri"/>
                <a:cs typeface="Calibri"/>
              </a:rPr>
              <a:t>does</a:t>
            </a:r>
            <a:r>
              <a:rPr sz="2800" spc="-55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2800" dirty="0">
                <a:solidFill>
                  <a:srgbClr val="424242"/>
                </a:solidFill>
                <a:latin typeface="Calibri"/>
                <a:cs typeface="Calibri"/>
              </a:rPr>
              <a:t>not</a:t>
            </a:r>
            <a:r>
              <a:rPr sz="2800" spc="-50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2800" spc="-10" dirty="0">
                <a:solidFill>
                  <a:srgbClr val="424242"/>
                </a:solidFill>
                <a:latin typeface="Calibri"/>
                <a:cs typeface="Calibri"/>
              </a:rPr>
              <a:t>focus</a:t>
            </a:r>
            <a:endParaRPr sz="2800">
              <a:latin typeface="Calibri"/>
              <a:cs typeface="Calibri"/>
            </a:endParaRPr>
          </a:p>
          <a:p>
            <a:pPr marL="38100">
              <a:lnSpc>
                <a:spcPct val="100000"/>
              </a:lnSpc>
              <a:spcBef>
                <a:spcPts val="740"/>
              </a:spcBef>
            </a:pPr>
            <a:r>
              <a:rPr sz="2800" dirty="0">
                <a:solidFill>
                  <a:srgbClr val="424242"/>
                </a:solidFill>
                <a:latin typeface="Calibri"/>
                <a:cs typeface="Calibri"/>
              </a:rPr>
              <a:t>Focus</a:t>
            </a:r>
            <a:r>
              <a:rPr sz="2800" spc="-160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2800" dirty="0">
                <a:solidFill>
                  <a:srgbClr val="424242"/>
                </a:solidFill>
                <a:latin typeface="Calibri"/>
                <a:cs typeface="Calibri"/>
              </a:rPr>
              <a:t>independent</a:t>
            </a:r>
            <a:r>
              <a:rPr sz="2800" spc="-80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2800" dirty="0">
                <a:solidFill>
                  <a:srgbClr val="424242"/>
                </a:solidFill>
                <a:latin typeface="Calibri"/>
                <a:cs typeface="Calibri"/>
              </a:rPr>
              <a:t>of</a:t>
            </a:r>
            <a:r>
              <a:rPr sz="2800" spc="-80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2800" dirty="0">
                <a:solidFill>
                  <a:srgbClr val="424242"/>
                </a:solidFill>
                <a:latin typeface="Calibri"/>
                <a:cs typeface="Calibri"/>
              </a:rPr>
              <a:t>grating</a:t>
            </a:r>
            <a:r>
              <a:rPr sz="2800" spc="-80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2800" spc="-365" dirty="0">
                <a:solidFill>
                  <a:srgbClr val="424242"/>
                </a:solidFill>
                <a:latin typeface="Segoe UI Symbol"/>
                <a:cs typeface="Segoe UI Symbol"/>
              </a:rPr>
              <a:t>➠</a:t>
            </a:r>
            <a:r>
              <a:rPr sz="2800" spc="-135" dirty="0">
                <a:solidFill>
                  <a:srgbClr val="424242"/>
                </a:solidFill>
                <a:latin typeface="Segoe UI Symbol"/>
                <a:cs typeface="Segoe UI Symbol"/>
              </a:rPr>
              <a:t> </a:t>
            </a:r>
            <a:r>
              <a:rPr sz="2800" dirty="0">
                <a:solidFill>
                  <a:srgbClr val="424242"/>
                </a:solidFill>
                <a:latin typeface="Calibri"/>
                <a:cs typeface="Calibri"/>
              </a:rPr>
              <a:t>Fixed</a:t>
            </a:r>
            <a:r>
              <a:rPr sz="2800" spc="-80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2800" dirty="0">
                <a:solidFill>
                  <a:srgbClr val="424242"/>
                </a:solidFill>
                <a:latin typeface="Calibri"/>
                <a:cs typeface="Calibri"/>
              </a:rPr>
              <a:t>focal</a:t>
            </a:r>
            <a:r>
              <a:rPr sz="2800" spc="-80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2800" spc="-10" dirty="0">
                <a:solidFill>
                  <a:srgbClr val="424242"/>
                </a:solidFill>
                <a:latin typeface="Calibri"/>
                <a:cs typeface="Calibri"/>
              </a:rPr>
              <a:t>plane</a:t>
            </a:r>
            <a:endParaRPr sz="2800">
              <a:latin typeface="Calibri"/>
              <a:cs typeface="Calibri"/>
            </a:endParaRPr>
          </a:p>
          <a:p>
            <a:pPr marL="38100">
              <a:lnSpc>
                <a:spcPct val="100000"/>
              </a:lnSpc>
              <a:spcBef>
                <a:spcPts val="840"/>
              </a:spcBef>
            </a:pPr>
            <a:r>
              <a:rPr sz="2800" dirty="0">
                <a:solidFill>
                  <a:srgbClr val="424242"/>
                </a:solidFill>
                <a:latin typeface="Calibri"/>
                <a:cs typeface="Calibri"/>
              </a:rPr>
              <a:t>Grating</a:t>
            </a:r>
            <a:r>
              <a:rPr sz="2800" spc="-55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2800" spc="-10" dirty="0">
                <a:solidFill>
                  <a:srgbClr val="424242"/>
                </a:solidFill>
                <a:latin typeface="Calibri"/>
                <a:cs typeface="Calibri"/>
              </a:rPr>
              <a:t>magnification</a:t>
            </a:r>
            <a:r>
              <a:rPr sz="2800" spc="-60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2800" i="1" dirty="0">
                <a:solidFill>
                  <a:srgbClr val="424242"/>
                </a:solidFill>
                <a:latin typeface="Calibri"/>
                <a:cs typeface="Calibri"/>
              </a:rPr>
              <a:t>c</a:t>
            </a:r>
            <a:r>
              <a:rPr sz="2775" baseline="27027" dirty="0">
                <a:solidFill>
                  <a:srgbClr val="424242"/>
                </a:solidFill>
                <a:latin typeface="Calibri"/>
                <a:cs typeface="Calibri"/>
              </a:rPr>
              <a:t>-1</a:t>
            </a:r>
            <a:r>
              <a:rPr sz="2775" spc="-52" baseline="27027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2800" dirty="0">
                <a:solidFill>
                  <a:srgbClr val="424242"/>
                </a:solidFill>
                <a:latin typeface="Calibri"/>
                <a:cs typeface="Calibri"/>
              </a:rPr>
              <a:t>can</a:t>
            </a:r>
            <a:r>
              <a:rPr sz="2800" spc="-60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2800" dirty="0">
                <a:solidFill>
                  <a:srgbClr val="424242"/>
                </a:solidFill>
                <a:latin typeface="Calibri"/>
                <a:cs typeface="Calibri"/>
              </a:rPr>
              <a:t>be</a:t>
            </a:r>
            <a:r>
              <a:rPr sz="2800" spc="-55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2800" dirty="0">
                <a:solidFill>
                  <a:srgbClr val="424242"/>
                </a:solidFill>
                <a:latin typeface="Calibri"/>
                <a:cs typeface="Calibri"/>
              </a:rPr>
              <a:t>changed</a:t>
            </a:r>
            <a:r>
              <a:rPr sz="2800" spc="-55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2800" dirty="0">
                <a:solidFill>
                  <a:srgbClr val="424242"/>
                </a:solidFill>
                <a:latin typeface="Calibri"/>
                <a:cs typeface="Calibri"/>
              </a:rPr>
              <a:t>with</a:t>
            </a:r>
            <a:r>
              <a:rPr sz="2800" spc="-50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2800" dirty="0">
                <a:solidFill>
                  <a:srgbClr val="424242"/>
                </a:solidFill>
                <a:latin typeface="Calibri"/>
                <a:cs typeface="Calibri"/>
              </a:rPr>
              <a:t>plane</a:t>
            </a:r>
            <a:r>
              <a:rPr sz="2800" spc="-55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2800" spc="-10" dirty="0">
                <a:solidFill>
                  <a:srgbClr val="424242"/>
                </a:solidFill>
                <a:latin typeface="Calibri"/>
                <a:cs typeface="Calibri"/>
              </a:rPr>
              <a:t>mirror</a:t>
            </a:r>
            <a:endParaRPr sz="2800">
              <a:latin typeface="Calibri"/>
              <a:cs typeface="Calibri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908425">
              <a:lnSpc>
                <a:spcPct val="100000"/>
              </a:lnSpc>
              <a:spcBef>
                <a:spcPts val="100"/>
              </a:spcBef>
            </a:pPr>
            <a:r>
              <a:rPr dirty="0"/>
              <a:t>Plane</a:t>
            </a:r>
            <a:r>
              <a:rPr spc="-100" dirty="0"/>
              <a:t> </a:t>
            </a:r>
            <a:r>
              <a:rPr spc="-10" dirty="0"/>
              <a:t>Grating</a:t>
            </a:r>
          </a:p>
        </p:txBody>
      </p:sp>
      <p:sp>
        <p:nvSpPr>
          <p:cNvPr id="8" name="object 8"/>
          <p:cNvSpPr txBox="1"/>
          <p:nvPr/>
        </p:nvSpPr>
        <p:spPr>
          <a:xfrm>
            <a:off x="930838" y="3765458"/>
            <a:ext cx="552450" cy="45021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2750" i="1" dirty="0">
                <a:solidFill>
                  <a:srgbClr val="FF0000"/>
                </a:solidFill>
                <a:latin typeface="Cambria"/>
                <a:cs typeface="Cambria"/>
              </a:rPr>
              <a:t>c</a:t>
            </a:r>
            <a:r>
              <a:rPr sz="2750" i="1" spc="180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2750" spc="590" dirty="0">
                <a:solidFill>
                  <a:srgbClr val="FF0000"/>
                </a:solidFill>
                <a:latin typeface="Cambria"/>
                <a:cs typeface="Cambria"/>
              </a:rPr>
              <a:t>=</a:t>
            </a:r>
            <a:endParaRPr sz="2750">
              <a:latin typeface="Cambria"/>
              <a:cs typeface="Cambria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603456" y="3526160"/>
            <a:ext cx="759460" cy="45021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2750" spc="-50" dirty="0">
                <a:solidFill>
                  <a:srgbClr val="FF0000"/>
                </a:solidFill>
                <a:latin typeface="Cambria"/>
                <a:cs typeface="Cambria"/>
              </a:rPr>
              <a:t>cos</a:t>
            </a:r>
            <a:r>
              <a:rPr sz="2750" spc="-125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2750" i="1" spc="65" dirty="0">
                <a:solidFill>
                  <a:srgbClr val="FF0000"/>
                </a:solidFill>
                <a:latin typeface="Cambria"/>
                <a:cs typeface="Cambria"/>
              </a:rPr>
              <a:t>β</a:t>
            </a:r>
            <a:endParaRPr sz="2750">
              <a:latin typeface="Cambria"/>
              <a:cs typeface="Cambria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1611746" y="4043470"/>
            <a:ext cx="761365" cy="0"/>
          </a:xfrm>
          <a:custGeom>
            <a:avLst/>
            <a:gdLst/>
            <a:ahLst/>
            <a:cxnLst/>
            <a:rect l="l" t="t" r="r" b="b"/>
            <a:pathLst>
              <a:path w="761364">
                <a:moveTo>
                  <a:pt x="0" y="0"/>
                </a:moveTo>
                <a:lnTo>
                  <a:pt x="761304" y="0"/>
                </a:lnTo>
              </a:path>
            </a:pathLst>
          </a:custGeom>
          <a:ln w="14130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1599046" y="4008093"/>
            <a:ext cx="785495" cy="45021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2750" spc="-50" dirty="0">
                <a:solidFill>
                  <a:srgbClr val="FF0000"/>
                </a:solidFill>
                <a:latin typeface="Cambria"/>
                <a:cs typeface="Cambria"/>
              </a:rPr>
              <a:t>cos</a:t>
            </a:r>
            <a:r>
              <a:rPr sz="2750" spc="-125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2750" i="1" spc="170" dirty="0">
                <a:solidFill>
                  <a:srgbClr val="FF0000"/>
                </a:solidFill>
                <a:latin typeface="Cambria"/>
                <a:cs typeface="Cambria"/>
              </a:rPr>
              <a:t>α</a:t>
            </a:r>
            <a:endParaRPr sz="2750" dirty="0">
              <a:latin typeface="Cambria"/>
              <a:cs typeface="Cambria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930838" y="4614398"/>
            <a:ext cx="2858135" cy="45021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2750" spc="95" dirty="0">
                <a:solidFill>
                  <a:srgbClr val="FF0000"/>
                </a:solidFill>
                <a:latin typeface="Cambria"/>
                <a:cs typeface="Cambria"/>
              </a:rPr>
              <a:t>Grating</a:t>
            </a:r>
            <a:r>
              <a:rPr sz="2750" spc="325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2750" spc="45" dirty="0">
                <a:solidFill>
                  <a:srgbClr val="FF0000"/>
                </a:solidFill>
                <a:latin typeface="Cambria"/>
                <a:cs typeface="Cambria"/>
              </a:rPr>
              <a:t>Equation:</a:t>
            </a:r>
            <a:endParaRPr sz="2750" dirty="0">
              <a:latin typeface="Cambria"/>
              <a:cs typeface="Cambria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111128" y="5026885"/>
            <a:ext cx="543560" cy="45021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2750" i="1" spc="260" dirty="0">
                <a:solidFill>
                  <a:srgbClr val="FF0000"/>
                </a:solidFill>
                <a:latin typeface="Cambria"/>
                <a:cs typeface="Cambria"/>
              </a:rPr>
              <a:t>mλ</a:t>
            </a:r>
            <a:endParaRPr sz="2750">
              <a:latin typeface="Cambria"/>
              <a:cs typeface="Cambria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1123828" y="5544159"/>
            <a:ext cx="518159" cy="0"/>
          </a:xfrm>
          <a:custGeom>
            <a:avLst/>
            <a:gdLst/>
            <a:ahLst/>
            <a:cxnLst/>
            <a:rect l="l" t="t" r="r" b="b"/>
            <a:pathLst>
              <a:path w="518160">
                <a:moveTo>
                  <a:pt x="0" y="0"/>
                </a:moveTo>
                <a:lnTo>
                  <a:pt x="517718" y="0"/>
                </a:lnTo>
              </a:path>
            </a:pathLst>
          </a:custGeom>
          <a:ln w="14130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2768600" y="5105400"/>
            <a:ext cx="167005" cy="3225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950" spc="65" dirty="0">
                <a:solidFill>
                  <a:srgbClr val="FF0000"/>
                </a:solidFill>
                <a:latin typeface="Calibri"/>
                <a:cs typeface="Calibri"/>
              </a:rPr>
              <a:t>2</a:t>
            </a:r>
            <a:endParaRPr sz="1950">
              <a:latin typeface="Calibri"/>
              <a:cs typeface="Calibri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930838" y="5266183"/>
            <a:ext cx="3212465" cy="69278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ts val="2605"/>
              </a:lnSpc>
              <a:spcBef>
                <a:spcPts val="135"/>
              </a:spcBef>
              <a:tabLst>
                <a:tab pos="831850" algn="l"/>
                <a:tab pos="2294255" algn="l"/>
              </a:tabLst>
            </a:pPr>
            <a:r>
              <a:rPr sz="2750" spc="-50" dirty="0">
                <a:solidFill>
                  <a:srgbClr val="FF0000"/>
                </a:solidFill>
                <a:latin typeface="Cambria"/>
                <a:cs typeface="Cambria"/>
              </a:rPr>
              <a:t>(</a:t>
            </a:r>
            <a:r>
              <a:rPr sz="2750" dirty="0">
                <a:solidFill>
                  <a:srgbClr val="FF0000"/>
                </a:solidFill>
                <a:latin typeface="Cambria"/>
                <a:cs typeface="Cambria"/>
              </a:rPr>
              <a:t>	</a:t>
            </a:r>
            <a:r>
              <a:rPr lang="en-GB" sz="2750" i="1" spc="-605" dirty="0">
                <a:solidFill>
                  <a:srgbClr val="FF0000"/>
                </a:solidFill>
                <a:latin typeface="Arial"/>
                <a:cs typeface="Arial"/>
              </a:rPr>
              <a:t>-       </a:t>
            </a:r>
            <a:r>
              <a:rPr sz="2750" spc="-25" dirty="0">
                <a:solidFill>
                  <a:srgbClr val="FF0000"/>
                </a:solidFill>
                <a:latin typeface="Cambria"/>
                <a:cs typeface="Cambria"/>
              </a:rPr>
              <a:t>sin</a:t>
            </a:r>
            <a:r>
              <a:rPr sz="2750" spc="-135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2750" i="1" spc="120" dirty="0">
                <a:solidFill>
                  <a:srgbClr val="FF0000"/>
                </a:solidFill>
                <a:latin typeface="Cambria"/>
                <a:cs typeface="Cambria"/>
              </a:rPr>
              <a:t>β</a:t>
            </a:r>
            <a:r>
              <a:rPr sz="2750" spc="120" dirty="0">
                <a:solidFill>
                  <a:srgbClr val="FF0000"/>
                </a:solidFill>
                <a:latin typeface="Cambria"/>
                <a:cs typeface="Cambria"/>
              </a:rPr>
              <a:t>)</a:t>
            </a:r>
            <a:r>
              <a:rPr lang="en-GB" sz="2750" dirty="0">
                <a:solidFill>
                  <a:srgbClr val="FF0000"/>
                </a:solidFill>
                <a:latin typeface="Cambria"/>
                <a:cs typeface="Cambria"/>
              </a:rPr>
              <a:t>	</a:t>
            </a:r>
            <a:r>
              <a:rPr sz="2750" spc="640" dirty="0">
                <a:solidFill>
                  <a:srgbClr val="FF0000"/>
                </a:solidFill>
                <a:latin typeface="Cambria"/>
                <a:cs typeface="Cambria"/>
              </a:rPr>
              <a:t>=</a:t>
            </a:r>
            <a:r>
              <a:rPr sz="2750" spc="90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sz="2750" dirty="0">
                <a:solidFill>
                  <a:srgbClr val="FF0000"/>
                </a:solidFill>
                <a:latin typeface="Cambria"/>
                <a:cs typeface="Cambria"/>
              </a:rPr>
              <a:t>1</a:t>
            </a:r>
            <a:r>
              <a:rPr sz="2750" spc="-50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lang="en-US" sz="2750" i="1" spc="-655" dirty="0">
                <a:solidFill>
                  <a:srgbClr val="FF0000"/>
                </a:solidFill>
                <a:latin typeface="Arial"/>
                <a:cs typeface="Arial"/>
              </a:rPr>
              <a:t>- </a:t>
            </a:r>
            <a:endParaRPr sz="2750" dirty="0">
              <a:latin typeface="Arial"/>
              <a:cs typeface="Arial"/>
            </a:endParaRPr>
          </a:p>
          <a:p>
            <a:pPr marL="359410">
              <a:lnSpc>
                <a:spcPts val="2605"/>
              </a:lnSpc>
            </a:pPr>
            <a:r>
              <a:rPr sz="2750" i="1" spc="-50" dirty="0">
                <a:solidFill>
                  <a:srgbClr val="FF0000"/>
                </a:solidFill>
                <a:latin typeface="Cambria"/>
                <a:cs typeface="Cambria"/>
              </a:rPr>
              <a:t>d</a:t>
            </a:r>
            <a:endParaRPr sz="2750" dirty="0">
              <a:latin typeface="Cambria"/>
              <a:cs typeface="Cambria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4143303" y="4897318"/>
            <a:ext cx="2517237" cy="44050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35"/>
              </a:spcBef>
            </a:pPr>
            <a:r>
              <a:rPr sz="2750" dirty="0">
                <a:solidFill>
                  <a:srgbClr val="FF0000"/>
                </a:solidFill>
                <a:latin typeface="Cambria"/>
                <a:cs typeface="Cambria"/>
              </a:rPr>
              <a:t>(1</a:t>
            </a:r>
            <a:r>
              <a:rPr sz="2750" spc="-30" dirty="0">
                <a:solidFill>
                  <a:srgbClr val="FF0000"/>
                </a:solidFill>
                <a:latin typeface="Cambria"/>
                <a:cs typeface="Cambria"/>
              </a:rPr>
              <a:t> </a:t>
            </a:r>
            <a:r>
              <a:rPr lang="en-GB" sz="2750" i="1" spc="-605" dirty="0">
                <a:solidFill>
                  <a:srgbClr val="FF0000"/>
                </a:solidFill>
                <a:latin typeface="Arial"/>
                <a:cs typeface="Arial"/>
              </a:rPr>
              <a:t>- </a:t>
            </a:r>
            <a:r>
              <a:rPr lang="en-GB" sz="2750" i="1" spc="-145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750" dirty="0">
                <a:solidFill>
                  <a:srgbClr val="FF0000"/>
                </a:solidFill>
                <a:latin typeface="Cambria"/>
                <a:cs typeface="Cambria"/>
              </a:rPr>
              <a:t>sin</a:t>
            </a:r>
            <a:r>
              <a:rPr sz="2925" baseline="32763" dirty="0">
                <a:solidFill>
                  <a:srgbClr val="FF0000"/>
                </a:solidFill>
                <a:latin typeface="Calibri"/>
                <a:cs typeface="Calibri"/>
              </a:rPr>
              <a:t>2</a:t>
            </a:r>
            <a:r>
              <a:rPr sz="2925" spc="217" baseline="32763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sz="2750" i="1" spc="55" dirty="0">
                <a:solidFill>
                  <a:srgbClr val="FF0000"/>
                </a:solidFill>
                <a:latin typeface="Cambria"/>
                <a:cs typeface="Cambria"/>
              </a:rPr>
              <a:t>β</a:t>
            </a:r>
            <a:r>
              <a:rPr lang="en-US" sz="2750" i="1" spc="55" dirty="0">
                <a:solidFill>
                  <a:srgbClr val="FF0000"/>
                </a:solidFill>
                <a:latin typeface="Cambria"/>
                <a:cs typeface="Cambria"/>
              </a:rPr>
              <a:t>)</a:t>
            </a:r>
            <a:endParaRPr sz="2750" dirty="0">
              <a:latin typeface="Cambria"/>
              <a:cs typeface="Cambria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4242765" y="5387524"/>
            <a:ext cx="1620520" cy="0"/>
          </a:xfrm>
          <a:custGeom>
            <a:avLst/>
            <a:gdLst/>
            <a:ahLst/>
            <a:cxnLst/>
            <a:rect l="l" t="t" r="r" b="b"/>
            <a:pathLst>
              <a:path w="1620520">
                <a:moveTo>
                  <a:pt x="0" y="0"/>
                </a:moveTo>
                <a:lnTo>
                  <a:pt x="1619935" y="0"/>
                </a:lnTo>
              </a:path>
            </a:pathLst>
          </a:custGeom>
          <a:ln w="14130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4775795" y="5387467"/>
            <a:ext cx="370840" cy="45021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35"/>
              </a:spcBef>
            </a:pPr>
            <a:r>
              <a:rPr sz="4125" i="1" spc="60" baseline="-16161" dirty="0">
                <a:solidFill>
                  <a:srgbClr val="FF0000"/>
                </a:solidFill>
                <a:latin typeface="Cambria"/>
                <a:cs typeface="Cambria"/>
              </a:rPr>
              <a:t>c</a:t>
            </a:r>
            <a:r>
              <a:rPr sz="1950" spc="40" dirty="0">
                <a:solidFill>
                  <a:srgbClr val="FF0000"/>
                </a:solidFill>
                <a:latin typeface="Calibri"/>
                <a:cs typeface="Calibri"/>
              </a:rPr>
              <a:t>2</a:t>
            </a:r>
            <a:endParaRPr sz="1950" dirty="0">
              <a:latin typeface="Calibri"/>
              <a:cs typeface="Calibri"/>
            </a:endParaRPr>
          </a:p>
        </p:txBody>
      </p:sp>
      <p:sp>
        <p:nvSpPr>
          <p:cNvPr id="21" name="object 21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pc="-10" dirty="0"/>
              <a:t>Software</a:t>
            </a:r>
            <a:r>
              <a:rPr spc="-50" dirty="0"/>
              <a:t> </a:t>
            </a:r>
            <a:r>
              <a:rPr dirty="0"/>
              <a:t>for</a:t>
            </a:r>
            <a:r>
              <a:rPr spc="-45" dirty="0"/>
              <a:t> </a:t>
            </a:r>
            <a:r>
              <a:rPr dirty="0"/>
              <a:t>Optical</a:t>
            </a:r>
            <a:r>
              <a:rPr spc="-45" dirty="0"/>
              <a:t> </a:t>
            </a:r>
            <a:r>
              <a:rPr dirty="0"/>
              <a:t>Simulations,</a:t>
            </a:r>
            <a:r>
              <a:rPr spc="-45" dirty="0"/>
              <a:t> </a:t>
            </a:r>
            <a:r>
              <a:rPr spc="-20" dirty="0"/>
              <a:t>Trieste,</a:t>
            </a:r>
            <a:r>
              <a:rPr spc="-45" dirty="0"/>
              <a:t> </a:t>
            </a:r>
            <a:r>
              <a:rPr dirty="0"/>
              <a:t>October</a:t>
            </a:r>
            <a:r>
              <a:rPr spc="-45" dirty="0"/>
              <a:t> </a:t>
            </a:r>
            <a:r>
              <a:rPr dirty="0"/>
              <a:t>2016.</a:t>
            </a:r>
            <a:r>
              <a:rPr spc="-45" dirty="0"/>
              <a:t> </a:t>
            </a:r>
            <a:r>
              <a:rPr dirty="0"/>
              <a:t>Ruben</a:t>
            </a:r>
            <a:r>
              <a:rPr spc="-45" dirty="0"/>
              <a:t> </a:t>
            </a:r>
            <a:r>
              <a:rPr spc="-10" dirty="0"/>
              <a:t>Reininger</a:t>
            </a:r>
          </a:p>
        </p:txBody>
      </p:sp>
      <p:sp>
        <p:nvSpPr>
          <p:cNvPr id="22" name="object 2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25" dirty="0"/>
              <a:t>26</a:t>
            </a:fld>
            <a:endParaRPr spc="-25" dirty="0"/>
          </a:p>
        </p:txBody>
      </p:sp>
      <p:sp>
        <p:nvSpPr>
          <p:cNvPr id="23" name="object 23"/>
          <p:cNvSpPr txBox="1"/>
          <p:nvPr/>
        </p:nvSpPr>
        <p:spPr>
          <a:xfrm>
            <a:off x="1069339" y="9384967"/>
            <a:ext cx="72390" cy="211454"/>
          </a:xfrm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sz="1200" spc="-50" dirty="0">
                <a:solidFill>
                  <a:srgbClr val="275D90"/>
                </a:solidFill>
                <a:latin typeface="Calibri"/>
                <a:cs typeface="Calibri"/>
              </a:rPr>
              <a:t>-</a:t>
            </a:r>
            <a:endParaRPr sz="12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726754" y="0"/>
            <a:ext cx="5278045" cy="203200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08125">
              <a:lnSpc>
                <a:spcPct val="100000"/>
              </a:lnSpc>
              <a:spcBef>
                <a:spcPts val="100"/>
              </a:spcBef>
            </a:pPr>
            <a:r>
              <a:rPr dirty="0"/>
              <a:t>Collimated</a:t>
            </a:r>
            <a:r>
              <a:rPr spc="-100" dirty="0"/>
              <a:t> </a:t>
            </a:r>
            <a:r>
              <a:rPr dirty="0"/>
              <a:t>PGM,</a:t>
            </a:r>
            <a:r>
              <a:rPr spc="-95" dirty="0"/>
              <a:t> </a:t>
            </a:r>
            <a:r>
              <a:rPr dirty="0">
                <a:solidFill>
                  <a:srgbClr val="FF2600"/>
                </a:solidFill>
              </a:rPr>
              <a:t>vertical</a:t>
            </a:r>
            <a:r>
              <a:rPr spc="-95" dirty="0">
                <a:solidFill>
                  <a:srgbClr val="FF2600"/>
                </a:solidFill>
              </a:rPr>
              <a:t> </a:t>
            </a:r>
            <a:r>
              <a:rPr dirty="0">
                <a:solidFill>
                  <a:srgbClr val="FF2600"/>
                </a:solidFill>
              </a:rPr>
              <a:t>plane</a:t>
            </a:r>
            <a:r>
              <a:rPr dirty="0"/>
              <a:t>;</a:t>
            </a:r>
            <a:r>
              <a:rPr spc="-100" dirty="0"/>
              <a:t> </a:t>
            </a:r>
            <a:r>
              <a:rPr spc="-25" dirty="0"/>
              <a:t>c=2</a:t>
            </a: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16939" y="3517930"/>
            <a:ext cx="372070" cy="334863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374139" y="4141718"/>
            <a:ext cx="310058" cy="279052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374139" y="4691092"/>
            <a:ext cx="310058" cy="279052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16939" y="5254951"/>
            <a:ext cx="372070" cy="334863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374139" y="5878740"/>
            <a:ext cx="310058" cy="279052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16939" y="6442599"/>
            <a:ext cx="372070" cy="334863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374139" y="7066387"/>
            <a:ext cx="310058" cy="279052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16939" y="7630246"/>
            <a:ext cx="372070" cy="334863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1066800" y="3246627"/>
            <a:ext cx="10488930" cy="5367020"/>
          </a:xfrm>
          <a:prstGeom prst="rect">
            <a:avLst/>
          </a:prstGeom>
        </p:spPr>
        <p:txBody>
          <a:bodyPr vert="horz" wrap="square" lIns="0" tIns="131445" rIns="0" bIns="0" rtlCol="0">
            <a:spAutoFit/>
          </a:bodyPr>
          <a:lstStyle/>
          <a:p>
            <a:pPr marL="215900">
              <a:lnSpc>
                <a:spcPct val="100000"/>
              </a:lnSpc>
              <a:spcBef>
                <a:spcPts val="1035"/>
              </a:spcBef>
            </a:pPr>
            <a:r>
              <a:rPr sz="3600" spc="-35" dirty="0">
                <a:solidFill>
                  <a:srgbClr val="424242"/>
                </a:solidFill>
                <a:latin typeface="Calibri"/>
                <a:cs typeface="Calibri"/>
              </a:rPr>
              <a:t>Toroidal</a:t>
            </a:r>
            <a:r>
              <a:rPr sz="3600" spc="-160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3600" spc="-10" dirty="0">
                <a:solidFill>
                  <a:srgbClr val="424242"/>
                </a:solidFill>
                <a:latin typeface="Calibri"/>
                <a:cs typeface="Calibri"/>
              </a:rPr>
              <a:t>Mirror:</a:t>
            </a:r>
            <a:endParaRPr sz="3600">
              <a:latin typeface="Calibri"/>
              <a:cs typeface="Calibri"/>
            </a:endParaRPr>
          </a:p>
          <a:p>
            <a:pPr marL="863600" marR="1736089">
              <a:lnSpc>
                <a:spcPts val="4400"/>
              </a:lnSpc>
              <a:spcBef>
                <a:spcPts val="260"/>
              </a:spcBef>
            </a:pPr>
            <a:r>
              <a:rPr sz="3000" dirty="0">
                <a:latin typeface="Calibri"/>
                <a:cs typeface="Calibri"/>
              </a:rPr>
              <a:t>Collimates</a:t>
            </a:r>
            <a:r>
              <a:rPr sz="3000" spc="-7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beam</a:t>
            </a:r>
            <a:r>
              <a:rPr sz="3000" spc="-7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in</a:t>
            </a:r>
            <a:r>
              <a:rPr sz="3000" spc="-7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meridional</a:t>
            </a:r>
            <a:r>
              <a:rPr sz="3000" spc="-7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direction</a:t>
            </a:r>
            <a:r>
              <a:rPr sz="3000" spc="-70" dirty="0">
                <a:latin typeface="Calibri"/>
                <a:cs typeface="Calibri"/>
              </a:rPr>
              <a:t> </a:t>
            </a:r>
            <a:r>
              <a:rPr sz="3000" spc="-10" dirty="0">
                <a:latin typeface="Calibri"/>
                <a:cs typeface="Calibri"/>
              </a:rPr>
              <a:t>(vertically) </a:t>
            </a:r>
            <a:r>
              <a:rPr sz="3000" dirty="0">
                <a:latin typeface="Calibri"/>
                <a:cs typeface="Calibri"/>
              </a:rPr>
              <a:t>Focuses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in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spc="-10" dirty="0">
                <a:latin typeface="Calibri"/>
                <a:cs typeface="Calibri"/>
              </a:rPr>
              <a:t>sagittal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direction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at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slit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spc="-10" dirty="0">
                <a:latin typeface="Calibri"/>
                <a:cs typeface="Calibri"/>
              </a:rPr>
              <a:t>(horizontally)</a:t>
            </a:r>
            <a:endParaRPr sz="3000">
              <a:latin typeface="Calibri"/>
              <a:cs typeface="Calibri"/>
            </a:endParaRPr>
          </a:p>
          <a:p>
            <a:pPr marL="215900">
              <a:lnSpc>
                <a:spcPct val="100000"/>
              </a:lnSpc>
              <a:spcBef>
                <a:spcPts val="320"/>
              </a:spcBef>
            </a:pPr>
            <a:r>
              <a:rPr sz="3600" dirty="0">
                <a:solidFill>
                  <a:srgbClr val="424242"/>
                </a:solidFill>
                <a:latin typeface="Calibri"/>
                <a:cs typeface="Calibri"/>
              </a:rPr>
              <a:t>Plane</a:t>
            </a:r>
            <a:r>
              <a:rPr sz="3600" spc="-40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3600" dirty="0">
                <a:solidFill>
                  <a:srgbClr val="424242"/>
                </a:solidFill>
                <a:latin typeface="Calibri"/>
                <a:cs typeface="Calibri"/>
              </a:rPr>
              <a:t>Mirror</a:t>
            </a:r>
            <a:r>
              <a:rPr sz="3600" spc="-35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3600" dirty="0">
                <a:solidFill>
                  <a:srgbClr val="424242"/>
                </a:solidFill>
                <a:latin typeface="Calibri"/>
                <a:cs typeface="Calibri"/>
              </a:rPr>
              <a:t>+</a:t>
            </a:r>
            <a:r>
              <a:rPr sz="3600" spc="-35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3600" dirty="0">
                <a:solidFill>
                  <a:srgbClr val="424242"/>
                </a:solidFill>
                <a:latin typeface="Calibri"/>
                <a:cs typeface="Calibri"/>
              </a:rPr>
              <a:t>Plane</a:t>
            </a:r>
            <a:r>
              <a:rPr sz="3600" spc="-35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3600" spc="-10" dirty="0">
                <a:solidFill>
                  <a:srgbClr val="424242"/>
                </a:solidFill>
                <a:latin typeface="Calibri"/>
                <a:cs typeface="Calibri"/>
              </a:rPr>
              <a:t>grating</a:t>
            </a:r>
            <a:endParaRPr sz="3600">
              <a:latin typeface="Calibri"/>
              <a:cs typeface="Calibri"/>
            </a:endParaRPr>
          </a:p>
          <a:p>
            <a:pPr marL="863600">
              <a:lnSpc>
                <a:spcPct val="100000"/>
              </a:lnSpc>
              <a:spcBef>
                <a:spcPts val="780"/>
              </a:spcBef>
            </a:pPr>
            <a:r>
              <a:rPr sz="3000" dirty="0">
                <a:latin typeface="Calibri"/>
                <a:cs typeface="Calibri"/>
              </a:rPr>
              <a:t>Controls</a:t>
            </a:r>
            <a:r>
              <a:rPr sz="3000" spc="-65" dirty="0">
                <a:latin typeface="Calibri"/>
                <a:cs typeface="Calibri"/>
              </a:rPr>
              <a:t> </a:t>
            </a:r>
            <a:r>
              <a:rPr sz="3000" spc="-10" dirty="0">
                <a:latin typeface="Calibri"/>
                <a:cs typeface="Calibri"/>
              </a:rPr>
              <a:t>grating</a:t>
            </a:r>
            <a:r>
              <a:rPr sz="3000" spc="-65" dirty="0">
                <a:latin typeface="Calibri"/>
                <a:cs typeface="Calibri"/>
              </a:rPr>
              <a:t> </a:t>
            </a:r>
            <a:r>
              <a:rPr sz="3000" spc="-10" dirty="0">
                <a:latin typeface="Calibri"/>
                <a:cs typeface="Calibri"/>
              </a:rPr>
              <a:t>magnification,</a:t>
            </a:r>
            <a:r>
              <a:rPr sz="3000" spc="-70" dirty="0">
                <a:latin typeface="Calibri"/>
                <a:cs typeface="Calibri"/>
              </a:rPr>
              <a:t> </a:t>
            </a:r>
            <a:r>
              <a:rPr sz="3000" i="1" spc="-10" dirty="0">
                <a:latin typeface="Calibri"/>
                <a:cs typeface="Calibri"/>
              </a:rPr>
              <a:t>c</a:t>
            </a:r>
            <a:r>
              <a:rPr sz="3000" spc="-15" baseline="26388" dirty="0">
                <a:latin typeface="Calibri"/>
                <a:cs typeface="Calibri"/>
              </a:rPr>
              <a:t>-</a:t>
            </a:r>
            <a:r>
              <a:rPr sz="3000" baseline="26388" dirty="0">
                <a:latin typeface="Calibri"/>
                <a:cs typeface="Calibri"/>
              </a:rPr>
              <a:t>1</a:t>
            </a:r>
            <a:r>
              <a:rPr sz="3000" spc="-75" baseline="26388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and</a:t>
            </a:r>
            <a:r>
              <a:rPr sz="3000" spc="-65" dirty="0">
                <a:latin typeface="Calibri"/>
                <a:cs typeface="Calibri"/>
              </a:rPr>
              <a:t> </a:t>
            </a:r>
            <a:r>
              <a:rPr sz="3000" spc="-10" dirty="0">
                <a:latin typeface="Calibri"/>
                <a:cs typeface="Calibri"/>
              </a:rPr>
              <a:t>wavelength</a:t>
            </a:r>
            <a:endParaRPr sz="3000">
              <a:latin typeface="Calibri"/>
              <a:cs typeface="Calibri"/>
            </a:endParaRPr>
          </a:p>
          <a:p>
            <a:pPr marL="215900">
              <a:lnSpc>
                <a:spcPct val="100000"/>
              </a:lnSpc>
              <a:spcBef>
                <a:spcPts val="700"/>
              </a:spcBef>
            </a:pPr>
            <a:r>
              <a:rPr sz="3600" dirty="0">
                <a:solidFill>
                  <a:srgbClr val="0096FF"/>
                </a:solidFill>
                <a:latin typeface="Calibri"/>
                <a:cs typeface="Calibri"/>
              </a:rPr>
              <a:t>Cylindrical</a:t>
            </a:r>
            <a:r>
              <a:rPr sz="3600" spc="-80" dirty="0">
                <a:solidFill>
                  <a:srgbClr val="0096FF"/>
                </a:solidFill>
                <a:latin typeface="Calibri"/>
                <a:cs typeface="Calibri"/>
              </a:rPr>
              <a:t> </a:t>
            </a:r>
            <a:r>
              <a:rPr sz="3600" spc="-10" dirty="0">
                <a:solidFill>
                  <a:srgbClr val="0096FF"/>
                </a:solidFill>
                <a:latin typeface="Calibri"/>
                <a:cs typeface="Calibri"/>
              </a:rPr>
              <a:t>Mirror</a:t>
            </a:r>
            <a:endParaRPr sz="3600">
              <a:latin typeface="Calibri"/>
              <a:cs typeface="Calibri"/>
            </a:endParaRPr>
          </a:p>
          <a:p>
            <a:pPr marL="38100" marR="30480" indent="825500">
              <a:lnSpc>
                <a:spcPct val="109300"/>
              </a:lnSpc>
              <a:spcBef>
                <a:spcPts val="445"/>
              </a:spcBef>
            </a:pPr>
            <a:r>
              <a:rPr sz="3000" dirty="0">
                <a:solidFill>
                  <a:srgbClr val="0096FF"/>
                </a:solidFill>
                <a:latin typeface="Calibri"/>
                <a:cs typeface="Calibri"/>
              </a:rPr>
              <a:t>Focuses</a:t>
            </a:r>
            <a:r>
              <a:rPr sz="3000" spc="-75" dirty="0">
                <a:solidFill>
                  <a:srgbClr val="0096FF"/>
                </a:solidFill>
                <a:latin typeface="Calibri"/>
                <a:cs typeface="Calibri"/>
              </a:rPr>
              <a:t> </a:t>
            </a:r>
            <a:r>
              <a:rPr sz="3000" dirty="0">
                <a:solidFill>
                  <a:srgbClr val="0096FF"/>
                </a:solidFill>
                <a:latin typeface="Calibri"/>
                <a:cs typeface="Calibri"/>
              </a:rPr>
              <a:t>the</a:t>
            </a:r>
            <a:r>
              <a:rPr sz="3000" spc="-70" dirty="0">
                <a:solidFill>
                  <a:srgbClr val="0096FF"/>
                </a:solidFill>
                <a:latin typeface="Calibri"/>
                <a:cs typeface="Calibri"/>
              </a:rPr>
              <a:t> </a:t>
            </a:r>
            <a:r>
              <a:rPr sz="3000" dirty="0">
                <a:solidFill>
                  <a:srgbClr val="0096FF"/>
                </a:solidFill>
                <a:latin typeface="Calibri"/>
                <a:cs typeface="Calibri"/>
              </a:rPr>
              <a:t>collimated</a:t>
            </a:r>
            <a:r>
              <a:rPr sz="3000" spc="-70" dirty="0">
                <a:solidFill>
                  <a:srgbClr val="0096FF"/>
                </a:solidFill>
                <a:latin typeface="Calibri"/>
                <a:cs typeface="Calibri"/>
              </a:rPr>
              <a:t> </a:t>
            </a:r>
            <a:r>
              <a:rPr sz="3000" dirty="0">
                <a:solidFill>
                  <a:srgbClr val="0096FF"/>
                </a:solidFill>
                <a:latin typeface="Calibri"/>
                <a:cs typeface="Calibri"/>
              </a:rPr>
              <a:t>beam</a:t>
            </a:r>
            <a:r>
              <a:rPr sz="3000" spc="-70" dirty="0">
                <a:solidFill>
                  <a:srgbClr val="0096FF"/>
                </a:solidFill>
                <a:latin typeface="Calibri"/>
                <a:cs typeface="Calibri"/>
              </a:rPr>
              <a:t> </a:t>
            </a:r>
            <a:r>
              <a:rPr sz="3000" dirty="0">
                <a:solidFill>
                  <a:srgbClr val="0096FF"/>
                </a:solidFill>
                <a:latin typeface="Calibri"/>
                <a:cs typeface="Calibri"/>
              </a:rPr>
              <a:t>onto</a:t>
            </a:r>
            <a:r>
              <a:rPr sz="3000" spc="-70" dirty="0">
                <a:solidFill>
                  <a:srgbClr val="0096FF"/>
                </a:solidFill>
                <a:latin typeface="Calibri"/>
                <a:cs typeface="Calibri"/>
              </a:rPr>
              <a:t> </a:t>
            </a:r>
            <a:r>
              <a:rPr sz="3000" dirty="0">
                <a:solidFill>
                  <a:srgbClr val="0096FF"/>
                </a:solidFill>
                <a:latin typeface="Calibri"/>
                <a:cs typeface="Calibri"/>
              </a:rPr>
              <a:t>the</a:t>
            </a:r>
            <a:r>
              <a:rPr sz="3000" spc="-70" dirty="0">
                <a:solidFill>
                  <a:srgbClr val="0096FF"/>
                </a:solidFill>
                <a:latin typeface="Calibri"/>
                <a:cs typeface="Calibri"/>
              </a:rPr>
              <a:t> </a:t>
            </a:r>
            <a:r>
              <a:rPr sz="3000" dirty="0">
                <a:solidFill>
                  <a:srgbClr val="0096FF"/>
                </a:solidFill>
                <a:latin typeface="Calibri"/>
                <a:cs typeface="Calibri"/>
              </a:rPr>
              <a:t>fixed</a:t>
            </a:r>
            <a:r>
              <a:rPr sz="3000" spc="-70" dirty="0">
                <a:solidFill>
                  <a:srgbClr val="0096FF"/>
                </a:solidFill>
                <a:latin typeface="Calibri"/>
                <a:cs typeface="Calibri"/>
              </a:rPr>
              <a:t> </a:t>
            </a:r>
            <a:r>
              <a:rPr sz="3000" dirty="0">
                <a:solidFill>
                  <a:srgbClr val="0096FF"/>
                </a:solidFill>
                <a:latin typeface="Calibri"/>
                <a:cs typeface="Calibri"/>
              </a:rPr>
              <a:t>exit</a:t>
            </a:r>
            <a:r>
              <a:rPr sz="3000" spc="-70" dirty="0">
                <a:solidFill>
                  <a:srgbClr val="0096FF"/>
                </a:solidFill>
                <a:latin typeface="Calibri"/>
                <a:cs typeface="Calibri"/>
              </a:rPr>
              <a:t> </a:t>
            </a:r>
            <a:r>
              <a:rPr sz="3000" spc="-20" dirty="0">
                <a:solidFill>
                  <a:srgbClr val="0096FF"/>
                </a:solidFill>
                <a:latin typeface="Calibri"/>
                <a:cs typeface="Calibri"/>
              </a:rPr>
              <a:t>slit </a:t>
            </a:r>
            <a:r>
              <a:rPr sz="3600" spc="-10" dirty="0">
                <a:solidFill>
                  <a:srgbClr val="FF2600"/>
                </a:solidFill>
                <a:latin typeface="Calibri"/>
                <a:cs typeface="Calibri"/>
              </a:rPr>
              <a:t>Reflectivities</a:t>
            </a:r>
            <a:r>
              <a:rPr sz="3600" spc="-45" dirty="0">
                <a:solidFill>
                  <a:srgbClr val="FF2600"/>
                </a:solidFill>
                <a:latin typeface="Calibri"/>
                <a:cs typeface="Calibri"/>
              </a:rPr>
              <a:t> </a:t>
            </a:r>
            <a:r>
              <a:rPr sz="3600" dirty="0">
                <a:solidFill>
                  <a:srgbClr val="FF2600"/>
                </a:solidFill>
                <a:latin typeface="Calibri"/>
                <a:cs typeface="Calibri"/>
              </a:rPr>
              <a:t>in</a:t>
            </a:r>
            <a:r>
              <a:rPr sz="3600" spc="-45" dirty="0">
                <a:solidFill>
                  <a:srgbClr val="FF2600"/>
                </a:solidFill>
                <a:latin typeface="Calibri"/>
                <a:cs typeface="Calibri"/>
              </a:rPr>
              <a:t> </a:t>
            </a:r>
            <a:r>
              <a:rPr sz="3600" dirty="0">
                <a:solidFill>
                  <a:srgbClr val="FF2600"/>
                </a:solidFill>
                <a:latin typeface="Calibri"/>
                <a:cs typeface="Calibri"/>
              </a:rPr>
              <a:t>SXR</a:t>
            </a:r>
            <a:r>
              <a:rPr sz="3600" spc="-40" dirty="0">
                <a:solidFill>
                  <a:srgbClr val="FF2600"/>
                </a:solidFill>
                <a:latin typeface="Calibri"/>
                <a:cs typeface="Calibri"/>
              </a:rPr>
              <a:t> </a:t>
            </a:r>
            <a:r>
              <a:rPr sz="3600" dirty="0">
                <a:solidFill>
                  <a:srgbClr val="FF2600"/>
                </a:solidFill>
                <a:latin typeface="Calibri"/>
                <a:cs typeface="Calibri"/>
              </a:rPr>
              <a:t>not</a:t>
            </a:r>
            <a:r>
              <a:rPr sz="3600" spc="-45" dirty="0">
                <a:solidFill>
                  <a:srgbClr val="FF2600"/>
                </a:solidFill>
                <a:latin typeface="Calibri"/>
                <a:cs typeface="Calibri"/>
              </a:rPr>
              <a:t> </a:t>
            </a:r>
            <a:r>
              <a:rPr sz="3600" dirty="0">
                <a:solidFill>
                  <a:srgbClr val="FF2600"/>
                </a:solidFill>
                <a:latin typeface="Calibri"/>
                <a:cs typeface="Calibri"/>
              </a:rPr>
              <a:t>optimal</a:t>
            </a:r>
            <a:r>
              <a:rPr sz="3600" spc="-45" dirty="0">
                <a:solidFill>
                  <a:srgbClr val="FF2600"/>
                </a:solidFill>
                <a:latin typeface="Calibri"/>
                <a:cs typeface="Calibri"/>
              </a:rPr>
              <a:t> </a:t>
            </a:r>
            <a:r>
              <a:rPr sz="3600" dirty="0">
                <a:solidFill>
                  <a:srgbClr val="FF2600"/>
                </a:solidFill>
                <a:latin typeface="Calibri"/>
                <a:cs typeface="Calibri"/>
              </a:rPr>
              <a:t>due</a:t>
            </a:r>
            <a:r>
              <a:rPr sz="3600" spc="-40" dirty="0">
                <a:solidFill>
                  <a:srgbClr val="FF2600"/>
                </a:solidFill>
                <a:latin typeface="Calibri"/>
                <a:cs typeface="Calibri"/>
              </a:rPr>
              <a:t> </a:t>
            </a:r>
            <a:r>
              <a:rPr sz="3600" dirty="0">
                <a:solidFill>
                  <a:srgbClr val="FF2600"/>
                </a:solidFill>
                <a:latin typeface="Calibri"/>
                <a:cs typeface="Calibri"/>
              </a:rPr>
              <a:t>to</a:t>
            </a:r>
            <a:r>
              <a:rPr sz="3600" spc="-45" dirty="0">
                <a:solidFill>
                  <a:srgbClr val="FF2600"/>
                </a:solidFill>
                <a:latin typeface="Calibri"/>
                <a:cs typeface="Calibri"/>
              </a:rPr>
              <a:t> </a:t>
            </a:r>
            <a:r>
              <a:rPr sz="3600" dirty="0">
                <a:solidFill>
                  <a:srgbClr val="FF2600"/>
                </a:solidFill>
                <a:latin typeface="Calibri"/>
                <a:cs typeface="Calibri"/>
              </a:rPr>
              <a:t>many</a:t>
            </a:r>
            <a:r>
              <a:rPr sz="3600" spc="-45" dirty="0">
                <a:solidFill>
                  <a:srgbClr val="FF2600"/>
                </a:solidFill>
                <a:latin typeface="Calibri"/>
                <a:cs typeface="Calibri"/>
              </a:rPr>
              <a:t> </a:t>
            </a:r>
            <a:r>
              <a:rPr sz="3600" spc="-10" dirty="0">
                <a:solidFill>
                  <a:srgbClr val="FF2600"/>
                </a:solidFill>
                <a:latin typeface="Calibri"/>
                <a:cs typeface="Calibri"/>
              </a:rPr>
              <a:t>electronic </a:t>
            </a:r>
            <a:r>
              <a:rPr sz="3600" dirty="0">
                <a:solidFill>
                  <a:srgbClr val="FF2600"/>
                </a:solidFill>
                <a:latin typeface="Calibri"/>
                <a:cs typeface="Calibri"/>
              </a:rPr>
              <a:t>transition</a:t>
            </a:r>
            <a:r>
              <a:rPr sz="3600" spc="-55" dirty="0">
                <a:solidFill>
                  <a:srgbClr val="FF2600"/>
                </a:solidFill>
                <a:latin typeface="Calibri"/>
                <a:cs typeface="Calibri"/>
              </a:rPr>
              <a:t> </a:t>
            </a:r>
            <a:r>
              <a:rPr sz="3600" dirty="0">
                <a:solidFill>
                  <a:srgbClr val="FF2600"/>
                </a:solidFill>
                <a:latin typeface="Calibri"/>
                <a:cs typeface="Calibri"/>
              </a:rPr>
              <a:t>in</a:t>
            </a:r>
            <a:r>
              <a:rPr sz="3600" spc="-55" dirty="0">
                <a:solidFill>
                  <a:srgbClr val="FF2600"/>
                </a:solidFill>
                <a:latin typeface="Calibri"/>
                <a:cs typeface="Calibri"/>
              </a:rPr>
              <a:t> </a:t>
            </a:r>
            <a:r>
              <a:rPr sz="3600" dirty="0">
                <a:solidFill>
                  <a:srgbClr val="FF2600"/>
                </a:solidFill>
                <a:latin typeface="Calibri"/>
                <a:cs typeface="Calibri"/>
              </a:rPr>
              <a:t>this</a:t>
            </a:r>
            <a:r>
              <a:rPr sz="3600" spc="-55" dirty="0">
                <a:solidFill>
                  <a:srgbClr val="FF2600"/>
                </a:solidFill>
                <a:latin typeface="Calibri"/>
                <a:cs typeface="Calibri"/>
              </a:rPr>
              <a:t> </a:t>
            </a:r>
            <a:r>
              <a:rPr sz="3600" spc="-10" dirty="0">
                <a:solidFill>
                  <a:srgbClr val="FF2600"/>
                </a:solidFill>
                <a:latin typeface="Calibri"/>
                <a:cs typeface="Calibri"/>
              </a:rPr>
              <a:t>range</a:t>
            </a:r>
            <a:endParaRPr sz="3600">
              <a:latin typeface="Calibri"/>
              <a:cs typeface="Calibri"/>
            </a:endParaRPr>
          </a:p>
        </p:txBody>
      </p:sp>
      <p:sp>
        <p:nvSpPr>
          <p:cNvPr id="42" name="object 42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pc="-10" dirty="0"/>
              <a:t>Software</a:t>
            </a:r>
            <a:r>
              <a:rPr spc="-50" dirty="0"/>
              <a:t> </a:t>
            </a:r>
            <a:r>
              <a:rPr dirty="0"/>
              <a:t>for</a:t>
            </a:r>
            <a:r>
              <a:rPr spc="-45" dirty="0"/>
              <a:t> </a:t>
            </a:r>
            <a:r>
              <a:rPr dirty="0"/>
              <a:t>Optical</a:t>
            </a:r>
            <a:r>
              <a:rPr spc="-45" dirty="0"/>
              <a:t> </a:t>
            </a:r>
            <a:r>
              <a:rPr dirty="0"/>
              <a:t>Simulations,</a:t>
            </a:r>
            <a:r>
              <a:rPr spc="-45" dirty="0"/>
              <a:t> </a:t>
            </a:r>
            <a:r>
              <a:rPr spc="-20" dirty="0"/>
              <a:t>Trieste,</a:t>
            </a:r>
            <a:r>
              <a:rPr spc="-45" dirty="0"/>
              <a:t> </a:t>
            </a:r>
            <a:r>
              <a:rPr dirty="0"/>
              <a:t>October</a:t>
            </a:r>
            <a:r>
              <a:rPr spc="-45" dirty="0"/>
              <a:t> </a:t>
            </a:r>
            <a:r>
              <a:rPr dirty="0"/>
              <a:t>2016.</a:t>
            </a:r>
            <a:r>
              <a:rPr spc="-45" dirty="0"/>
              <a:t> </a:t>
            </a:r>
            <a:r>
              <a:rPr dirty="0"/>
              <a:t>Ruben</a:t>
            </a:r>
            <a:r>
              <a:rPr spc="-45" dirty="0"/>
              <a:t> </a:t>
            </a:r>
            <a:r>
              <a:rPr spc="-10" dirty="0"/>
              <a:t>Reininger</a:t>
            </a:r>
          </a:p>
        </p:txBody>
      </p:sp>
      <p:sp>
        <p:nvSpPr>
          <p:cNvPr id="43" name="object 4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25" dirty="0"/>
              <a:t>27</a:t>
            </a:fld>
            <a:endParaRPr spc="-25" dirty="0"/>
          </a:p>
        </p:txBody>
      </p:sp>
      <p:sp>
        <p:nvSpPr>
          <p:cNvPr id="44" name="object 44"/>
          <p:cNvSpPr txBox="1"/>
          <p:nvPr/>
        </p:nvSpPr>
        <p:spPr>
          <a:xfrm>
            <a:off x="1069339" y="9384967"/>
            <a:ext cx="72390" cy="211454"/>
          </a:xfrm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sz="1200" spc="-50" dirty="0">
                <a:solidFill>
                  <a:srgbClr val="275D90"/>
                </a:solidFill>
                <a:latin typeface="Calibri"/>
                <a:cs typeface="Calibri"/>
              </a:rPr>
              <a:t>-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2356322-7E3B-4423-9851-95AA19711346}"/>
              </a:ext>
            </a:extLst>
          </p:cNvPr>
          <p:cNvSpPr/>
          <p:nvPr/>
        </p:nvSpPr>
        <p:spPr>
          <a:xfrm>
            <a:off x="26762" y="46041"/>
            <a:ext cx="472437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03_CollimatedPGM1000eVc2_Vertical.ows</a:t>
            </a: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6A6D63E-A04A-4ADD-9393-BF8B548AFA57}"/>
              </a:ext>
            </a:extLst>
          </p:cNvPr>
          <p:cNvGrpSpPr/>
          <p:nvPr/>
        </p:nvGrpSpPr>
        <p:grpSpPr>
          <a:xfrm>
            <a:off x="254000" y="952500"/>
            <a:ext cx="12374775" cy="2416129"/>
            <a:chOff x="254000" y="952500"/>
            <a:chExt cx="12374775" cy="2416129"/>
          </a:xfrm>
        </p:grpSpPr>
        <p:grpSp>
          <p:nvGrpSpPr>
            <p:cNvPr id="13" name="object 13"/>
            <p:cNvGrpSpPr/>
            <p:nvPr/>
          </p:nvGrpSpPr>
          <p:grpSpPr>
            <a:xfrm>
              <a:off x="1133094" y="1099626"/>
              <a:ext cx="795020" cy="167640"/>
              <a:chOff x="1133094" y="1099626"/>
              <a:chExt cx="795020" cy="167640"/>
            </a:xfrm>
          </p:grpSpPr>
          <p:sp>
            <p:nvSpPr>
              <p:cNvPr id="14" name="object 14"/>
              <p:cNvSpPr/>
              <p:nvPr/>
            </p:nvSpPr>
            <p:spPr>
              <a:xfrm>
                <a:off x="1281684" y="1183446"/>
                <a:ext cx="64643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46430">
                    <a:moveTo>
                      <a:pt x="0" y="0"/>
                    </a:moveTo>
                    <a:lnTo>
                      <a:pt x="645899" y="0"/>
                    </a:lnTo>
                  </a:path>
                </a:pathLst>
              </a:custGeom>
              <a:ln w="38100">
                <a:solidFill>
                  <a:srgbClr val="91919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" name="object 15"/>
              <p:cNvSpPr/>
              <p:nvPr/>
            </p:nvSpPr>
            <p:spPr>
              <a:xfrm>
                <a:off x="1133094" y="1099626"/>
                <a:ext cx="167640" cy="167640"/>
              </a:xfrm>
              <a:custGeom>
                <a:avLst/>
                <a:gdLst/>
                <a:ahLst/>
                <a:cxnLst/>
                <a:rect l="l" t="t" r="r" b="b"/>
                <a:pathLst>
                  <a:path w="167640" h="167640">
                    <a:moveTo>
                      <a:pt x="167640" y="0"/>
                    </a:moveTo>
                    <a:lnTo>
                      <a:pt x="0" y="83820"/>
                    </a:lnTo>
                    <a:lnTo>
                      <a:pt x="167640" y="167640"/>
                    </a:lnTo>
                    <a:lnTo>
                      <a:pt x="167640" y="0"/>
                    </a:lnTo>
                    <a:close/>
                  </a:path>
                </a:pathLst>
              </a:custGeom>
              <a:solidFill>
                <a:srgbClr val="919191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16" name="object 16"/>
            <p:cNvGrpSpPr/>
            <p:nvPr/>
          </p:nvGrpSpPr>
          <p:grpSpPr>
            <a:xfrm>
              <a:off x="2777298" y="1099626"/>
              <a:ext cx="3039745" cy="167640"/>
              <a:chOff x="2777298" y="1099626"/>
              <a:chExt cx="3039745" cy="167640"/>
            </a:xfrm>
          </p:grpSpPr>
          <p:sp>
            <p:nvSpPr>
              <p:cNvPr id="17" name="object 17"/>
              <p:cNvSpPr/>
              <p:nvPr/>
            </p:nvSpPr>
            <p:spPr>
              <a:xfrm>
                <a:off x="2777298" y="1183446"/>
                <a:ext cx="316230" cy="0"/>
              </a:xfrm>
              <a:custGeom>
                <a:avLst/>
                <a:gdLst/>
                <a:ahLst/>
                <a:cxnLst/>
                <a:rect l="l" t="t" r="r" b="b"/>
                <a:pathLst>
                  <a:path w="316230">
                    <a:moveTo>
                      <a:pt x="0" y="0"/>
                    </a:moveTo>
                    <a:lnTo>
                      <a:pt x="315698" y="0"/>
                    </a:lnTo>
                  </a:path>
                </a:pathLst>
              </a:custGeom>
              <a:ln w="38100">
                <a:solidFill>
                  <a:srgbClr val="91919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3073947" y="1099626"/>
                <a:ext cx="167640" cy="167640"/>
              </a:xfrm>
              <a:custGeom>
                <a:avLst/>
                <a:gdLst/>
                <a:ahLst/>
                <a:cxnLst/>
                <a:rect l="l" t="t" r="r" b="b"/>
                <a:pathLst>
                  <a:path w="167639" h="167640">
                    <a:moveTo>
                      <a:pt x="0" y="0"/>
                    </a:moveTo>
                    <a:lnTo>
                      <a:pt x="0" y="167640"/>
                    </a:lnTo>
                    <a:lnTo>
                      <a:pt x="167639" y="8382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19191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" name="object 19"/>
              <p:cNvSpPr/>
              <p:nvPr/>
            </p:nvSpPr>
            <p:spPr>
              <a:xfrm>
                <a:off x="3290026" y="1183446"/>
                <a:ext cx="2526665" cy="0"/>
              </a:xfrm>
              <a:custGeom>
                <a:avLst/>
                <a:gdLst/>
                <a:ahLst/>
                <a:cxnLst/>
                <a:rect l="l" t="t" r="r" b="b"/>
                <a:pathLst>
                  <a:path w="2526665">
                    <a:moveTo>
                      <a:pt x="0" y="0"/>
                    </a:moveTo>
                    <a:lnTo>
                      <a:pt x="2526578" y="0"/>
                    </a:lnTo>
                  </a:path>
                </a:pathLst>
              </a:custGeom>
              <a:ln w="38100">
                <a:solidFill>
                  <a:srgbClr val="91919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" name="object 20"/>
              <p:cNvSpPr/>
              <p:nvPr/>
            </p:nvSpPr>
            <p:spPr>
              <a:xfrm>
                <a:off x="3141436" y="1099626"/>
                <a:ext cx="167640" cy="167640"/>
              </a:xfrm>
              <a:custGeom>
                <a:avLst/>
                <a:gdLst/>
                <a:ahLst/>
                <a:cxnLst/>
                <a:rect l="l" t="t" r="r" b="b"/>
                <a:pathLst>
                  <a:path w="167639" h="167640">
                    <a:moveTo>
                      <a:pt x="167640" y="0"/>
                    </a:moveTo>
                    <a:lnTo>
                      <a:pt x="0" y="83820"/>
                    </a:lnTo>
                    <a:lnTo>
                      <a:pt x="167640" y="167640"/>
                    </a:lnTo>
                    <a:lnTo>
                      <a:pt x="167640" y="0"/>
                    </a:lnTo>
                    <a:close/>
                  </a:path>
                </a:pathLst>
              </a:custGeom>
              <a:solidFill>
                <a:srgbClr val="919191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21" name="object 21"/>
            <p:cNvGrpSpPr/>
            <p:nvPr/>
          </p:nvGrpSpPr>
          <p:grpSpPr>
            <a:xfrm>
              <a:off x="6496803" y="1099626"/>
              <a:ext cx="1885950" cy="167640"/>
              <a:chOff x="6496803" y="1099626"/>
              <a:chExt cx="1885950" cy="167640"/>
            </a:xfrm>
          </p:grpSpPr>
          <p:sp>
            <p:nvSpPr>
              <p:cNvPr id="22" name="object 22"/>
              <p:cNvSpPr/>
              <p:nvPr/>
            </p:nvSpPr>
            <p:spPr>
              <a:xfrm>
                <a:off x="6496803" y="1183446"/>
                <a:ext cx="945515" cy="0"/>
              </a:xfrm>
              <a:custGeom>
                <a:avLst/>
                <a:gdLst/>
                <a:ahLst/>
                <a:cxnLst/>
                <a:rect l="l" t="t" r="r" b="b"/>
                <a:pathLst>
                  <a:path w="945515">
                    <a:moveTo>
                      <a:pt x="0" y="0"/>
                    </a:moveTo>
                    <a:lnTo>
                      <a:pt x="945102" y="0"/>
                    </a:lnTo>
                  </a:path>
                </a:pathLst>
              </a:custGeom>
              <a:ln w="38100">
                <a:solidFill>
                  <a:srgbClr val="91919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" name="object 23"/>
              <p:cNvSpPr/>
              <p:nvPr/>
            </p:nvSpPr>
            <p:spPr>
              <a:xfrm>
                <a:off x="7422855" y="1099626"/>
                <a:ext cx="167640" cy="167640"/>
              </a:xfrm>
              <a:custGeom>
                <a:avLst/>
                <a:gdLst/>
                <a:ahLst/>
                <a:cxnLst/>
                <a:rect l="l" t="t" r="r" b="b"/>
                <a:pathLst>
                  <a:path w="167640" h="167640">
                    <a:moveTo>
                      <a:pt x="0" y="0"/>
                    </a:moveTo>
                    <a:lnTo>
                      <a:pt x="0" y="167640"/>
                    </a:lnTo>
                    <a:lnTo>
                      <a:pt x="167639" y="8382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19191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" name="object 24"/>
              <p:cNvSpPr/>
              <p:nvPr/>
            </p:nvSpPr>
            <p:spPr>
              <a:xfrm>
                <a:off x="7706906" y="1183446"/>
                <a:ext cx="67627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76275">
                    <a:moveTo>
                      <a:pt x="0" y="0"/>
                    </a:moveTo>
                    <a:lnTo>
                      <a:pt x="675739" y="0"/>
                    </a:lnTo>
                  </a:path>
                </a:pathLst>
              </a:custGeom>
              <a:ln w="38100">
                <a:solidFill>
                  <a:srgbClr val="91919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" name="object 25"/>
              <p:cNvSpPr/>
              <p:nvPr/>
            </p:nvSpPr>
            <p:spPr>
              <a:xfrm>
                <a:off x="7558316" y="1099626"/>
                <a:ext cx="167640" cy="167640"/>
              </a:xfrm>
              <a:custGeom>
                <a:avLst/>
                <a:gdLst/>
                <a:ahLst/>
                <a:cxnLst/>
                <a:rect l="l" t="t" r="r" b="b"/>
                <a:pathLst>
                  <a:path w="167640" h="167640">
                    <a:moveTo>
                      <a:pt x="167639" y="0"/>
                    </a:moveTo>
                    <a:lnTo>
                      <a:pt x="0" y="83820"/>
                    </a:lnTo>
                    <a:lnTo>
                      <a:pt x="167639" y="167640"/>
                    </a:lnTo>
                    <a:lnTo>
                      <a:pt x="167639" y="0"/>
                    </a:lnTo>
                    <a:close/>
                  </a:path>
                </a:pathLst>
              </a:custGeom>
              <a:solidFill>
                <a:srgbClr val="919191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30" name="object 30"/>
            <p:cNvGrpSpPr/>
            <p:nvPr/>
          </p:nvGrpSpPr>
          <p:grpSpPr>
            <a:xfrm>
              <a:off x="9062844" y="1099626"/>
              <a:ext cx="1096152" cy="167640"/>
              <a:chOff x="9062844" y="1099626"/>
              <a:chExt cx="1536700" cy="167640"/>
            </a:xfrm>
          </p:grpSpPr>
          <p:sp>
            <p:nvSpPr>
              <p:cNvPr id="31" name="object 31"/>
              <p:cNvSpPr/>
              <p:nvPr/>
            </p:nvSpPr>
            <p:spPr>
              <a:xfrm>
                <a:off x="10019315" y="1183446"/>
                <a:ext cx="580390" cy="0"/>
              </a:xfrm>
              <a:custGeom>
                <a:avLst/>
                <a:gdLst/>
                <a:ahLst/>
                <a:cxnLst/>
                <a:rect l="l" t="t" r="r" b="b"/>
                <a:pathLst>
                  <a:path w="580390">
                    <a:moveTo>
                      <a:pt x="0" y="0"/>
                    </a:moveTo>
                    <a:lnTo>
                      <a:pt x="580030" y="0"/>
                    </a:lnTo>
                  </a:path>
                </a:pathLst>
              </a:custGeom>
              <a:ln w="38100">
                <a:solidFill>
                  <a:srgbClr val="91919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2" name="object 32"/>
              <p:cNvSpPr/>
              <p:nvPr/>
            </p:nvSpPr>
            <p:spPr>
              <a:xfrm>
                <a:off x="9870725" y="1099626"/>
                <a:ext cx="167640" cy="167640"/>
              </a:xfrm>
              <a:custGeom>
                <a:avLst/>
                <a:gdLst/>
                <a:ahLst/>
                <a:cxnLst/>
                <a:rect l="l" t="t" r="r" b="b"/>
                <a:pathLst>
                  <a:path w="167640" h="167640">
                    <a:moveTo>
                      <a:pt x="167640" y="0"/>
                    </a:moveTo>
                    <a:lnTo>
                      <a:pt x="0" y="83820"/>
                    </a:lnTo>
                    <a:lnTo>
                      <a:pt x="167640" y="167640"/>
                    </a:lnTo>
                    <a:lnTo>
                      <a:pt x="167640" y="0"/>
                    </a:lnTo>
                    <a:close/>
                  </a:path>
                </a:pathLst>
              </a:custGeom>
              <a:solidFill>
                <a:srgbClr val="919191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3" name="object 33"/>
              <p:cNvSpPr/>
              <p:nvPr/>
            </p:nvSpPr>
            <p:spPr>
              <a:xfrm>
                <a:off x="9062844" y="1183446"/>
                <a:ext cx="67627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76275">
                    <a:moveTo>
                      <a:pt x="0" y="0"/>
                    </a:moveTo>
                    <a:lnTo>
                      <a:pt x="675737" y="0"/>
                    </a:lnTo>
                  </a:path>
                </a:pathLst>
              </a:custGeom>
              <a:ln w="38100">
                <a:solidFill>
                  <a:srgbClr val="91919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4" name="object 34"/>
              <p:cNvSpPr/>
              <p:nvPr/>
            </p:nvSpPr>
            <p:spPr>
              <a:xfrm>
                <a:off x="9719533" y="1099626"/>
                <a:ext cx="167640" cy="167640"/>
              </a:xfrm>
              <a:custGeom>
                <a:avLst/>
                <a:gdLst/>
                <a:ahLst/>
                <a:cxnLst/>
                <a:rect l="l" t="t" r="r" b="b"/>
                <a:pathLst>
                  <a:path w="167640" h="167640">
                    <a:moveTo>
                      <a:pt x="0" y="0"/>
                    </a:moveTo>
                    <a:lnTo>
                      <a:pt x="0" y="167640"/>
                    </a:lnTo>
                    <a:lnTo>
                      <a:pt x="167640" y="8382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19191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35" name="object 35"/>
            <p:cNvGrpSpPr/>
            <p:nvPr/>
          </p:nvGrpSpPr>
          <p:grpSpPr>
            <a:xfrm>
              <a:off x="11375604" y="1099626"/>
              <a:ext cx="603885" cy="167640"/>
              <a:chOff x="11375604" y="1099626"/>
              <a:chExt cx="603885" cy="167640"/>
            </a:xfrm>
          </p:grpSpPr>
          <p:sp>
            <p:nvSpPr>
              <p:cNvPr id="36" name="object 36"/>
              <p:cNvSpPr/>
              <p:nvPr/>
            </p:nvSpPr>
            <p:spPr>
              <a:xfrm>
                <a:off x="11375604" y="1183446"/>
                <a:ext cx="455295" cy="0"/>
              </a:xfrm>
              <a:custGeom>
                <a:avLst/>
                <a:gdLst/>
                <a:ahLst/>
                <a:cxnLst/>
                <a:rect l="l" t="t" r="r" b="b"/>
                <a:pathLst>
                  <a:path w="455295">
                    <a:moveTo>
                      <a:pt x="0" y="0"/>
                    </a:moveTo>
                    <a:lnTo>
                      <a:pt x="455023" y="0"/>
                    </a:lnTo>
                  </a:path>
                </a:pathLst>
              </a:custGeom>
              <a:ln w="38100">
                <a:solidFill>
                  <a:srgbClr val="91919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7" name="object 37"/>
              <p:cNvSpPr/>
              <p:nvPr/>
            </p:nvSpPr>
            <p:spPr>
              <a:xfrm>
                <a:off x="11811578" y="1099626"/>
                <a:ext cx="167640" cy="167640"/>
              </a:xfrm>
              <a:custGeom>
                <a:avLst/>
                <a:gdLst/>
                <a:ahLst/>
                <a:cxnLst/>
                <a:rect l="l" t="t" r="r" b="b"/>
                <a:pathLst>
                  <a:path w="167640" h="167640">
                    <a:moveTo>
                      <a:pt x="0" y="0"/>
                    </a:moveTo>
                    <a:lnTo>
                      <a:pt x="0" y="167640"/>
                    </a:lnTo>
                    <a:lnTo>
                      <a:pt x="167640" y="8382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19191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38" name="object 38"/>
            <p:cNvSpPr txBox="1"/>
            <p:nvPr/>
          </p:nvSpPr>
          <p:spPr>
            <a:xfrm>
              <a:off x="2019300" y="977900"/>
              <a:ext cx="6998334" cy="39116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  <a:tabLst>
                  <a:tab pos="3910965" algn="l"/>
                  <a:tab pos="6476365" algn="l"/>
                </a:tabLst>
              </a:pPr>
              <a:r>
                <a:rPr sz="2400" dirty="0">
                  <a:latin typeface="Arial MT"/>
                  <a:cs typeface="Arial MT"/>
                </a:rPr>
                <a:t>28</a:t>
              </a:r>
              <a:r>
                <a:rPr sz="2400" spc="-30" dirty="0">
                  <a:latin typeface="Arial MT"/>
                  <a:cs typeface="Arial MT"/>
                </a:rPr>
                <a:t> </a:t>
              </a:r>
              <a:r>
                <a:rPr sz="2400" spc="-50" dirty="0">
                  <a:latin typeface="Arial MT"/>
                  <a:cs typeface="Arial MT"/>
                </a:rPr>
                <a:t>m</a:t>
              </a:r>
              <a:r>
                <a:rPr sz="2400" dirty="0">
                  <a:latin typeface="Arial MT"/>
                  <a:cs typeface="Arial MT"/>
                </a:rPr>
                <a:t>	2</a:t>
              </a:r>
              <a:r>
                <a:rPr sz="2400" spc="-15" dirty="0">
                  <a:latin typeface="Arial MT"/>
                  <a:cs typeface="Arial MT"/>
                </a:rPr>
                <a:t> </a:t>
              </a:r>
              <a:r>
                <a:rPr sz="2400" spc="-50" dirty="0">
                  <a:latin typeface="Arial MT"/>
                  <a:cs typeface="Arial MT"/>
                </a:rPr>
                <a:t>m</a:t>
              </a:r>
              <a:r>
                <a:rPr sz="2400" dirty="0">
                  <a:latin typeface="Arial MT"/>
                  <a:cs typeface="Arial MT"/>
                </a:rPr>
                <a:t>	1</a:t>
              </a:r>
              <a:r>
                <a:rPr sz="2400" spc="-15" dirty="0">
                  <a:latin typeface="Arial MT"/>
                  <a:cs typeface="Arial MT"/>
                </a:rPr>
                <a:t> </a:t>
              </a:r>
              <a:r>
                <a:rPr sz="2400" spc="-50" dirty="0">
                  <a:latin typeface="Arial MT"/>
                  <a:cs typeface="Arial MT"/>
                </a:rPr>
                <a:t>m</a:t>
              </a:r>
              <a:endParaRPr sz="2400">
                <a:latin typeface="Arial MT"/>
                <a:cs typeface="Arial MT"/>
              </a:endParaRPr>
            </a:p>
          </p:txBody>
        </p:sp>
        <p:sp>
          <p:nvSpPr>
            <p:cNvPr id="39" name="object 39"/>
            <p:cNvSpPr txBox="1"/>
            <p:nvPr/>
          </p:nvSpPr>
          <p:spPr>
            <a:xfrm>
              <a:off x="1633215" y="1017835"/>
              <a:ext cx="565150" cy="290830"/>
            </a:xfrm>
            <a:prstGeom prst="rect">
              <a:avLst/>
            </a:prstGeom>
          </p:spPr>
          <p:txBody>
            <a:bodyPr vert="vert270" wrap="square" lIns="0" tIns="0" rIns="0" bIns="0" rtlCol="0">
              <a:spAutoFit/>
            </a:bodyPr>
            <a:lstStyle/>
            <a:p>
              <a:pPr marL="12700">
                <a:lnSpc>
                  <a:spcPts val="4300"/>
                </a:lnSpc>
              </a:pPr>
              <a:r>
                <a:rPr sz="3800" spc="-50" dirty="0">
                  <a:latin typeface="Arial MT"/>
                  <a:cs typeface="Arial MT"/>
                </a:rPr>
                <a:t>≈</a:t>
              </a:r>
              <a:endParaRPr sz="3800">
                <a:latin typeface="Arial MT"/>
                <a:cs typeface="Arial MT"/>
              </a:endParaRPr>
            </a:p>
          </p:txBody>
        </p:sp>
        <p:sp>
          <p:nvSpPr>
            <p:cNvPr id="40" name="object 40"/>
            <p:cNvSpPr txBox="1"/>
            <p:nvPr/>
          </p:nvSpPr>
          <p:spPr>
            <a:xfrm>
              <a:off x="10693400" y="952500"/>
              <a:ext cx="534035" cy="39116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2400" dirty="0">
                  <a:latin typeface="Arial MT"/>
                  <a:cs typeface="Arial MT"/>
                </a:rPr>
                <a:t>9</a:t>
              </a:r>
              <a:r>
                <a:rPr sz="2400" spc="-15" dirty="0">
                  <a:latin typeface="Arial MT"/>
                  <a:cs typeface="Arial MT"/>
                </a:rPr>
                <a:t> </a:t>
              </a:r>
              <a:r>
                <a:rPr sz="2400" spc="-50" dirty="0">
                  <a:latin typeface="Arial MT"/>
                  <a:cs typeface="Arial MT"/>
                </a:rPr>
                <a:t>m</a:t>
              </a:r>
              <a:endParaRPr sz="2400">
                <a:latin typeface="Arial MT"/>
                <a:cs typeface="Arial MT"/>
              </a:endParaRPr>
            </a:p>
          </p:txBody>
        </p:sp>
        <p:sp>
          <p:nvSpPr>
            <p:cNvPr id="41" name="object 41"/>
            <p:cNvSpPr txBox="1"/>
            <p:nvPr/>
          </p:nvSpPr>
          <p:spPr>
            <a:xfrm>
              <a:off x="10307315" y="1005135"/>
              <a:ext cx="565150" cy="290830"/>
            </a:xfrm>
            <a:prstGeom prst="rect">
              <a:avLst/>
            </a:prstGeom>
          </p:spPr>
          <p:txBody>
            <a:bodyPr vert="vert270" wrap="square" lIns="0" tIns="0" rIns="0" bIns="0" rtlCol="0">
              <a:spAutoFit/>
            </a:bodyPr>
            <a:lstStyle/>
            <a:p>
              <a:pPr marL="12700">
                <a:lnSpc>
                  <a:spcPts val="4300"/>
                </a:lnSpc>
              </a:pPr>
              <a:r>
                <a:rPr sz="3800" spc="-50" dirty="0">
                  <a:latin typeface="Arial MT"/>
                  <a:cs typeface="Arial MT"/>
                </a:rPr>
                <a:t>≈</a:t>
              </a:r>
              <a:endParaRPr sz="3800">
                <a:latin typeface="Arial MT"/>
                <a:cs typeface="Arial MT"/>
              </a:endParaRPr>
            </a:p>
          </p:txBody>
        </p:sp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DA639C3A-7CE2-4013-95E4-543D6831D23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4000" y="1387224"/>
              <a:ext cx="12374775" cy="1981405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726754" y="0"/>
            <a:ext cx="5278045" cy="203200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08125">
              <a:lnSpc>
                <a:spcPct val="100000"/>
              </a:lnSpc>
              <a:spcBef>
                <a:spcPts val="100"/>
              </a:spcBef>
            </a:pPr>
            <a:r>
              <a:rPr dirty="0"/>
              <a:t>Collimated</a:t>
            </a:r>
            <a:r>
              <a:rPr spc="-100" dirty="0"/>
              <a:t> </a:t>
            </a:r>
            <a:r>
              <a:rPr dirty="0"/>
              <a:t>PGM,</a:t>
            </a:r>
            <a:r>
              <a:rPr spc="-95" dirty="0"/>
              <a:t> </a:t>
            </a:r>
            <a:r>
              <a:rPr dirty="0">
                <a:solidFill>
                  <a:srgbClr val="FF2600"/>
                </a:solidFill>
              </a:rPr>
              <a:t>vertical</a:t>
            </a:r>
            <a:r>
              <a:rPr spc="-95" dirty="0">
                <a:solidFill>
                  <a:srgbClr val="FF2600"/>
                </a:solidFill>
              </a:rPr>
              <a:t> </a:t>
            </a:r>
            <a:r>
              <a:rPr dirty="0">
                <a:solidFill>
                  <a:srgbClr val="FF2600"/>
                </a:solidFill>
              </a:rPr>
              <a:t>plane</a:t>
            </a:r>
            <a:r>
              <a:rPr dirty="0"/>
              <a:t>;</a:t>
            </a:r>
            <a:r>
              <a:rPr spc="-100" dirty="0"/>
              <a:t> </a:t>
            </a:r>
            <a:r>
              <a:rPr spc="-25" dirty="0"/>
              <a:t>c=2</a:t>
            </a:r>
          </a:p>
        </p:txBody>
      </p:sp>
      <p:sp>
        <p:nvSpPr>
          <p:cNvPr id="35" name="object 3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pc="-10" dirty="0"/>
              <a:t>Software</a:t>
            </a:r>
            <a:r>
              <a:rPr spc="-50" dirty="0"/>
              <a:t> </a:t>
            </a:r>
            <a:r>
              <a:rPr dirty="0"/>
              <a:t>for</a:t>
            </a:r>
            <a:r>
              <a:rPr spc="-45" dirty="0"/>
              <a:t> </a:t>
            </a:r>
            <a:r>
              <a:rPr dirty="0"/>
              <a:t>Optical</a:t>
            </a:r>
            <a:r>
              <a:rPr spc="-45" dirty="0"/>
              <a:t> </a:t>
            </a:r>
            <a:r>
              <a:rPr dirty="0"/>
              <a:t>Simulations,</a:t>
            </a:r>
            <a:r>
              <a:rPr spc="-45" dirty="0"/>
              <a:t> </a:t>
            </a:r>
            <a:r>
              <a:rPr spc="-20" dirty="0"/>
              <a:t>Trieste,</a:t>
            </a:r>
            <a:r>
              <a:rPr spc="-45" dirty="0"/>
              <a:t> </a:t>
            </a:r>
            <a:r>
              <a:rPr dirty="0"/>
              <a:t>October</a:t>
            </a:r>
            <a:r>
              <a:rPr spc="-45" dirty="0"/>
              <a:t> </a:t>
            </a:r>
            <a:r>
              <a:rPr dirty="0"/>
              <a:t>2016.</a:t>
            </a:r>
            <a:r>
              <a:rPr spc="-45" dirty="0"/>
              <a:t> </a:t>
            </a:r>
            <a:r>
              <a:rPr dirty="0"/>
              <a:t>Ruben</a:t>
            </a:r>
            <a:r>
              <a:rPr spc="-45" dirty="0"/>
              <a:t> </a:t>
            </a:r>
            <a:r>
              <a:rPr spc="-10" dirty="0"/>
              <a:t>Reininger</a:t>
            </a:r>
          </a:p>
        </p:txBody>
      </p:sp>
      <p:sp>
        <p:nvSpPr>
          <p:cNvPr id="36" name="object 3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25" dirty="0"/>
              <a:t>28</a:t>
            </a:fld>
            <a:endParaRPr spc="-25" dirty="0"/>
          </a:p>
        </p:txBody>
      </p:sp>
      <p:sp>
        <p:nvSpPr>
          <p:cNvPr id="37" name="object 37"/>
          <p:cNvSpPr txBox="1"/>
          <p:nvPr/>
        </p:nvSpPr>
        <p:spPr>
          <a:xfrm>
            <a:off x="1069339" y="9384967"/>
            <a:ext cx="72390" cy="211454"/>
          </a:xfrm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sz="1200" spc="-50" dirty="0">
                <a:solidFill>
                  <a:srgbClr val="275D90"/>
                </a:solidFill>
                <a:latin typeface="Calibri"/>
                <a:cs typeface="Calibri"/>
              </a:rPr>
              <a:t>-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2997200" y="3251200"/>
            <a:ext cx="741045" cy="746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ts val="2840"/>
              </a:lnSpc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88.5°</a:t>
            </a:r>
            <a:endParaRPr sz="2400">
              <a:latin typeface="Arial MT"/>
              <a:cs typeface="Arial MT"/>
            </a:endParaRPr>
          </a:p>
          <a:p>
            <a:pPr marL="4445" algn="ctr">
              <a:lnSpc>
                <a:spcPts val="2840"/>
              </a:lnSpc>
            </a:pPr>
            <a:r>
              <a:rPr sz="2400" spc="-25" dirty="0">
                <a:latin typeface="Arial MT"/>
                <a:cs typeface="Arial MT"/>
              </a:rPr>
              <a:t>up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4991100" y="3251200"/>
            <a:ext cx="754380" cy="746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40"/>
              </a:lnSpc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87.8°</a:t>
            </a:r>
            <a:endParaRPr sz="2400">
              <a:latin typeface="Arial MT"/>
              <a:cs typeface="Arial MT"/>
            </a:endParaRPr>
          </a:p>
          <a:p>
            <a:pPr marL="12700">
              <a:lnSpc>
                <a:spcPts val="2840"/>
              </a:lnSpc>
            </a:pPr>
            <a:r>
              <a:rPr sz="2400" spc="-20" dirty="0">
                <a:latin typeface="Arial MT"/>
                <a:cs typeface="Arial MT"/>
              </a:rPr>
              <a:t>down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6388100" y="3251200"/>
            <a:ext cx="2329180" cy="746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ts val="2840"/>
              </a:lnSpc>
              <a:spcBef>
                <a:spcPts val="100"/>
              </a:spcBef>
            </a:pPr>
            <a:r>
              <a:rPr sz="2400" i="1" dirty="0">
                <a:latin typeface="Arial"/>
                <a:cs typeface="Arial"/>
              </a:rPr>
              <a:t>α</a:t>
            </a:r>
            <a:r>
              <a:rPr sz="2400" dirty="0">
                <a:latin typeface="Arial MT"/>
                <a:cs typeface="Arial MT"/>
              </a:rPr>
              <a:t>=88.5°,</a:t>
            </a:r>
            <a:r>
              <a:rPr sz="2400" spc="-90" dirty="0">
                <a:latin typeface="Arial MT"/>
                <a:cs typeface="Arial MT"/>
              </a:rPr>
              <a:t> </a:t>
            </a:r>
            <a:r>
              <a:rPr sz="2400" i="1" spc="-10" dirty="0">
                <a:latin typeface="Arial"/>
                <a:cs typeface="Arial"/>
              </a:rPr>
              <a:t>β</a:t>
            </a:r>
            <a:r>
              <a:rPr sz="2400" spc="-10" dirty="0">
                <a:latin typeface="Arial MT"/>
                <a:cs typeface="Arial MT"/>
              </a:rPr>
              <a:t>=87.1°</a:t>
            </a:r>
            <a:endParaRPr sz="2400">
              <a:latin typeface="Arial MT"/>
              <a:cs typeface="Arial MT"/>
            </a:endParaRPr>
          </a:p>
          <a:p>
            <a:pPr marR="635" algn="ctr">
              <a:lnSpc>
                <a:spcPts val="2840"/>
              </a:lnSpc>
            </a:pPr>
            <a:r>
              <a:rPr sz="2400" spc="-25" dirty="0">
                <a:latin typeface="Arial MT"/>
                <a:cs typeface="Arial MT"/>
              </a:rPr>
              <a:t>up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9359900" y="3251200"/>
            <a:ext cx="754380" cy="746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400">
              <a:lnSpc>
                <a:spcPts val="2840"/>
              </a:lnSpc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88.5°</a:t>
            </a:r>
            <a:endParaRPr sz="2400">
              <a:latin typeface="Arial MT"/>
              <a:cs typeface="Arial MT"/>
            </a:endParaRPr>
          </a:p>
          <a:p>
            <a:pPr marL="12700">
              <a:lnSpc>
                <a:spcPts val="2840"/>
              </a:lnSpc>
            </a:pPr>
            <a:r>
              <a:rPr sz="2400" spc="-20" dirty="0">
                <a:latin typeface="Arial MT"/>
                <a:cs typeface="Arial MT"/>
              </a:rPr>
              <a:t>down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F42B1AD-A97D-4B69-BE3A-72F47C7E1E77}"/>
              </a:ext>
            </a:extLst>
          </p:cNvPr>
          <p:cNvSpPr/>
          <p:nvPr/>
        </p:nvSpPr>
        <p:spPr>
          <a:xfrm>
            <a:off x="26762" y="46041"/>
            <a:ext cx="472437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03_CollimatedPGM1000eVc2_Vertical.ows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5EE1E25F-4F48-4AF3-9DDF-C6D787BCB50A}"/>
              </a:ext>
            </a:extLst>
          </p:cNvPr>
          <p:cNvGrpSpPr/>
          <p:nvPr/>
        </p:nvGrpSpPr>
        <p:grpSpPr>
          <a:xfrm>
            <a:off x="254000" y="838200"/>
            <a:ext cx="12374775" cy="2416129"/>
            <a:chOff x="254000" y="952500"/>
            <a:chExt cx="12374775" cy="2416129"/>
          </a:xfrm>
        </p:grpSpPr>
        <p:grpSp>
          <p:nvGrpSpPr>
            <p:cNvPr id="41" name="object 13">
              <a:extLst>
                <a:ext uri="{FF2B5EF4-FFF2-40B4-BE49-F238E27FC236}">
                  <a16:creationId xmlns:a16="http://schemas.microsoft.com/office/drawing/2014/main" id="{86C8B863-C63A-4912-82A4-8FA491D96230}"/>
                </a:ext>
              </a:extLst>
            </p:cNvPr>
            <p:cNvGrpSpPr/>
            <p:nvPr/>
          </p:nvGrpSpPr>
          <p:grpSpPr>
            <a:xfrm>
              <a:off x="1133094" y="1099626"/>
              <a:ext cx="795020" cy="167640"/>
              <a:chOff x="1133094" y="1099626"/>
              <a:chExt cx="795020" cy="167640"/>
            </a:xfrm>
          </p:grpSpPr>
          <p:sp>
            <p:nvSpPr>
              <p:cNvPr id="65" name="object 14">
                <a:extLst>
                  <a:ext uri="{FF2B5EF4-FFF2-40B4-BE49-F238E27FC236}">
                    <a16:creationId xmlns:a16="http://schemas.microsoft.com/office/drawing/2014/main" id="{9020442C-9203-4E4A-903A-FD4C2523378B}"/>
                  </a:ext>
                </a:extLst>
              </p:cNvPr>
              <p:cNvSpPr/>
              <p:nvPr/>
            </p:nvSpPr>
            <p:spPr>
              <a:xfrm>
                <a:off x="1281684" y="1183446"/>
                <a:ext cx="64643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46430">
                    <a:moveTo>
                      <a:pt x="0" y="0"/>
                    </a:moveTo>
                    <a:lnTo>
                      <a:pt x="645899" y="0"/>
                    </a:lnTo>
                  </a:path>
                </a:pathLst>
              </a:custGeom>
              <a:ln w="38100">
                <a:solidFill>
                  <a:srgbClr val="91919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6" name="object 15">
                <a:extLst>
                  <a:ext uri="{FF2B5EF4-FFF2-40B4-BE49-F238E27FC236}">
                    <a16:creationId xmlns:a16="http://schemas.microsoft.com/office/drawing/2014/main" id="{34A50115-9489-472F-86C9-96D057AD087F}"/>
                  </a:ext>
                </a:extLst>
              </p:cNvPr>
              <p:cNvSpPr/>
              <p:nvPr/>
            </p:nvSpPr>
            <p:spPr>
              <a:xfrm>
                <a:off x="1133094" y="1099626"/>
                <a:ext cx="167640" cy="167640"/>
              </a:xfrm>
              <a:custGeom>
                <a:avLst/>
                <a:gdLst/>
                <a:ahLst/>
                <a:cxnLst/>
                <a:rect l="l" t="t" r="r" b="b"/>
                <a:pathLst>
                  <a:path w="167640" h="167640">
                    <a:moveTo>
                      <a:pt x="167640" y="0"/>
                    </a:moveTo>
                    <a:lnTo>
                      <a:pt x="0" y="83820"/>
                    </a:lnTo>
                    <a:lnTo>
                      <a:pt x="167640" y="167640"/>
                    </a:lnTo>
                    <a:lnTo>
                      <a:pt x="167640" y="0"/>
                    </a:lnTo>
                    <a:close/>
                  </a:path>
                </a:pathLst>
              </a:custGeom>
              <a:solidFill>
                <a:srgbClr val="919191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42" name="object 16">
              <a:extLst>
                <a:ext uri="{FF2B5EF4-FFF2-40B4-BE49-F238E27FC236}">
                  <a16:creationId xmlns:a16="http://schemas.microsoft.com/office/drawing/2014/main" id="{0224C423-950E-4615-9F8E-CC103E8BEEC7}"/>
                </a:ext>
              </a:extLst>
            </p:cNvPr>
            <p:cNvGrpSpPr/>
            <p:nvPr/>
          </p:nvGrpSpPr>
          <p:grpSpPr>
            <a:xfrm>
              <a:off x="2777298" y="1099626"/>
              <a:ext cx="3039745" cy="167640"/>
              <a:chOff x="2777298" y="1099626"/>
              <a:chExt cx="3039745" cy="167640"/>
            </a:xfrm>
          </p:grpSpPr>
          <p:sp>
            <p:nvSpPr>
              <p:cNvPr id="61" name="object 17">
                <a:extLst>
                  <a:ext uri="{FF2B5EF4-FFF2-40B4-BE49-F238E27FC236}">
                    <a16:creationId xmlns:a16="http://schemas.microsoft.com/office/drawing/2014/main" id="{0DAFCA25-26A8-41CB-BFFB-3523CAE076B0}"/>
                  </a:ext>
                </a:extLst>
              </p:cNvPr>
              <p:cNvSpPr/>
              <p:nvPr/>
            </p:nvSpPr>
            <p:spPr>
              <a:xfrm>
                <a:off x="2777298" y="1183446"/>
                <a:ext cx="316230" cy="0"/>
              </a:xfrm>
              <a:custGeom>
                <a:avLst/>
                <a:gdLst/>
                <a:ahLst/>
                <a:cxnLst/>
                <a:rect l="l" t="t" r="r" b="b"/>
                <a:pathLst>
                  <a:path w="316230">
                    <a:moveTo>
                      <a:pt x="0" y="0"/>
                    </a:moveTo>
                    <a:lnTo>
                      <a:pt x="315698" y="0"/>
                    </a:lnTo>
                  </a:path>
                </a:pathLst>
              </a:custGeom>
              <a:ln w="38100">
                <a:solidFill>
                  <a:srgbClr val="91919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2" name="object 18">
                <a:extLst>
                  <a:ext uri="{FF2B5EF4-FFF2-40B4-BE49-F238E27FC236}">
                    <a16:creationId xmlns:a16="http://schemas.microsoft.com/office/drawing/2014/main" id="{562569D6-8128-40A3-AC90-31D9A7DB25A2}"/>
                  </a:ext>
                </a:extLst>
              </p:cNvPr>
              <p:cNvSpPr/>
              <p:nvPr/>
            </p:nvSpPr>
            <p:spPr>
              <a:xfrm>
                <a:off x="3073947" y="1099626"/>
                <a:ext cx="167640" cy="167640"/>
              </a:xfrm>
              <a:custGeom>
                <a:avLst/>
                <a:gdLst/>
                <a:ahLst/>
                <a:cxnLst/>
                <a:rect l="l" t="t" r="r" b="b"/>
                <a:pathLst>
                  <a:path w="167639" h="167640">
                    <a:moveTo>
                      <a:pt x="0" y="0"/>
                    </a:moveTo>
                    <a:lnTo>
                      <a:pt x="0" y="167640"/>
                    </a:lnTo>
                    <a:lnTo>
                      <a:pt x="167639" y="8382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19191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3" name="object 19">
                <a:extLst>
                  <a:ext uri="{FF2B5EF4-FFF2-40B4-BE49-F238E27FC236}">
                    <a16:creationId xmlns:a16="http://schemas.microsoft.com/office/drawing/2014/main" id="{38B21427-D332-4792-B0DB-E8F5DA52B7E1}"/>
                  </a:ext>
                </a:extLst>
              </p:cNvPr>
              <p:cNvSpPr/>
              <p:nvPr/>
            </p:nvSpPr>
            <p:spPr>
              <a:xfrm>
                <a:off x="3290026" y="1183446"/>
                <a:ext cx="2526665" cy="0"/>
              </a:xfrm>
              <a:custGeom>
                <a:avLst/>
                <a:gdLst/>
                <a:ahLst/>
                <a:cxnLst/>
                <a:rect l="l" t="t" r="r" b="b"/>
                <a:pathLst>
                  <a:path w="2526665">
                    <a:moveTo>
                      <a:pt x="0" y="0"/>
                    </a:moveTo>
                    <a:lnTo>
                      <a:pt x="2526578" y="0"/>
                    </a:lnTo>
                  </a:path>
                </a:pathLst>
              </a:custGeom>
              <a:ln w="38100">
                <a:solidFill>
                  <a:srgbClr val="91919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4" name="object 20">
                <a:extLst>
                  <a:ext uri="{FF2B5EF4-FFF2-40B4-BE49-F238E27FC236}">
                    <a16:creationId xmlns:a16="http://schemas.microsoft.com/office/drawing/2014/main" id="{61F235B4-6402-4CA4-8ED9-468AF51D3372}"/>
                  </a:ext>
                </a:extLst>
              </p:cNvPr>
              <p:cNvSpPr/>
              <p:nvPr/>
            </p:nvSpPr>
            <p:spPr>
              <a:xfrm>
                <a:off x="3141436" y="1099626"/>
                <a:ext cx="167640" cy="167640"/>
              </a:xfrm>
              <a:custGeom>
                <a:avLst/>
                <a:gdLst/>
                <a:ahLst/>
                <a:cxnLst/>
                <a:rect l="l" t="t" r="r" b="b"/>
                <a:pathLst>
                  <a:path w="167639" h="167640">
                    <a:moveTo>
                      <a:pt x="167640" y="0"/>
                    </a:moveTo>
                    <a:lnTo>
                      <a:pt x="0" y="83820"/>
                    </a:lnTo>
                    <a:lnTo>
                      <a:pt x="167640" y="167640"/>
                    </a:lnTo>
                    <a:lnTo>
                      <a:pt x="167640" y="0"/>
                    </a:lnTo>
                    <a:close/>
                  </a:path>
                </a:pathLst>
              </a:custGeom>
              <a:solidFill>
                <a:srgbClr val="919191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43" name="object 21">
              <a:extLst>
                <a:ext uri="{FF2B5EF4-FFF2-40B4-BE49-F238E27FC236}">
                  <a16:creationId xmlns:a16="http://schemas.microsoft.com/office/drawing/2014/main" id="{D4260C79-4B06-4C21-9CAC-4F27E6BB532F}"/>
                </a:ext>
              </a:extLst>
            </p:cNvPr>
            <p:cNvGrpSpPr/>
            <p:nvPr/>
          </p:nvGrpSpPr>
          <p:grpSpPr>
            <a:xfrm>
              <a:off x="6496803" y="1099626"/>
              <a:ext cx="1885950" cy="167640"/>
              <a:chOff x="6496803" y="1099626"/>
              <a:chExt cx="1885950" cy="167640"/>
            </a:xfrm>
          </p:grpSpPr>
          <p:sp>
            <p:nvSpPr>
              <p:cNvPr id="57" name="object 22">
                <a:extLst>
                  <a:ext uri="{FF2B5EF4-FFF2-40B4-BE49-F238E27FC236}">
                    <a16:creationId xmlns:a16="http://schemas.microsoft.com/office/drawing/2014/main" id="{A36E2FDB-7604-4AB7-8F57-FDA2CFB86A60}"/>
                  </a:ext>
                </a:extLst>
              </p:cNvPr>
              <p:cNvSpPr/>
              <p:nvPr/>
            </p:nvSpPr>
            <p:spPr>
              <a:xfrm>
                <a:off x="6496803" y="1183446"/>
                <a:ext cx="945515" cy="0"/>
              </a:xfrm>
              <a:custGeom>
                <a:avLst/>
                <a:gdLst/>
                <a:ahLst/>
                <a:cxnLst/>
                <a:rect l="l" t="t" r="r" b="b"/>
                <a:pathLst>
                  <a:path w="945515">
                    <a:moveTo>
                      <a:pt x="0" y="0"/>
                    </a:moveTo>
                    <a:lnTo>
                      <a:pt x="945102" y="0"/>
                    </a:lnTo>
                  </a:path>
                </a:pathLst>
              </a:custGeom>
              <a:ln w="38100">
                <a:solidFill>
                  <a:srgbClr val="91919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8" name="object 23">
                <a:extLst>
                  <a:ext uri="{FF2B5EF4-FFF2-40B4-BE49-F238E27FC236}">
                    <a16:creationId xmlns:a16="http://schemas.microsoft.com/office/drawing/2014/main" id="{0380EB37-B6DD-45C9-AC04-88097A69BB8E}"/>
                  </a:ext>
                </a:extLst>
              </p:cNvPr>
              <p:cNvSpPr/>
              <p:nvPr/>
            </p:nvSpPr>
            <p:spPr>
              <a:xfrm>
                <a:off x="7422855" y="1099626"/>
                <a:ext cx="167640" cy="167640"/>
              </a:xfrm>
              <a:custGeom>
                <a:avLst/>
                <a:gdLst/>
                <a:ahLst/>
                <a:cxnLst/>
                <a:rect l="l" t="t" r="r" b="b"/>
                <a:pathLst>
                  <a:path w="167640" h="167640">
                    <a:moveTo>
                      <a:pt x="0" y="0"/>
                    </a:moveTo>
                    <a:lnTo>
                      <a:pt x="0" y="167640"/>
                    </a:lnTo>
                    <a:lnTo>
                      <a:pt x="167639" y="8382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19191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9" name="object 24">
                <a:extLst>
                  <a:ext uri="{FF2B5EF4-FFF2-40B4-BE49-F238E27FC236}">
                    <a16:creationId xmlns:a16="http://schemas.microsoft.com/office/drawing/2014/main" id="{C89BB008-74C8-4B2D-B7EA-FEF1B29735E5}"/>
                  </a:ext>
                </a:extLst>
              </p:cNvPr>
              <p:cNvSpPr/>
              <p:nvPr/>
            </p:nvSpPr>
            <p:spPr>
              <a:xfrm>
                <a:off x="7706906" y="1183446"/>
                <a:ext cx="67627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76275">
                    <a:moveTo>
                      <a:pt x="0" y="0"/>
                    </a:moveTo>
                    <a:lnTo>
                      <a:pt x="675739" y="0"/>
                    </a:lnTo>
                  </a:path>
                </a:pathLst>
              </a:custGeom>
              <a:ln w="38100">
                <a:solidFill>
                  <a:srgbClr val="91919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0" name="object 25">
                <a:extLst>
                  <a:ext uri="{FF2B5EF4-FFF2-40B4-BE49-F238E27FC236}">
                    <a16:creationId xmlns:a16="http://schemas.microsoft.com/office/drawing/2014/main" id="{1BC46879-B8D1-4DA4-AE10-2CBB34F4676E}"/>
                  </a:ext>
                </a:extLst>
              </p:cNvPr>
              <p:cNvSpPr/>
              <p:nvPr/>
            </p:nvSpPr>
            <p:spPr>
              <a:xfrm>
                <a:off x="7558316" y="1099626"/>
                <a:ext cx="167640" cy="167640"/>
              </a:xfrm>
              <a:custGeom>
                <a:avLst/>
                <a:gdLst/>
                <a:ahLst/>
                <a:cxnLst/>
                <a:rect l="l" t="t" r="r" b="b"/>
                <a:pathLst>
                  <a:path w="167640" h="167640">
                    <a:moveTo>
                      <a:pt x="167639" y="0"/>
                    </a:moveTo>
                    <a:lnTo>
                      <a:pt x="0" y="83820"/>
                    </a:lnTo>
                    <a:lnTo>
                      <a:pt x="167639" y="167640"/>
                    </a:lnTo>
                    <a:lnTo>
                      <a:pt x="167639" y="0"/>
                    </a:lnTo>
                    <a:close/>
                  </a:path>
                </a:pathLst>
              </a:custGeom>
              <a:solidFill>
                <a:srgbClr val="919191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44" name="object 30">
              <a:extLst>
                <a:ext uri="{FF2B5EF4-FFF2-40B4-BE49-F238E27FC236}">
                  <a16:creationId xmlns:a16="http://schemas.microsoft.com/office/drawing/2014/main" id="{1E494234-53A0-4D0A-8EBA-92EC70FF1C65}"/>
                </a:ext>
              </a:extLst>
            </p:cNvPr>
            <p:cNvGrpSpPr/>
            <p:nvPr/>
          </p:nvGrpSpPr>
          <p:grpSpPr>
            <a:xfrm>
              <a:off x="9062844" y="1099626"/>
              <a:ext cx="1096152" cy="167640"/>
              <a:chOff x="9062844" y="1099626"/>
              <a:chExt cx="1536700" cy="167640"/>
            </a:xfrm>
          </p:grpSpPr>
          <p:sp>
            <p:nvSpPr>
              <p:cNvPr id="53" name="object 31">
                <a:extLst>
                  <a:ext uri="{FF2B5EF4-FFF2-40B4-BE49-F238E27FC236}">
                    <a16:creationId xmlns:a16="http://schemas.microsoft.com/office/drawing/2014/main" id="{ED89CFC9-E0C5-4D5A-A960-2C5334212F43}"/>
                  </a:ext>
                </a:extLst>
              </p:cNvPr>
              <p:cNvSpPr/>
              <p:nvPr/>
            </p:nvSpPr>
            <p:spPr>
              <a:xfrm>
                <a:off x="10019315" y="1183446"/>
                <a:ext cx="580390" cy="0"/>
              </a:xfrm>
              <a:custGeom>
                <a:avLst/>
                <a:gdLst/>
                <a:ahLst/>
                <a:cxnLst/>
                <a:rect l="l" t="t" r="r" b="b"/>
                <a:pathLst>
                  <a:path w="580390">
                    <a:moveTo>
                      <a:pt x="0" y="0"/>
                    </a:moveTo>
                    <a:lnTo>
                      <a:pt x="580030" y="0"/>
                    </a:lnTo>
                  </a:path>
                </a:pathLst>
              </a:custGeom>
              <a:ln w="38100">
                <a:solidFill>
                  <a:srgbClr val="91919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4" name="object 32">
                <a:extLst>
                  <a:ext uri="{FF2B5EF4-FFF2-40B4-BE49-F238E27FC236}">
                    <a16:creationId xmlns:a16="http://schemas.microsoft.com/office/drawing/2014/main" id="{E91545C8-2800-4126-9928-13719E52C928}"/>
                  </a:ext>
                </a:extLst>
              </p:cNvPr>
              <p:cNvSpPr/>
              <p:nvPr/>
            </p:nvSpPr>
            <p:spPr>
              <a:xfrm>
                <a:off x="9870725" y="1099626"/>
                <a:ext cx="167640" cy="167640"/>
              </a:xfrm>
              <a:custGeom>
                <a:avLst/>
                <a:gdLst/>
                <a:ahLst/>
                <a:cxnLst/>
                <a:rect l="l" t="t" r="r" b="b"/>
                <a:pathLst>
                  <a:path w="167640" h="167640">
                    <a:moveTo>
                      <a:pt x="167640" y="0"/>
                    </a:moveTo>
                    <a:lnTo>
                      <a:pt x="0" y="83820"/>
                    </a:lnTo>
                    <a:lnTo>
                      <a:pt x="167640" y="167640"/>
                    </a:lnTo>
                    <a:lnTo>
                      <a:pt x="167640" y="0"/>
                    </a:lnTo>
                    <a:close/>
                  </a:path>
                </a:pathLst>
              </a:custGeom>
              <a:solidFill>
                <a:srgbClr val="919191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5" name="object 33">
                <a:extLst>
                  <a:ext uri="{FF2B5EF4-FFF2-40B4-BE49-F238E27FC236}">
                    <a16:creationId xmlns:a16="http://schemas.microsoft.com/office/drawing/2014/main" id="{C41B358F-433D-457D-A8E2-9720B08FAAE1}"/>
                  </a:ext>
                </a:extLst>
              </p:cNvPr>
              <p:cNvSpPr/>
              <p:nvPr/>
            </p:nvSpPr>
            <p:spPr>
              <a:xfrm>
                <a:off x="9062844" y="1183446"/>
                <a:ext cx="67627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76275">
                    <a:moveTo>
                      <a:pt x="0" y="0"/>
                    </a:moveTo>
                    <a:lnTo>
                      <a:pt x="675737" y="0"/>
                    </a:lnTo>
                  </a:path>
                </a:pathLst>
              </a:custGeom>
              <a:ln w="38100">
                <a:solidFill>
                  <a:srgbClr val="91919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6" name="object 34">
                <a:extLst>
                  <a:ext uri="{FF2B5EF4-FFF2-40B4-BE49-F238E27FC236}">
                    <a16:creationId xmlns:a16="http://schemas.microsoft.com/office/drawing/2014/main" id="{1886C725-7698-403F-B308-1030F4F178D1}"/>
                  </a:ext>
                </a:extLst>
              </p:cNvPr>
              <p:cNvSpPr/>
              <p:nvPr/>
            </p:nvSpPr>
            <p:spPr>
              <a:xfrm>
                <a:off x="9719533" y="1099626"/>
                <a:ext cx="167640" cy="167640"/>
              </a:xfrm>
              <a:custGeom>
                <a:avLst/>
                <a:gdLst/>
                <a:ahLst/>
                <a:cxnLst/>
                <a:rect l="l" t="t" r="r" b="b"/>
                <a:pathLst>
                  <a:path w="167640" h="167640">
                    <a:moveTo>
                      <a:pt x="0" y="0"/>
                    </a:moveTo>
                    <a:lnTo>
                      <a:pt x="0" y="167640"/>
                    </a:lnTo>
                    <a:lnTo>
                      <a:pt x="167640" y="8382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19191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45" name="object 35">
              <a:extLst>
                <a:ext uri="{FF2B5EF4-FFF2-40B4-BE49-F238E27FC236}">
                  <a16:creationId xmlns:a16="http://schemas.microsoft.com/office/drawing/2014/main" id="{87753F8F-A2BC-4286-BBF4-9EFD6D9B4056}"/>
                </a:ext>
              </a:extLst>
            </p:cNvPr>
            <p:cNvGrpSpPr/>
            <p:nvPr/>
          </p:nvGrpSpPr>
          <p:grpSpPr>
            <a:xfrm>
              <a:off x="11375604" y="1099626"/>
              <a:ext cx="603885" cy="167640"/>
              <a:chOff x="11375604" y="1099626"/>
              <a:chExt cx="603885" cy="167640"/>
            </a:xfrm>
          </p:grpSpPr>
          <p:sp>
            <p:nvSpPr>
              <p:cNvPr id="51" name="object 36">
                <a:extLst>
                  <a:ext uri="{FF2B5EF4-FFF2-40B4-BE49-F238E27FC236}">
                    <a16:creationId xmlns:a16="http://schemas.microsoft.com/office/drawing/2014/main" id="{92A36CF6-1B3B-481E-B860-41C76F9074CB}"/>
                  </a:ext>
                </a:extLst>
              </p:cNvPr>
              <p:cNvSpPr/>
              <p:nvPr/>
            </p:nvSpPr>
            <p:spPr>
              <a:xfrm>
                <a:off x="11375604" y="1183446"/>
                <a:ext cx="455295" cy="0"/>
              </a:xfrm>
              <a:custGeom>
                <a:avLst/>
                <a:gdLst/>
                <a:ahLst/>
                <a:cxnLst/>
                <a:rect l="l" t="t" r="r" b="b"/>
                <a:pathLst>
                  <a:path w="455295">
                    <a:moveTo>
                      <a:pt x="0" y="0"/>
                    </a:moveTo>
                    <a:lnTo>
                      <a:pt x="455023" y="0"/>
                    </a:lnTo>
                  </a:path>
                </a:pathLst>
              </a:custGeom>
              <a:ln w="38100">
                <a:solidFill>
                  <a:srgbClr val="91919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2" name="object 37">
                <a:extLst>
                  <a:ext uri="{FF2B5EF4-FFF2-40B4-BE49-F238E27FC236}">
                    <a16:creationId xmlns:a16="http://schemas.microsoft.com/office/drawing/2014/main" id="{E0C3CB11-D9D0-4067-825B-FE11C4A0B2FB}"/>
                  </a:ext>
                </a:extLst>
              </p:cNvPr>
              <p:cNvSpPr/>
              <p:nvPr/>
            </p:nvSpPr>
            <p:spPr>
              <a:xfrm>
                <a:off x="11811578" y="1099626"/>
                <a:ext cx="167640" cy="167640"/>
              </a:xfrm>
              <a:custGeom>
                <a:avLst/>
                <a:gdLst/>
                <a:ahLst/>
                <a:cxnLst/>
                <a:rect l="l" t="t" r="r" b="b"/>
                <a:pathLst>
                  <a:path w="167640" h="167640">
                    <a:moveTo>
                      <a:pt x="0" y="0"/>
                    </a:moveTo>
                    <a:lnTo>
                      <a:pt x="0" y="167640"/>
                    </a:lnTo>
                    <a:lnTo>
                      <a:pt x="167640" y="8382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19191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46" name="object 38">
              <a:extLst>
                <a:ext uri="{FF2B5EF4-FFF2-40B4-BE49-F238E27FC236}">
                  <a16:creationId xmlns:a16="http://schemas.microsoft.com/office/drawing/2014/main" id="{59638881-D025-4B3D-AECD-4B576D375A15}"/>
                </a:ext>
              </a:extLst>
            </p:cNvPr>
            <p:cNvSpPr txBox="1"/>
            <p:nvPr/>
          </p:nvSpPr>
          <p:spPr>
            <a:xfrm>
              <a:off x="2019300" y="977900"/>
              <a:ext cx="6998334" cy="39116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  <a:tabLst>
                  <a:tab pos="3910965" algn="l"/>
                  <a:tab pos="6476365" algn="l"/>
                </a:tabLst>
              </a:pPr>
              <a:r>
                <a:rPr sz="2400" dirty="0">
                  <a:latin typeface="Arial MT"/>
                  <a:cs typeface="Arial MT"/>
                </a:rPr>
                <a:t>28</a:t>
              </a:r>
              <a:r>
                <a:rPr sz="2400" spc="-30" dirty="0">
                  <a:latin typeface="Arial MT"/>
                  <a:cs typeface="Arial MT"/>
                </a:rPr>
                <a:t> </a:t>
              </a:r>
              <a:r>
                <a:rPr sz="2400" spc="-50" dirty="0">
                  <a:latin typeface="Arial MT"/>
                  <a:cs typeface="Arial MT"/>
                </a:rPr>
                <a:t>m</a:t>
              </a:r>
              <a:r>
                <a:rPr sz="2400" dirty="0">
                  <a:latin typeface="Arial MT"/>
                  <a:cs typeface="Arial MT"/>
                </a:rPr>
                <a:t>	2</a:t>
              </a:r>
              <a:r>
                <a:rPr sz="2400" spc="-15" dirty="0">
                  <a:latin typeface="Arial MT"/>
                  <a:cs typeface="Arial MT"/>
                </a:rPr>
                <a:t> </a:t>
              </a:r>
              <a:r>
                <a:rPr sz="2400" spc="-50" dirty="0">
                  <a:latin typeface="Arial MT"/>
                  <a:cs typeface="Arial MT"/>
                </a:rPr>
                <a:t>m</a:t>
              </a:r>
              <a:r>
                <a:rPr sz="2400" dirty="0">
                  <a:latin typeface="Arial MT"/>
                  <a:cs typeface="Arial MT"/>
                </a:rPr>
                <a:t>	1</a:t>
              </a:r>
              <a:r>
                <a:rPr sz="2400" spc="-15" dirty="0">
                  <a:latin typeface="Arial MT"/>
                  <a:cs typeface="Arial MT"/>
                </a:rPr>
                <a:t> </a:t>
              </a:r>
              <a:r>
                <a:rPr sz="2400" spc="-50" dirty="0">
                  <a:latin typeface="Arial MT"/>
                  <a:cs typeface="Arial MT"/>
                </a:rPr>
                <a:t>m</a:t>
              </a:r>
              <a:endParaRPr sz="2400">
                <a:latin typeface="Arial MT"/>
                <a:cs typeface="Arial MT"/>
              </a:endParaRPr>
            </a:p>
          </p:txBody>
        </p:sp>
        <p:sp>
          <p:nvSpPr>
            <p:cNvPr id="47" name="object 39">
              <a:extLst>
                <a:ext uri="{FF2B5EF4-FFF2-40B4-BE49-F238E27FC236}">
                  <a16:creationId xmlns:a16="http://schemas.microsoft.com/office/drawing/2014/main" id="{243487F8-4AE3-46CF-9337-39D44FB33C1A}"/>
                </a:ext>
              </a:extLst>
            </p:cNvPr>
            <p:cNvSpPr txBox="1"/>
            <p:nvPr/>
          </p:nvSpPr>
          <p:spPr>
            <a:xfrm>
              <a:off x="1633215" y="1017835"/>
              <a:ext cx="565150" cy="290830"/>
            </a:xfrm>
            <a:prstGeom prst="rect">
              <a:avLst/>
            </a:prstGeom>
          </p:spPr>
          <p:txBody>
            <a:bodyPr vert="vert270" wrap="square" lIns="0" tIns="0" rIns="0" bIns="0" rtlCol="0">
              <a:spAutoFit/>
            </a:bodyPr>
            <a:lstStyle/>
            <a:p>
              <a:pPr marL="12700">
                <a:lnSpc>
                  <a:spcPts val="4300"/>
                </a:lnSpc>
              </a:pPr>
              <a:r>
                <a:rPr sz="3800" spc="-50" dirty="0">
                  <a:latin typeface="Arial MT"/>
                  <a:cs typeface="Arial MT"/>
                </a:rPr>
                <a:t>≈</a:t>
              </a:r>
              <a:endParaRPr sz="3800">
                <a:latin typeface="Arial MT"/>
                <a:cs typeface="Arial MT"/>
              </a:endParaRPr>
            </a:p>
          </p:txBody>
        </p:sp>
        <p:sp>
          <p:nvSpPr>
            <p:cNvPr id="48" name="object 40">
              <a:extLst>
                <a:ext uri="{FF2B5EF4-FFF2-40B4-BE49-F238E27FC236}">
                  <a16:creationId xmlns:a16="http://schemas.microsoft.com/office/drawing/2014/main" id="{9D73EAEC-E012-4DF2-8670-91F34602301E}"/>
                </a:ext>
              </a:extLst>
            </p:cNvPr>
            <p:cNvSpPr txBox="1"/>
            <p:nvPr/>
          </p:nvSpPr>
          <p:spPr>
            <a:xfrm>
              <a:off x="10693400" y="952500"/>
              <a:ext cx="534035" cy="39116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2400" dirty="0">
                  <a:latin typeface="Arial MT"/>
                  <a:cs typeface="Arial MT"/>
                </a:rPr>
                <a:t>9</a:t>
              </a:r>
              <a:r>
                <a:rPr sz="2400" spc="-15" dirty="0">
                  <a:latin typeface="Arial MT"/>
                  <a:cs typeface="Arial MT"/>
                </a:rPr>
                <a:t> </a:t>
              </a:r>
              <a:r>
                <a:rPr sz="2400" spc="-50" dirty="0">
                  <a:latin typeface="Arial MT"/>
                  <a:cs typeface="Arial MT"/>
                </a:rPr>
                <a:t>m</a:t>
              </a:r>
              <a:endParaRPr sz="2400">
                <a:latin typeface="Arial MT"/>
                <a:cs typeface="Arial MT"/>
              </a:endParaRPr>
            </a:p>
          </p:txBody>
        </p:sp>
        <p:sp>
          <p:nvSpPr>
            <p:cNvPr id="49" name="object 41">
              <a:extLst>
                <a:ext uri="{FF2B5EF4-FFF2-40B4-BE49-F238E27FC236}">
                  <a16:creationId xmlns:a16="http://schemas.microsoft.com/office/drawing/2014/main" id="{BAC277CC-D1EA-4590-B403-B8AA17692CD0}"/>
                </a:ext>
              </a:extLst>
            </p:cNvPr>
            <p:cNvSpPr txBox="1"/>
            <p:nvPr/>
          </p:nvSpPr>
          <p:spPr>
            <a:xfrm>
              <a:off x="10307315" y="1005135"/>
              <a:ext cx="565150" cy="290830"/>
            </a:xfrm>
            <a:prstGeom prst="rect">
              <a:avLst/>
            </a:prstGeom>
          </p:spPr>
          <p:txBody>
            <a:bodyPr vert="vert270" wrap="square" lIns="0" tIns="0" rIns="0" bIns="0" rtlCol="0">
              <a:spAutoFit/>
            </a:bodyPr>
            <a:lstStyle/>
            <a:p>
              <a:pPr marL="12700">
                <a:lnSpc>
                  <a:spcPts val="4300"/>
                </a:lnSpc>
              </a:pPr>
              <a:r>
                <a:rPr sz="3800" spc="-50" dirty="0">
                  <a:latin typeface="Arial MT"/>
                  <a:cs typeface="Arial MT"/>
                </a:rPr>
                <a:t>≈</a:t>
              </a:r>
              <a:endParaRPr sz="3800">
                <a:latin typeface="Arial MT"/>
                <a:cs typeface="Arial MT"/>
              </a:endParaRPr>
            </a:p>
          </p:txBody>
        </p:sp>
        <p:pic>
          <p:nvPicPr>
            <p:cNvPr id="50" name="Picture 49">
              <a:extLst>
                <a:ext uri="{FF2B5EF4-FFF2-40B4-BE49-F238E27FC236}">
                  <a16:creationId xmlns:a16="http://schemas.microsoft.com/office/drawing/2014/main" id="{687C0F27-FBBF-493C-88C7-20D3DCA52E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54000" y="1387224"/>
              <a:ext cx="12374775" cy="1981405"/>
            </a:xfrm>
            <a:prstGeom prst="rect">
              <a:avLst/>
            </a:prstGeom>
          </p:spPr>
        </p:pic>
      </p:grpSp>
      <p:pic>
        <p:nvPicPr>
          <p:cNvPr id="67" name="Picture 66">
            <a:extLst>
              <a:ext uri="{FF2B5EF4-FFF2-40B4-BE49-F238E27FC236}">
                <a16:creationId xmlns:a16="http://schemas.microsoft.com/office/drawing/2014/main" id="{73766625-C26C-42C9-B281-3C955A3EE2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094" y="4127505"/>
            <a:ext cx="5526811" cy="476884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726754" y="0"/>
            <a:ext cx="5278045" cy="203200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08125">
              <a:lnSpc>
                <a:spcPct val="100000"/>
              </a:lnSpc>
              <a:spcBef>
                <a:spcPts val="100"/>
              </a:spcBef>
            </a:pPr>
            <a:r>
              <a:rPr dirty="0"/>
              <a:t>Collimated</a:t>
            </a:r>
            <a:r>
              <a:rPr spc="-100" dirty="0"/>
              <a:t> </a:t>
            </a:r>
            <a:r>
              <a:rPr dirty="0"/>
              <a:t>PGM,</a:t>
            </a:r>
            <a:r>
              <a:rPr spc="-95" dirty="0"/>
              <a:t> </a:t>
            </a:r>
            <a:r>
              <a:rPr dirty="0">
                <a:solidFill>
                  <a:srgbClr val="FF2600"/>
                </a:solidFill>
              </a:rPr>
              <a:t>vertical</a:t>
            </a:r>
            <a:r>
              <a:rPr spc="-95" dirty="0">
                <a:solidFill>
                  <a:srgbClr val="FF2600"/>
                </a:solidFill>
              </a:rPr>
              <a:t> </a:t>
            </a:r>
            <a:r>
              <a:rPr dirty="0">
                <a:solidFill>
                  <a:srgbClr val="FF2600"/>
                </a:solidFill>
              </a:rPr>
              <a:t>plane</a:t>
            </a:r>
            <a:r>
              <a:rPr dirty="0"/>
              <a:t>;</a:t>
            </a:r>
            <a:r>
              <a:rPr spc="-100" dirty="0"/>
              <a:t> </a:t>
            </a:r>
            <a:r>
              <a:rPr spc="-25" dirty="0"/>
              <a:t>c=2</a:t>
            </a:r>
          </a:p>
        </p:txBody>
      </p:sp>
      <p:sp>
        <p:nvSpPr>
          <p:cNvPr id="35" name="object 3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pc="-10" dirty="0"/>
              <a:t>Software</a:t>
            </a:r>
            <a:r>
              <a:rPr spc="-50" dirty="0"/>
              <a:t> </a:t>
            </a:r>
            <a:r>
              <a:rPr dirty="0"/>
              <a:t>for</a:t>
            </a:r>
            <a:r>
              <a:rPr spc="-45" dirty="0"/>
              <a:t> </a:t>
            </a:r>
            <a:r>
              <a:rPr dirty="0"/>
              <a:t>Optical</a:t>
            </a:r>
            <a:r>
              <a:rPr spc="-45" dirty="0"/>
              <a:t> </a:t>
            </a:r>
            <a:r>
              <a:rPr dirty="0"/>
              <a:t>Simulations,</a:t>
            </a:r>
            <a:r>
              <a:rPr spc="-45" dirty="0"/>
              <a:t> </a:t>
            </a:r>
            <a:r>
              <a:rPr spc="-20" dirty="0"/>
              <a:t>Trieste,</a:t>
            </a:r>
            <a:r>
              <a:rPr spc="-45" dirty="0"/>
              <a:t> </a:t>
            </a:r>
            <a:r>
              <a:rPr dirty="0"/>
              <a:t>October</a:t>
            </a:r>
            <a:r>
              <a:rPr spc="-45" dirty="0"/>
              <a:t> </a:t>
            </a:r>
            <a:r>
              <a:rPr dirty="0"/>
              <a:t>2016.</a:t>
            </a:r>
            <a:r>
              <a:rPr spc="-45" dirty="0"/>
              <a:t> </a:t>
            </a:r>
            <a:r>
              <a:rPr dirty="0"/>
              <a:t>Ruben</a:t>
            </a:r>
            <a:r>
              <a:rPr spc="-45" dirty="0"/>
              <a:t> </a:t>
            </a:r>
            <a:r>
              <a:rPr spc="-10" dirty="0"/>
              <a:t>Reininger</a:t>
            </a:r>
          </a:p>
        </p:txBody>
      </p:sp>
      <p:sp>
        <p:nvSpPr>
          <p:cNvPr id="36" name="object 3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25" dirty="0"/>
              <a:t>29</a:t>
            </a:fld>
            <a:endParaRPr spc="-25" dirty="0"/>
          </a:p>
        </p:txBody>
      </p:sp>
      <p:sp>
        <p:nvSpPr>
          <p:cNvPr id="37" name="object 37"/>
          <p:cNvSpPr txBox="1"/>
          <p:nvPr/>
        </p:nvSpPr>
        <p:spPr>
          <a:xfrm>
            <a:off x="1069339" y="9384967"/>
            <a:ext cx="72390" cy="211454"/>
          </a:xfrm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sz="1200" spc="-50" dirty="0">
                <a:solidFill>
                  <a:srgbClr val="275D90"/>
                </a:solidFill>
                <a:latin typeface="Calibri"/>
                <a:cs typeface="Calibri"/>
              </a:rPr>
              <a:t>-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2997200" y="3251200"/>
            <a:ext cx="741045" cy="746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ts val="2840"/>
              </a:lnSpc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88.5°</a:t>
            </a:r>
            <a:endParaRPr sz="2400">
              <a:latin typeface="Arial MT"/>
              <a:cs typeface="Arial MT"/>
            </a:endParaRPr>
          </a:p>
          <a:p>
            <a:pPr marL="4445" algn="ctr">
              <a:lnSpc>
                <a:spcPts val="2840"/>
              </a:lnSpc>
            </a:pPr>
            <a:r>
              <a:rPr sz="2400" spc="-25" dirty="0">
                <a:latin typeface="Arial MT"/>
                <a:cs typeface="Arial MT"/>
              </a:rPr>
              <a:t>up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4991100" y="3251200"/>
            <a:ext cx="754380" cy="746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40"/>
              </a:lnSpc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87.8°</a:t>
            </a:r>
            <a:endParaRPr sz="2400">
              <a:latin typeface="Arial MT"/>
              <a:cs typeface="Arial MT"/>
            </a:endParaRPr>
          </a:p>
          <a:p>
            <a:pPr marL="12700">
              <a:lnSpc>
                <a:spcPts val="2840"/>
              </a:lnSpc>
            </a:pPr>
            <a:r>
              <a:rPr sz="2400" spc="-20" dirty="0">
                <a:latin typeface="Arial MT"/>
                <a:cs typeface="Arial MT"/>
              </a:rPr>
              <a:t>down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6388100" y="3251200"/>
            <a:ext cx="2329180" cy="746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ts val="2840"/>
              </a:lnSpc>
              <a:spcBef>
                <a:spcPts val="100"/>
              </a:spcBef>
            </a:pPr>
            <a:r>
              <a:rPr sz="2400" i="1" dirty="0">
                <a:latin typeface="Arial"/>
                <a:cs typeface="Arial"/>
              </a:rPr>
              <a:t>α</a:t>
            </a:r>
            <a:r>
              <a:rPr sz="2400" dirty="0">
                <a:latin typeface="Arial MT"/>
                <a:cs typeface="Arial MT"/>
              </a:rPr>
              <a:t>=88.5°,</a:t>
            </a:r>
            <a:r>
              <a:rPr sz="2400" spc="-90" dirty="0">
                <a:latin typeface="Arial MT"/>
                <a:cs typeface="Arial MT"/>
              </a:rPr>
              <a:t> </a:t>
            </a:r>
            <a:r>
              <a:rPr sz="2400" i="1" spc="-10" dirty="0">
                <a:latin typeface="Arial"/>
                <a:cs typeface="Arial"/>
              </a:rPr>
              <a:t>β</a:t>
            </a:r>
            <a:r>
              <a:rPr sz="2400" spc="-10" dirty="0">
                <a:latin typeface="Arial MT"/>
                <a:cs typeface="Arial MT"/>
              </a:rPr>
              <a:t>=87.1°</a:t>
            </a:r>
            <a:endParaRPr sz="2400">
              <a:latin typeface="Arial MT"/>
              <a:cs typeface="Arial MT"/>
            </a:endParaRPr>
          </a:p>
          <a:p>
            <a:pPr marR="635" algn="ctr">
              <a:lnSpc>
                <a:spcPts val="2840"/>
              </a:lnSpc>
            </a:pPr>
            <a:r>
              <a:rPr sz="2400" spc="-25" dirty="0">
                <a:latin typeface="Arial MT"/>
                <a:cs typeface="Arial MT"/>
              </a:rPr>
              <a:t>up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9359900" y="3251200"/>
            <a:ext cx="754380" cy="746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400">
              <a:lnSpc>
                <a:spcPts val="2840"/>
              </a:lnSpc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88.5°</a:t>
            </a:r>
            <a:endParaRPr sz="2400">
              <a:latin typeface="Arial MT"/>
              <a:cs typeface="Arial MT"/>
            </a:endParaRPr>
          </a:p>
          <a:p>
            <a:pPr marL="12700">
              <a:lnSpc>
                <a:spcPts val="2840"/>
              </a:lnSpc>
            </a:pPr>
            <a:r>
              <a:rPr sz="2400" spc="-20" dirty="0">
                <a:latin typeface="Arial MT"/>
                <a:cs typeface="Arial MT"/>
              </a:rPr>
              <a:t>down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F42B1AD-A97D-4B69-BE3A-72F47C7E1E77}"/>
              </a:ext>
            </a:extLst>
          </p:cNvPr>
          <p:cNvSpPr/>
          <p:nvPr/>
        </p:nvSpPr>
        <p:spPr>
          <a:xfrm>
            <a:off x="26762" y="46041"/>
            <a:ext cx="472437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03_CollimatedPGM1000eVc2_Vertical.ows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5EE1E25F-4F48-4AF3-9DDF-C6D787BCB50A}"/>
              </a:ext>
            </a:extLst>
          </p:cNvPr>
          <p:cNvGrpSpPr/>
          <p:nvPr/>
        </p:nvGrpSpPr>
        <p:grpSpPr>
          <a:xfrm>
            <a:off x="254000" y="838200"/>
            <a:ext cx="12374775" cy="2416129"/>
            <a:chOff x="254000" y="952500"/>
            <a:chExt cx="12374775" cy="2416129"/>
          </a:xfrm>
        </p:grpSpPr>
        <p:grpSp>
          <p:nvGrpSpPr>
            <p:cNvPr id="41" name="object 13">
              <a:extLst>
                <a:ext uri="{FF2B5EF4-FFF2-40B4-BE49-F238E27FC236}">
                  <a16:creationId xmlns:a16="http://schemas.microsoft.com/office/drawing/2014/main" id="{86C8B863-C63A-4912-82A4-8FA491D96230}"/>
                </a:ext>
              </a:extLst>
            </p:cNvPr>
            <p:cNvGrpSpPr/>
            <p:nvPr/>
          </p:nvGrpSpPr>
          <p:grpSpPr>
            <a:xfrm>
              <a:off x="1133094" y="1099626"/>
              <a:ext cx="795020" cy="167640"/>
              <a:chOff x="1133094" y="1099626"/>
              <a:chExt cx="795020" cy="167640"/>
            </a:xfrm>
          </p:grpSpPr>
          <p:sp>
            <p:nvSpPr>
              <p:cNvPr id="65" name="object 14">
                <a:extLst>
                  <a:ext uri="{FF2B5EF4-FFF2-40B4-BE49-F238E27FC236}">
                    <a16:creationId xmlns:a16="http://schemas.microsoft.com/office/drawing/2014/main" id="{9020442C-9203-4E4A-903A-FD4C2523378B}"/>
                  </a:ext>
                </a:extLst>
              </p:cNvPr>
              <p:cNvSpPr/>
              <p:nvPr/>
            </p:nvSpPr>
            <p:spPr>
              <a:xfrm>
                <a:off x="1281684" y="1183446"/>
                <a:ext cx="64643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46430">
                    <a:moveTo>
                      <a:pt x="0" y="0"/>
                    </a:moveTo>
                    <a:lnTo>
                      <a:pt x="645899" y="0"/>
                    </a:lnTo>
                  </a:path>
                </a:pathLst>
              </a:custGeom>
              <a:ln w="38100">
                <a:solidFill>
                  <a:srgbClr val="91919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6" name="object 15">
                <a:extLst>
                  <a:ext uri="{FF2B5EF4-FFF2-40B4-BE49-F238E27FC236}">
                    <a16:creationId xmlns:a16="http://schemas.microsoft.com/office/drawing/2014/main" id="{34A50115-9489-472F-86C9-96D057AD087F}"/>
                  </a:ext>
                </a:extLst>
              </p:cNvPr>
              <p:cNvSpPr/>
              <p:nvPr/>
            </p:nvSpPr>
            <p:spPr>
              <a:xfrm>
                <a:off x="1133094" y="1099626"/>
                <a:ext cx="167640" cy="167640"/>
              </a:xfrm>
              <a:custGeom>
                <a:avLst/>
                <a:gdLst/>
                <a:ahLst/>
                <a:cxnLst/>
                <a:rect l="l" t="t" r="r" b="b"/>
                <a:pathLst>
                  <a:path w="167640" h="167640">
                    <a:moveTo>
                      <a:pt x="167640" y="0"/>
                    </a:moveTo>
                    <a:lnTo>
                      <a:pt x="0" y="83820"/>
                    </a:lnTo>
                    <a:lnTo>
                      <a:pt x="167640" y="167640"/>
                    </a:lnTo>
                    <a:lnTo>
                      <a:pt x="167640" y="0"/>
                    </a:lnTo>
                    <a:close/>
                  </a:path>
                </a:pathLst>
              </a:custGeom>
              <a:solidFill>
                <a:srgbClr val="919191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42" name="object 16">
              <a:extLst>
                <a:ext uri="{FF2B5EF4-FFF2-40B4-BE49-F238E27FC236}">
                  <a16:creationId xmlns:a16="http://schemas.microsoft.com/office/drawing/2014/main" id="{0224C423-950E-4615-9F8E-CC103E8BEEC7}"/>
                </a:ext>
              </a:extLst>
            </p:cNvPr>
            <p:cNvGrpSpPr/>
            <p:nvPr/>
          </p:nvGrpSpPr>
          <p:grpSpPr>
            <a:xfrm>
              <a:off x="2777298" y="1099626"/>
              <a:ext cx="3039745" cy="167640"/>
              <a:chOff x="2777298" y="1099626"/>
              <a:chExt cx="3039745" cy="167640"/>
            </a:xfrm>
          </p:grpSpPr>
          <p:sp>
            <p:nvSpPr>
              <p:cNvPr id="61" name="object 17">
                <a:extLst>
                  <a:ext uri="{FF2B5EF4-FFF2-40B4-BE49-F238E27FC236}">
                    <a16:creationId xmlns:a16="http://schemas.microsoft.com/office/drawing/2014/main" id="{0DAFCA25-26A8-41CB-BFFB-3523CAE076B0}"/>
                  </a:ext>
                </a:extLst>
              </p:cNvPr>
              <p:cNvSpPr/>
              <p:nvPr/>
            </p:nvSpPr>
            <p:spPr>
              <a:xfrm>
                <a:off x="2777298" y="1183446"/>
                <a:ext cx="316230" cy="0"/>
              </a:xfrm>
              <a:custGeom>
                <a:avLst/>
                <a:gdLst/>
                <a:ahLst/>
                <a:cxnLst/>
                <a:rect l="l" t="t" r="r" b="b"/>
                <a:pathLst>
                  <a:path w="316230">
                    <a:moveTo>
                      <a:pt x="0" y="0"/>
                    </a:moveTo>
                    <a:lnTo>
                      <a:pt x="315698" y="0"/>
                    </a:lnTo>
                  </a:path>
                </a:pathLst>
              </a:custGeom>
              <a:ln w="38100">
                <a:solidFill>
                  <a:srgbClr val="91919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2" name="object 18">
                <a:extLst>
                  <a:ext uri="{FF2B5EF4-FFF2-40B4-BE49-F238E27FC236}">
                    <a16:creationId xmlns:a16="http://schemas.microsoft.com/office/drawing/2014/main" id="{562569D6-8128-40A3-AC90-31D9A7DB25A2}"/>
                  </a:ext>
                </a:extLst>
              </p:cNvPr>
              <p:cNvSpPr/>
              <p:nvPr/>
            </p:nvSpPr>
            <p:spPr>
              <a:xfrm>
                <a:off x="3073947" y="1099626"/>
                <a:ext cx="167640" cy="167640"/>
              </a:xfrm>
              <a:custGeom>
                <a:avLst/>
                <a:gdLst/>
                <a:ahLst/>
                <a:cxnLst/>
                <a:rect l="l" t="t" r="r" b="b"/>
                <a:pathLst>
                  <a:path w="167639" h="167640">
                    <a:moveTo>
                      <a:pt x="0" y="0"/>
                    </a:moveTo>
                    <a:lnTo>
                      <a:pt x="0" y="167640"/>
                    </a:lnTo>
                    <a:lnTo>
                      <a:pt x="167639" y="8382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19191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3" name="object 19">
                <a:extLst>
                  <a:ext uri="{FF2B5EF4-FFF2-40B4-BE49-F238E27FC236}">
                    <a16:creationId xmlns:a16="http://schemas.microsoft.com/office/drawing/2014/main" id="{38B21427-D332-4792-B0DB-E8F5DA52B7E1}"/>
                  </a:ext>
                </a:extLst>
              </p:cNvPr>
              <p:cNvSpPr/>
              <p:nvPr/>
            </p:nvSpPr>
            <p:spPr>
              <a:xfrm>
                <a:off x="3290026" y="1183446"/>
                <a:ext cx="2526665" cy="0"/>
              </a:xfrm>
              <a:custGeom>
                <a:avLst/>
                <a:gdLst/>
                <a:ahLst/>
                <a:cxnLst/>
                <a:rect l="l" t="t" r="r" b="b"/>
                <a:pathLst>
                  <a:path w="2526665">
                    <a:moveTo>
                      <a:pt x="0" y="0"/>
                    </a:moveTo>
                    <a:lnTo>
                      <a:pt x="2526578" y="0"/>
                    </a:lnTo>
                  </a:path>
                </a:pathLst>
              </a:custGeom>
              <a:ln w="38100">
                <a:solidFill>
                  <a:srgbClr val="91919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4" name="object 20">
                <a:extLst>
                  <a:ext uri="{FF2B5EF4-FFF2-40B4-BE49-F238E27FC236}">
                    <a16:creationId xmlns:a16="http://schemas.microsoft.com/office/drawing/2014/main" id="{61F235B4-6402-4CA4-8ED9-468AF51D3372}"/>
                  </a:ext>
                </a:extLst>
              </p:cNvPr>
              <p:cNvSpPr/>
              <p:nvPr/>
            </p:nvSpPr>
            <p:spPr>
              <a:xfrm>
                <a:off x="3141436" y="1099626"/>
                <a:ext cx="167640" cy="167640"/>
              </a:xfrm>
              <a:custGeom>
                <a:avLst/>
                <a:gdLst/>
                <a:ahLst/>
                <a:cxnLst/>
                <a:rect l="l" t="t" r="r" b="b"/>
                <a:pathLst>
                  <a:path w="167639" h="167640">
                    <a:moveTo>
                      <a:pt x="167640" y="0"/>
                    </a:moveTo>
                    <a:lnTo>
                      <a:pt x="0" y="83820"/>
                    </a:lnTo>
                    <a:lnTo>
                      <a:pt x="167640" y="167640"/>
                    </a:lnTo>
                    <a:lnTo>
                      <a:pt x="167640" y="0"/>
                    </a:lnTo>
                    <a:close/>
                  </a:path>
                </a:pathLst>
              </a:custGeom>
              <a:solidFill>
                <a:srgbClr val="919191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43" name="object 21">
              <a:extLst>
                <a:ext uri="{FF2B5EF4-FFF2-40B4-BE49-F238E27FC236}">
                  <a16:creationId xmlns:a16="http://schemas.microsoft.com/office/drawing/2014/main" id="{D4260C79-4B06-4C21-9CAC-4F27E6BB532F}"/>
                </a:ext>
              </a:extLst>
            </p:cNvPr>
            <p:cNvGrpSpPr/>
            <p:nvPr/>
          </p:nvGrpSpPr>
          <p:grpSpPr>
            <a:xfrm>
              <a:off x="6496803" y="1099626"/>
              <a:ext cx="1885950" cy="167640"/>
              <a:chOff x="6496803" y="1099626"/>
              <a:chExt cx="1885950" cy="167640"/>
            </a:xfrm>
          </p:grpSpPr>
          <p:sp>
            <p:nvSpPr>
              <p:cNvPr id="57" name="object 22">
                <a:extLst>
                  <a:ext uri="{FF2B5EF4-FFF2-40B4-BE49-F238E27FC236}">
                    <a16:creationId xmlns:a16="http://schemas.microsoft.com/office/drawing/2014/main" id="{A36E2FDB-7604-4AB7-8F57-FDA2CFB86A60}"/>
                  </a:ext>
                </a:extLst>
              </p:cNvPr>
              <p:cNvSpPr/>
              <p:nvPr/>
            </p:nvSpPr>
            <p:spPr>
              <a:xfrm>
                <a:off x="6496803" y="1183446"/>
                <a:ext cx="945515" cy="0"/>
              </a:xfrm>
              <a:custGeom>
                <a:avLst/>
                <a:gdLst/>
                <a:ahLst/>
                <a:cxnLst/>
                <a:rect l="l" t="t" r="r" b="b"/>
                <a:pathLst>
                  <a:path w="945515">
                    <a:moveTo>
                      <a:pt x="0" y="0"/>
                    </a:moveTo>
                    <a:lnTo>
                      <a:pt x="945102" y="0"/>
                    </a:lnTo>
                  </a:path>
                </a:pathLst>
              </a:custGeom>
              <a:ln w="38100">
                <a:solidFill>
                  <a:srgbClr val="91919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8" name="object 23">
                <a:extLst>
                  <a:ext uri="{FF2B5EF4-FFF2-40B4-BE49-F238E27FC236}">
                    <a16:creationId xmlns:a16="http://schemas.microsoft.com/office/drawing/2014/main" id="{0380EB37-B6DD-45C9-AC04-88097A69BB8E}"/>
                  </a:ext>
                </a:extLst>
              </p:cNvPr>
              <p:cNvSpPr/>
              <p:nvPr/>
            </p:nvSpPr>
            <p:spPr>
              <a:xfrm>
                <a:off x="7422855" y="1099626"/>
                <a:ext cx="167640" cy="167640"/>
              </a:xfrm>
              <a:custGeom>
                <a:avLst/>
                <a:gdLst/>
                <a:ahLst/>
                <a:cxnLst/>
                <a:rect l="l" t="t" r="r" b="b"/>
                <a:pathLst>
                  <a:path w="167640" h="167640">
                    <a:moveTo>
                      <a:pt x="0" y="0"/>
                    </a:moveTo>
                    <a:lnTo>
                      <a:pt x="0" y="167640"/>
                    </a:lnTo>
                    <a:lnTo>
                      <a:pt x="167639" y="8382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19191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9" name="object 24">
                <a:extLst>
                  <a:ext uri="{FF2B5EF4-FFF2-40B4-BE49-F238E27FC236}">
                    <a16:creationId xmlns:a16="http://schemas.microsoft.com/office/drawing/2014/main" id="{C89BB008-74C8-4B2D-B7EA-FEF1B29735E5}"/>
                  </a:ext>
                </a:extLst>
              </p:cNvPr>
              <p:cNvSpPr/>
              <p:nvPr/>
            </p:nvSpPr>
            <p:spPr>
              <a:xfrm>
                <a:off x="7706906" y="1183446"/>
                <a:ext cx="67627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76275">
                    <a:moveTo>
                      <a:pt x="0" y="0"/>
                    </a:moveTo>
                    <a:lnTo>
                      <a:pt x="675739" y="0"/>
                    </a:lnTo>
                  </a:path>
                </a:pathLst>
              </a:custGeom>
              <a:ln w="38100">
                <a:solidFill>
                  <a:srgbClr val="91919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0" name="object 25">
                <a:extLst>
                  <a:ext uri="{FF2B5EF4-FFF2-40B4-BE49-F238E27FC236}">
                    <a16:creationId xmlns:a16="http://schemas.microsoft.com/office/drawing/2014/main" id="{1BC46879-B8D1-4DA4-AE10-2CBB34F4676E}"/>
                  </a:ext>
                </a:extLst>
              </p:cNvPr>
              <p:cNvSpPr/>
              <p:nvPr/>
            </p:nvSpPr>
            <p:spPr>
              <a:xfrm>
                <a:off x="7558316" y="1099626"/>
                <a:ext cx="167640" cy="167640"/>
              </a:xfrm>
              <a:custGeom>
                <a:avLst/>
                <a:gdLst/>
                <a:ahLst/>
                <a:cxnLst/>
                <a:rect l="l" t="t" r="r" b="b"/>
                <a:pathLst>
                  <a:path w="167640" h="167640">
                    <a:moveTo>
                      <a:pt x="167639" y="0"/>
                    </a:moveTo>
                    <a:lnTo>
                      <a:pt x="0" y="83820"/>
                    </a:lnTo>
                    <a:lnTo>
                      <a:pt x="167639" y="167640"/>
                    </a:lnTo>
                    <a:lnTo>
                      <a:pt x="167639" y="0"/>
                    </a:lnTo>
                    <a:close/>
                  </a:path>
                </a:pathLst>
              </a:custGeom>
              <a:solidFill>
                <a:srgbClr val="919191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44" name="object 30">
              <a:extLst>
                <a:ext uri="{FF2B5EF4-FFF2-40B4-BE49-F238E27FC236}">
                  <a16:creationId xmlns:a16="http://schemas.microsoft.com/office/drawing/2014/main" id="{1E494234-53A0-4D0A-8EBA-92EC70FF1C65}"/>
                </a:ext>
              </a:extLst>
            </p:cNvPr>
            <p:cNvGrpSpPr/>
            <p:nvPr/>
          </p:nvGrpSpPr>
          <p:grpSpPr>
            <a:xfrm>
              <a:off x="9062844" y="1099626"/>
              <a:ext cx="1096152" cy="167640"/>
              <a:chOff x="9062844" y="1099626"/>
              <a:chExt cx="1536700" cy="167640"/>
            </a:xfrm>
          </p:grpSpPr>
          <p:sp>
            <p:nvSpPr>
              <p:cNvPr id="53" name="object 31">
                <a:extLst>
                  <a:ext uri="{FF2B5EF4-FFF2-40B4-BE49-F238E27FC236}">
                    <a16:creationId xmlns:a16="http://schemas.microsoft.com/office/drawing/2014/main" id="{ED89CFC9-E0C5-4D5A-A960-2C5334212F43}"/>
                  </a:ext>
                </a:extLst>
              </p:cNvPr>
              <p:cNvSpPr/>
              <p:nvPr/>
            </p:nvSpPr>
            <p:spPr>
              <a:xfrm>
                <a:off x="10019315" y="1183446"/>
                <a:ext cx="580390" cy="0"/>
              </a:xfrm>
              <a:custGeom>
                <a:avLst/>
                <a:gdLst/>
                <a:ahLst/>
                <a:cxnLst/>
                <a:rect l="l" t="t" r="r" b="b"/>
                <a:pathLst>
                  <a:path w="580390">
                    <a:moveTo>
                      <a:pt x="0" y="0"/>
                    </a:moveTo>
                    <a:lnTo>
                      <a:pt x="580030" y="0"/>
                    </a:lnTo>
                  </a:path>
                </a:pathLst>
              </a:custGeom>
              <a:ln w="38100">
                <a:solidFill>
                  <a:srgbClr val="91919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4" name="object 32">
                <a:extLst>
                  <a:ext uri="{FF2B5EF4-FFF2-40B4-BE49-F238E27FC236}">
                    <a16:creationId xmlns:a16="http://schemas.microsoft.com/office/drawing/2014/main" id="{E91545C8-2800-4126-9928-13719E52C928}"/>
                  </a:ext>
                </a:extLst>
              </p:cNvPr>
              <p:cNvSpPr/>
              <p:nvPr/>
            </p:nvSpPr>
            <p:spPr>
              <a:xfrm>
                <a:off x="9870725" y="1099626"/>
                <a:ext cx="167640" cy="167640"/>
              </a:xfrm>
              <a:custGeom>
                <a:avLst/>
                <a:gdLst/>
                <a:ahLst/>
                <a:cxnLst/>
                <a:rect l="l" t="t" r="r" b="b"/>
                <a:pathLst>
                  <a:path w="167640" h="167640">
                    <a:moveTo>
                      <a:pt x="167640" y="0"/>
                    </a:moveTo>
                    <a:lnTo>
                      <a:pt x="0" y="83820"/>
                    </a:lnTo>
                    <a:lnTo>
                      <a:pt x="167640" y="167640"/>
                    </a:lnTo>
                    <a:lnTo>
                      <a:pt x="167640" y="0"/>
                    </a:lnTo>
                    <a:close/>
                  </a:path>
                </a:pathLst>
              </a:custGeom>
              <a:solidFill>
                <a:srgbClr val="919191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5" name="object 33">
                <a:extLst>
                  <a:ext uri="{FF2B5EF4-FFF2-40B4-BE49-F238E27FC236}">
                    <a16:creationId xmlns:a16="http://schemas.microsoft.com/office/drawing/2014/main" id="{C41B358F-433D-457D-A8E2-9720B08FAAE1}"/>
                  </a:ext>
                </a:extLst>
              </p:cNvPr>
              <p:cNvSpPr/>
              <p:nvPr/>
            </p:nvSpPr>
            <p:spPr>
              <a:xfrm>
                <a:off x="9062844" y="1183446"/>
                <a:ext cx="67627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76275">
                    <a:moveTo>
                      <a:pt x="0" y="0"/>
                    </a:moveTo>
                    <a:lnTo>
                      <a:pt x="675737" y="0"/>
                    </a:lnTo>
                  </a:path>
                </a:pathLst>
              </a:custGeom>
              <a:ln w="38100">
                <a:solidFill>
                  <a:srgbClr val="91919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6" name="object 34">
                <a:extLst>
                  <a:ext uri="{FF2B5EF4-FFF2-40B4-BE49-F238E27FC236}">
                    <a16:creationId xmlns:a16="http://schemas.microsoft.com/office/drawing/2014/main" id="{1886C725-7698-403F-B308-1030F4F178D1}"/>
                  </a:ext>
                </a:extLst>
              </p:cNvPr>
              <p:cNvSpPr/>
              <p:nvPr/>
            </p:nvSpPr>
            <p:spPr>
              <a:xfrm>
                <a:off x="9719533" y="1099626"/>
                <a:ext cx="167640" cy="167640"/>
              </a:xfrm>
              <a:custGeom>
                <a:avLst/>
                <a:gdLst/>
                <a:ahLst/>
                <a:cxnLst/>
                <a:rect l="l" t="t" r="r" b="b"/>
                <a:pathLst>
                  <a:path w="167640" h="167640">
                    <a:moveTo>
                      <a:pt x="0" y="0"/>
                    </a:moveTo>
                    <a:lnTo>
                      <a:pt x="0" y="167640"/>
                    </a:lnTo>
                    <a:lnTo>
                      <a:pt x="167640" y="8382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19191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45" name="object 35">
              <a:extLst>
                <a:ext uri="{FF2B5EF4-FFF2-40B4-BE49-F238E27FC236}">
                  <a16:creationId xmlns:a16="http://schemas.microsoft.com/office/drawing/2014/main" id="{87753F8F-A2BC-4286-BBF4-9EFD6D9B4056}"/>
                </a:ext>
              </a:extLst>
            </p:cNvPr>
            <p:cNvGrpSpPr/>
            <p:nvPr/>
          </p:nvGrpSpPr>
          <p:grpSpPr>
            <a:xfrm>
              <a:off x="11375604" y="1099626"/>
              <a:ext cx="603885" cy="167640"/>
              <a:chOff x="11375604" y="1099626"/>
              <a:chExt cx="603885" cy="167640"/>
            </a:xfrm>
          </p:grpSpPr>
          <p:sp>
            <p:nvSpPr>
              <p:cNvPr id="51" name="object 36">
                <a:extLst>
                  <a:ext uri="{FF2B5EF4-FFF2-40B4-BE49-F238E27FC236}">
                    <a16:creationId xmlns:a16="http://schemas.microsoft.com/office/drawing/2014/main" id="{92A36CF6-1B3B-481E-B860-41C76F9074CB}"/>
                  </a:ext>
                </a:extLst>
              </p:cNvPr>
              <p:cNvSpPr/>
              <p:nvPr/>
            </p:nvSpPr>
            <p:spPr>
              <a:xfrm>
                <a:off x="11375604" y="1183446"/>
                <a:ext cx="455295" cy="0"/>
              </a:xfrm>
              <a:custGeom>
                <a:avLst/>
                <a:gdLst/>
                <a:ahLst/>
                <a:cxnLst/>
                <a:rect l="l" t="t" r="r" b="b"/>
                <a:pathLst>
                  <a:path w="455295">
                    <a:moveTo>
                      <a:pt x="0" y="0"/>
                    </a:moveTo>
                    <a:lnTo>
                      <a:pt x="455023" y="0"/>
                    </a:lnTo>
                  </a:path>
                </a:pathLst>
              </a:custGeom>
              <a:ln w="38100">
                <a:solidFill>
                  <a:srgbClr val="91919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2" name="object 37">
                <a:extLst>
                  <a:ext uri="{FF2B5EF4-FFF2-40B4-BE49-F238E27FC236}">
                    <a16:creationId xmlns:a16="http://schemas.microsoft.com/office/drawing/2014/main" id="{E0C3CB11-D9D0-4067-825B-FE11C4A0B2FB}"/>
                  </a:ext>
                </a:extLst>
              </p:cNvPr>
              <p:cNvSpPr/>
              <p:nvPr/>
            </p:nvSpPr>
            <p:spPr>
              <a:xfrm>
                <a:off x="11811578" y="1099626"/>
                <a:ext cx="167640" cy="167640"/>
              </a:xfrm>
              <a:custGeom>
                <a:avLst/>
                <a:gdLst/>
                <a:ahLst/>
                <a:cxnLst/>
                <a:rect l="l" t="t" r="r" b="b"/>
                <a:pathLst>
                  <a:path w="167640" h="167640">
                    <a:moveTo>
                      <a:pt x="0" y="0"/>
                    </a:moveTo>
                    <a:lnTo>
                      <a:pt x="0" y="167640"/>
                    </a:lnTo>
                    <a:lnTo>
                      <a:pt x="167640" y="8382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19191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46" name="object 38">
              <a:extLst>
                <a:ext uri="{FF2B5EF4-FFF2-40B4-BE49-F238E27FC236}">
                  <a16:creationId xmlns:a16="http://schemas.microsoft.com/office/drawing/2014/main" id="{59638881-D025-4B3D-AECD-4B576D375A15}"/>
                </a:ext>
              </a:extLst>
            </p:cNvPr>
            <p:cNvSpPr txBox="1"/>
            <p:nvPr/>
          </p:nvSpPr>
          <p:spPr>
            <a:xfrm>
              <a:off x="2019300" y="977900"/>
              <a:ext cx="6998334" cy="39116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  <a:tabLst>
                  <a:tab pos="3910965" algn="l"/>
                  <a:tab pos="6476365" algn="l"/>
                </a:tabLst>
              </a:pPr>
              <a:r>
                <a:rPr sz="2400" dirty="0">
                  <a:latin typeface="Arial MT"/>
                  <a:cs typeface="Arial MT"/>
                </a:rPr>
                <a:t>28</a:t>
              </a:r>
              <a:r>
                <a:rPr sz="2400" spc="-30" dirty="0">
                  <a:latin typeface="Arial MT"/>
                  <a:cs typeface="Arial MT"/>
                </a:rPr>
                <a:t> </a:t>
              </a:r>
              <a:r>
                <a:rPr sz="2400" spc="-50" dirty="0">
                  <a:latin typeface="Arial MT"/>
                  <a:cs typeface="Arial MT"/>
                </a:rPr>
                <a:t>m</a:t>
              </a:r>
              <a:r>
                <a:rPr sz="2400" dirty="0">
                  <a:latin typeface="Arial MT"/>
                  <a:cs typeface="Arial MT"/>
                </a:rPr>
                <a:t>	2</a:t>
              </a:r>
              <a:r>
                <a:rPr sz="2400" spc="-15" dirty="0">
                  <a:latin typeface="Arial MT"/>
                  <a:cs typeface="Arial MT"/>
                </a:rPr>
                <a:t> </a:t>
              </a:r>
              <a:r>
                <a:rPr sz="2400" spc="-50" dirty="0">
                  <a:latin typeface="Arial MT"/>
                  <a:cs typeface="Arial MT"/>
                </a:rPr>
                <a:t>m</a:t>
              </a:r>
              <a:r>
                <a:rPr sz="2400" dirty="0">
                  <a:latin typeface="Arial MT"/>
                  <a:cs typeface="Arial MT"/>
                </a:rPr>
                <a:t>	1</a:t>
              </a:r>
              <a:r>
                <a:rPr sz="2400" spc="-15" dirty="0">
                  <a:latin typeface="Arial MT"/>
                  <a:cs typeface="Arial MT"/>
                </a:rPr>
                <a:t> </a:t>
              </a:r>
              <a:r>
                <a:rPr sz="2400" spc="-50" dirty="0">
                  <a:latin typeface="Arial MT"/>
                  <a:cs typeface="Arial MT"/>
                </a:rPr>
                <a:t>m</a:t>
              </a:r>
              <a:endParaRPr sz="2400">
                <a:latin typeface="Arial MT"/>
                <a:cs typeface="Arial MT"/>
              </a:endParaRPr>
            </a:p>
          </p:txBody>
        </p:sp>
        <p:sp>
          <p:nvSpPr>
            <p:cNvPr id="47" name="object 39">
              <a:extLst>
                <a:ext uri="{FF2B5EF4-FFF2-40B4-BE49-F238E27FC236}">
                  <a16:creationId xmlns:a16="http://schemas.microsoft.com/office/drawing/2014/main" id="{243487F8-4AE3-46CF-9337-39D44FB33C1A}"/>
                </a:ext>
              </a:extLst>
            </p:cNvPr>
            <p:cNvSpPr txBox="1"/>
            <p:nvPr/>
          </p:nvSpPr>
          <p:spPr>
            <a:xfrm>
              <a:off x="1633215" y="1017835"/>
              <a:ext cx="565150" cy="290830"/>
            </a:xfrm>
            <a:prstGeom prst="rect">
              <a:avLst/>
            </a:prstGeom>
          </p:spPr>
          <p:txBody>
            <a:bodyPr vert="vert270" wrap="square" lIns="0" tIns="0" rIns="0" bIns="0" rtlCol="0">
              <a:spAutoFit/>
            </a:bodyPr>
            <a:lstStyle/>
            <a:p>
              <a:pPr marL="12700">
                <a:lnSpc>
                  <a:spcPts val="4300"/>
                </a:lnSpc>
              </a:pPr>
              <a:r>
                <a:rPr sz="3800" spc="-50" dirty="0">
                  <a:latin typeface="Arial MT"/>
                  <a:cs typeface="Arial MT"/>
                </a:rPr>
                <a:t>≈</a:t>
              </a:r>
              <a:endParaRPr sz="3800">
                <a:latin typeface="Arial MT"/>
                <a:cs typeface="Arial MT"/>
              </a:endParaRPr>
            </a:p>
          </p:txBody>
        </p:sp>
        <p:sp>
          <p:nvSpPr>
            <p:cNvPr id="48" name="object 40">
              <a:extLst>
                <a:ext uri="{FF2B5EF4-FFF2-40B4-BE49-F238E27FC236}">
                  <a16:creationId xmlns:a16="http://schemas.microsoft.com/office/drawing/2014/main" id="{9D73EAEC-E012-4DF2-8670-91F34602301E}"/>
                </a:ext>
              </a:extLst>
            </p:cNvPr>
            <p:cNvSpPr txBox="1"/>
            <p:nvPr/>
          </p:nvSpPr>
          <p:spPr>
            <a:xfrm>
              <a:off x="10693400" y="952500"/>
              <a:ext cx="534035" cy="39116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2400" dirty="0">
                  <a:latin typeface="Arial MT"/>
                  <a:cs typeface="Arial MT"/>
                </a:rPr>
                <a:t>9</a:t>
              </a:r>
              <a:r>
                <a:rPr sz="2400" spc="-15" dirty="0">
                  <a:latin typeface="Arial MT"/>
                  <a:cs typeface="Arial MT"/>
                </a:rPr>
                <a:t> </a:t>
              </a:r>
              <a:r>
                <a:rPr sz="2400" spc="-50" dirty="0">
                  <a:latin typeface="Arial MT"/>
                  <a:cs typeface="Arial MT"/>
                </a:rPr>
                <a:t>m</a:t>
              </a:r>
              <a:endParaRPr sz="2400">
                <a:latin typeface="Arial MT"/>
                <a:cs typeface="Arial MT"/>
              </a:endParaRPr>
            </a:p>
          </p:txBody>
        </p:sp>
        <p:sp>
          <p:nvSpPr>
            <p:cNvPr id="49" name="object 41">
              <a:extLst>
                <a:ext uri="{FF2B5EF4-FFF2-40B4-BE49-F238E27FC236}">
                  <a16:creationId xmlns:a16="http://schemas.microsoft.com/office/drawing/2014/main" id="{BAC277CC-D1EA-4590-B403-B8AA17692CD0}"/>
                </a:ext>
              </a:extLst>
            </p:cNvPr>
            <p:cNvSpPr txBox="1"/>
            <p:nvPr/>
          </p:nvSpPr>
          <p:spPr>
            <a:xfrm>
              <a:off x="10307315" y="1005135"/>
              <a:ext cx="565150" cy="290830"/>
            </a:xfrm>
            <a:prstGeom prst="rect">
              <a:avLst/>
            </a:prstGeom>
          </p:spPr>
          <p:txBody>
            <a:bodyPr vert="vert270" wrap="square" lIns="0" tIns="0" rIns="0" bIns="0" rtlCol="0">
              <a:spAutoFit/>
            </a:bodyPr>
            <a:lstStyle/>
            <a:p>
              <a:pPr marL="12700">
                <a:lnSpc>
                  <a:spcPts val="4300"/>
                </a:lnSpc>
              </a:pPr>
              <a:r>
                <a:rPr sz="3800" spc="-50" dirty="0">
                  <a:latin typeface="Arial MT"/>
                  <a:cs typeface="Arial MT"/>
                </a:rPr>
                <a:t>≈</a:t>
              </a:r>
              <a:endParaRPr sz="3800">
                <a:latin typeface="Arial MT"/>
                <a:cs typeface="Arial MT"/>
              </a:endParaRPr>
            </a:p>
          </p:txBody>
        </p:sp>
        <p:pic>
          <p:nvPicPr>
            <p:cNvPr id="50" name="Picture 49">
              <a:extLst>
                <a:ext uri="{FF2B5EF4-FFF2-40B4-BE49-F238E27FC236}">
                  <a16:creationId xmlns:a16="http://schemas.microsoft.com/office/drawing/2014/main" id="{687C0F27-FBBF-493C-88C7-20D3DCA52E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54000" y="1387224"/>
              <a:ext cx="12374775" cy="1981405"/>
            </a:xfrm>
            <a:prstGeom prst="rect">
              <a:avLst/>
            </a:prstGeom>
          </p:spPr>
        </p:pic>
      </p:grpSp>
      <p:pic>
        <p:nvPicPr>
          <p:cNvPr id="67" name="Picture 66">
            <a:extLst>
              <a:ext uri="{FF2B5EF4-FFF2-40B4-BE49-F238E27FC236}">
                <a16:creationId xmlns:a16="http://schemas.microsoft.com/office/drawing/2014/main" id="{73766625-C26C-42C9-B281-3C955A3EE2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094" y="4127505"/>
            <a:ext cx="5526811" cy="4768848"/>
          </a:xfrm>
          <a:prstGeom prst="rect">
            <a:avLst/>
          </a:prstGeom>
        </p:spPr>
      </p:pic>
      <p:sp>
        <p:nvSpPr>
          <p:cNvPr id="68" name="object 34">
            <a:extLst>
              <a:ext uri="{FF2B5EF4-FFF2-40B4-BE49-F238E27FC236}">
                <a16:creationId xmlns:a16="http://schemas.microsoft.com/office/drawing/2014/main" id="{737D048A-DDFF-4D8E-B7BD-E057212A5404}"/>
              </a:ext>
            </a:extLst>
          </p:cNvPr>
          <p:cNvSpPr txBox="1"/>
          <p:nvPr/>
        </p:nvSpPr>
        <p:spPr>
          <a:xfrm>
            <a:off x="10307315" y="8288654"/>
            <a:ext cx="1469462" cy="448945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25"/>
              </a:spcBef>
              <a:tabLst>
                <a:tab pos="2531110" algn="l"/>
                <a:tab pos="3862704" algn="l"/>
              </a:tabLst>
            </a:pPr>
            <a:r>
              <a:rPr sz="2750" dirty="0">
                <a:latin typeface="Cambria"/>
                <a:cs typeface="Cambria"/>
              </a:rPr>
              <a:t>5</a:t>
            </a:r>
            <a:r>
              <a:rPr sz="2750" i="1" dirty="0">
                <a:latin typeface="Cambria"/>
                <a:cs typeface="Cambria"/>
              </a:rPr>
              <a:t>.</a:t>
            </a:r>
            <a:r>
              <a:rPr sz="2750" dirty="0">
                <a:latin typeface="Cambria"/>
                <a:cs typeface="Cambria"/>
              </a:rPr>
              <a:t>8</a:t>
            </a:r>
            <a:r>
              <a:rPr sz="2750" spc="285" dirty="0">
                <a:latin typeface="Cambria"/>
                <a:cs typeface="Cambria"/>
              </a:rPr>
              <a:t> </a:t>
            </a:r>
            <a:r>
              <a:rPr sz="2750" i="1" spc="175" dirty="0">
                <a:latin typeface="Cambria"/>
                <a:cs typeface="Cambria"/>
              </a:rPr>
              <a:t>µm</a:t>
            </a:r>
            <a:endParaRPr sz="2750" dirty="0">
              <a:latin typeface="Cambria"/>
              <a:cs typeface="Cambria"/>
            </a:endParaRPr>
          </a:p>
        </p:txBody>
      </p:sp>
      <p:sp>
        <p:nvSpPr>
          <p:cNvPr id="69" name="object 35">
            <a:extLst>
              <a:ext uri="{FF2B5EF4-FFF2-40B4-BE49-F238E27FC236}">
                <a16:creationId xmlns:a16="http://schemas.microsoft.com/office/drawing/2014/main" id="{D228F0F1-92D5-4429-93A2-1A32B632231A}"/>
              </a:ext>
            </a:extLst>
          </p:cNvPr>
          <p:cNvSpPr txBox="1"/>
          <p:nvPr/>
        </p:nvSpPr>
        <p:spPr>
          <a:xfrm>
            <a:off x="8026400" y="7543800"/>
            <a:ext cx="8388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0" dirty="0">
                <a:solidFill>
                  <a:srgbClr val="FF2600"/>
                </a:solidFill>
                <a:latin typeface="Arial MT"/>
                <a:cs typeface="Arial MT"/>
              </a:rPr>
              <a:t>Coma</a:t>
            </a:r>
            <a:endParaRPr sz="2400">
              <a:latin typeface="Arial MT"/>
              <a:cs typeface="Arial MT"/>
            </a:endParaRPr>
          </a:p>
        </p:txBody>
      </p:sp>
      <p:grpSp>
        <p:nvGrpSpPr>
          <p:cNvPr id="70" name="object 36">
            <a:extLst>
              <a:ext uri="{FF2B5EF4-FFF2-40B4-BE49-F238E27FC236}">
                <a16:creationId xmlns:a16="http://schemas.microsoft.com/office/drawing/2014/main" id="{A72A0557-5C51-4571-B029-897F06842019}"/>
              </a:ext>
            </a:extLst>
          </p:cNvPr>
          <p:cNvGrpSpPr/>
          <p:nvPr/>
        </p:nvGrpSpPr>
        <p:grpSpPr>
          <a:xfrm>
            <a:off x="8575176" y="6730132"/>
            <a:ext cx="1698625" cy="878205"/>
            <a:chOff x="8575176" y="6730132"/>
            <a:chExt cx="1698625" cy="878205"/>
          </a:xfrm>
        </p:grpSpPr>
        <p:sp>
          <p:nvSpPr>
            <p:cNvPr id="71" name="object 37">
              <a:extLst>
                <a:ext uri="{FF2B5EF4-FFF2-40B4-BE49-F238E27FC236}">
                  <a16:creationId xmlns:a16="http://schemas.microsoft.com/office/drawing/2014/main" id="{64FA468C-D2E7-4699-8BD5-8F836D44A253}"/>
                </a:ext>
              </a:extLst>
            </p:cNvPr>
            <p:cNvSpPr/>
            <p:nvPr/>
          </p:nvSpPr>
          <p:spPr>
            <a:xfrm>
              <a:off x="8587876" y="6780004"/>
              <a:ext cx="1588770" cy="815340"/>
            </a:xfrm>
            <a:custGeom>
              <a:avLst/>
              <a:gdLst/>
              <a:ahLst/>
              <a:cxnLst/>
              <a:rect l="l" t="t" r="r" b="b"/>
              <a:pathLst>
                <a:path w="1588770" h="815340">
                  <a:moveTo>
                    <a:pt x="0" y="815114"/>
                  </a:moveTo>
                  <a:lnTo>
                    <a:pt x="1576896" y="5798"/>
                  </a:lnTo>
                  <a:lnTo>
                    <a:pt x="1588195" y="0"/>
                  </a:lnTo>
                </a:path>
              </a:pathLst>
            </a:custGeom>
            <a:ln w="25399">
              <a:solidFill>
                <a:srgbClr val="FF26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2" name="object 38">
              <a:extLst>
                <a:ext uri="{FF2B5EF4-FFF2-40B4-BE49-F238E27FC236}">
                  <a16:creationId xmlns:a16="http://schemas.microsoft.com/office/drawing/2014/main" id="{2F84FD00-F11A-477D-8F04-72ED21BD2FD7}"/>
                </a:ext>
              </a:extLst>
            </p:cNvPr>
            <p:cNvSpPr/>
            <p:nvPr/>
          </p:nvSpPr>
          <p:spPr>
            <a:xfrm>
              <a:off x="10136939" y="6730132"/>
              <a:ext cx="136525" cy="110489"/>
            </a:xfrm>
            <a:custGeom>
              <a:avLst/>
              <a:gdLst/>
              <a:ahLst/>
              <a:cxnLst/>
              <a:rect l="l" t="t" r="r" b="b"/>
              <a:pathLst>
                <a:path w="136525" h="110490">
                  <a:moveTo>
                    <a:pt x="136302" y="0"/>
                  </a:moveTo>
                  <a:lnTo>
                    <a:pt x="0" y="1436"/>
                  </a:lnTo>
                  <a:lnTo>
                    <a:pt x="55669" y="109904"/>
                  </a:lnTo>
                  <a:lnTo>
                    <a:pt x="136302" y="0"/>
                  </a:lnTo>
                  <a:close/>
                </a:path>
              </a:pathLst>
            </a:custGeom>
            <a:solidFill>
              <a:srgbClr val="FF2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73" name="object 39">
            <a:extLst>
              <a:ext uri="{FF2B5EF4-FFF2-40B4-BE49-F238E27FC236}">
                <a16:creationId xmlns:a16="http://schemas.microsoft.com/office/drawing/2014/main" id="{6C208CBA-2FC0-4E8A-9BA3-55BF1310C3A7}"/>
              </a:ext>
            </a:extLst>
          </p:cNvPr>
          <p:cNvGrpSpPr/>
          <p:nvPr/>
        </p:nvGrpSpPr>
        <p:grpSpPr>
          <a:xfrm>
            <a:off x="4874661" y="6582022"/>
            <a:ext cx="3608278" cy="1060932"/>
            <a:chOff x="4874661" y="6582022"/>
            <a:chExt cx="3608278" cy="1060932"/>
          </a:xfrm>
        </p:grpSpPr>
        <p:sp>
          <p:nvSpPr>
            <p:cNvPr id="74" name="object 40">
              <a:extLst>
                <a:ext uri="{FF2B5EF4-FFF2-40B4-BE49-F238E27FC236}">
                  <a16:creationId xmlns:a16="http://schemas.microsoft.com/office/drawing/2014/main" id="{735EA0BF-DB6D-440A-B103-C07B80F01B59}"/>
                </a:ext>
              </a:extLst>
            </p:cNvPr>
            <p:cNvSpPr/>
            <p:nvPr/>
          </p:nvSpPr>
          <p:spPr>
            <a:xfrm>
              <a:off x="4979644" y="6637114"/>
              <a:ext cx="3503295" cy="1005840"/>
            </a:xfrm>
            <a:custGeom>
              <a:avLst/>
              <a:gdLst/>
              <a:ahLst/>
              <a:cxnLst/>
              <a:rect l="l" t="t" r="r" b="b"/>
              <a:pathLst>
                <a:path w="3503295" h="1005840">
                  <a:moveTo>
                    <a:pt x="3502929" y="1005232"/>
                  </a:moveTo>
                  <a:lnTo>
                    <a:pt x="12207" y="3503"/>
                  </a:lnTo>
                  <a:lnTo>
                    <a:pt x="0" y="0"/>
                  </a:lnTo>
                </a:path>
              </a:pathLst>
            </a:custGeom>
            <a:ln w="25399">
              <a:solidFill>
                <a:srgbClr val="FF26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5" name="object 41">
              <a:extLst>
                <a:ext uri="{FF2B5EF4-FFF2-40B4-BE49-F238E27FC236}">
                  <a16:creationId xmlns:a16="http://schemas.microsoft.com/office/drawing/2014/main" id="{44139C33-B665-4540-9D5C-0E23FFB7432D}"/>
                </a:ext>
              </a:extLst>
            </p:cNvPr>
            <p:cNvSpPr/>
            <p:nvPr/>
          </p:nvSpPr>
          <p:spPr>
            <a:xfrm>
              <a:off x="4874661" y="6582022"/>
              <a:ext cx="134620" cy="117475"/>
            </a:xfrm>
            <a:custGeom>
              <a:avLst/>
              <a:gdLst/>
              <a:ahLst/>
              <a:cxnLst/>
              <a:rect l="l" t="t" r="r" b="b"/>
              <a:pathLst>
                <a:path w="134620" h="117475">
                  <a:moveTo>
                    <a:pt x="134005" y="0"/>
                  </a:moveTo>
                  <a:lnTo>
                    <a:pt x="0" y="24965"/>
                  </a:lnTo>
                  <a:lnTo>
                    <a:pt x="100375" y="117190"/>
                  </a:lnTo>
                  <a:lnTo>
                    <a:pt x="134005" y="0"/>
                  </a:lnTo>
                  <a:close/>
                </a:path>
              </a:pathLst>
            </a:custGeom>
            <a:solidFill>
              <a:srgbClr val="FF2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77" name="Picture 76">
            <a:extLst>
              <a:ext uri="{FF2B5EF4-FFF2-40B4-BE49-F238E27FC236}">
                <a16:creationId xmlns:a16="http://schemas.microsoft.com/office/drawing/2014/main" id="{06003619-5EF7-4E5E-A045-42B2220DE2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4749" y="7990116"/>
            <a:ext cx="3390217" cy="95921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DD41996-D1D3-46A9-8410-BBBD73378F5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52690" y="4999392"/>
            <a:ext cx="3787624" cy="1298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27115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728389C9-F6E6-4F69-9D4D-26432C6CB4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6097" y="901890"/>
            <a:ext cx="9987671" cy="3122946"/>
          </a:xfrm>
          <a:prstGeom prst="rect">
            <a:avLst/>
          </a:prstGeom>
        </p:spPr>
      </p:pic>
      <p:pic>
        <p:nvPicPr>
          <p:cNvPr id="2" name="object 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726754" y="0"/>
            <a:ext cx="5278045" cy="203200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08125">
              <a:lnSpc>
                <a:spcPct val="100000"/>
              </a:lnSpc>
              <a:spcBef>
                <a:spcPts val="100"/>
              </a:spcBef>
            </a:pPr>
            <a:r>
              <a:rPr dirty="0"/>
              <a:t>Collimated</a:t>
            </a:r>
            <a:r>
              <a:rPr spc="-100" dirty="0"/>
              <a:t> </a:t>
            </a:r>
            <a:r>
              <a:rPr dirty="0"/>
              <a:t>PGM,</a:t>
            </a:r>
            <a:r>
              <a:rPr spc="-95" dirty="0"/>
              <a:t> </a:t>
            </a:r>
            <a:r>
              <a:rPr dirty="0">
                <a:solidFill>
                  <a:srgbClr val="FF2600"/>
                </a:solidFill>
              </a:rPr>
              <a:t>vertical</a:t>
            </a:r>
            <a:r>
              <a:rPr spc="-95" dirty="0">
                <a:solidFill>
                  <a:srgbClr val="FF2600"/>
                </a:solidFill>
              </a:rPr>
              <a:t> </a:t>
            </a:r>
            <a:r>
              <a:rPr dirty="0">
                <a:solidFill>
                  <a:srgbClr val="FF2600"/>
                </a:solidFill>
              </a:rPr>
              <a:t>plane</a:t>
            </a:r>
            <a:r>
              <a:rPr dirty="0"/>
              <a:t>;</a:t>
            </a:r>
            <a:r>
              <a:rPr spc="-100" dirty="0"/>
              <a:t> </a:t>
            </a:r>
            <a:r>
              <a:rPr spc="-25" dirty="0"/>
              <a:t>c=2</a:t>
            </a:r>
          </a:p>
        </p:txBody>
      </p:sp>
      <p:sp>
        <p:nvSpPr>
          <p:cNvPr id="14" name="object 1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pc="-10" dirty="0"/>
              <a:t>Software</a:t>
            </a:r>
            <a:r>
              <a:rPr spc="-50" dirty="0"/>
              <a:t> </a:t>
            </a:r>
            <a:r>
              <a:rPr dirty="0"/>
              <a:t>for</a:t>
            </a:r>
            <a:r>
              <a:rPr spc="-45" dirty="0"/>
              <a:t> </a:t>
            </a:r>
            <a:r>
              <a:rPr dirty="0"/>
              <a:t>Optical</a:t>
            </a:r>
            <a:r>
              <a:rPr spc="-45" dirty="0"/>
              <a:t> </a:t>
            </a:r>
            <a:r>
              <a:rPr dirty="0"/>
              <a:t>Simulations,</a:t>
            </a:r>
            <a:r>
              <a:rPr spc="-45" dirty="0"/>
              <a:t> </a:t>
            </a:r>
            <a:r>
              <a:rPr spc="-20" dirty="0"/>
              <a:t>Trieste,</a:t>
            </a:r>
            <a:r>
              <a:rPr spc="-45" dirty="0"/>
              <a:t> </a:t>
            </a:r>
            <a:r>
              <a:rPr dirty="0"/>
              <a:t>October</a:t>
            </a:r>
            <a:r>
              <a:rPr spc="-45" dirty="0"/>
              <a:t> </a:t>
            </a:r>
            <a:r>
              <a:rPr dirty="0"/>
              <a:t>2016.</a:t>
            </a:r>
            <a:r>
              <a:rPr spc="-45" dirty="0"/>
              <a:t> </a:t>
            </a:r>
            <a:r>
              <a:rPr dirty="0"/>
              <a:t>Ruben</a:t>
            </a:r>
            <a:r>
              <a:rPr spc="-45" dirty="0"/>
              <a:t> </a:t>
            </a:r>
            <a:r>
              <a:rPr spc="-10" dirty="0"/>
              <a:t>Reininger</a:t>
            </a: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25" dirty="0"/>
              <a:t>30</a:t>
            </a:fld>
            <a:endParaRPr spc="-25" dirty="0"/>
          </a:p>
        </p:txBody>
      </p:sp>
      <p:sp>
        <p:nvSpPr>
          <p:cNvPr id="16" name="object 16"/>
          <p:cNvSpPr txBox="1"/>
          <p:nvPr/>
        </p:nvSpPr>
        <p:spPr>
          <a:xfrm>
            <a:off x="1069339" y="9384967"/>
            <a:ext cx="72390" cy="211454"/>
          </a:xfrm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sz="1200" spc="-50" dirty="0">
                <a:solidFill>
                  <a:srgbClr val="275D90"/>
                </a:solidFill>
                <a:latin typeface="Calibri"/>
                <a:cs typeface="Calibri"/>
              </a:rPr>
              <a:t>-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A13AC17-26C5-48CD-A617-482A8D2D5831}"/>
              </a:ext>
            </a:extLst>
          </p:cNvPr>
          <p:cNvSpPr/>
          <p:nvPr/>
        </p:nvSpPr>
        <p:spPr>
          <a:xfrm>
            <a:off x="26762" y="46041"/>
            <a:ext cx="472437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03_CollimatedPGM1000eVc2_Vertical.ows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22BC5D9-3890-4653-A940-DB2EBC0ACA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5067" y="4024836"/>
            <a:ext cx="4635501" cy="5161616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077B4ED-4022-494C-8F33-36EA456184DF}"/>
              </a:ext>
            </a:extLst>
          </p:cNvPr>
          <p:cNvCxnSpPr/>
          <p:nvPr/>
        </p:nvCxnSpPr>
        <p:spPr>
          <a:xfrm flipH="1" flipV="1">
            <a:off x="3987800" y="2463363"/>
            <a:ext cx="533400" cy="25658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181253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728389C9-F6E6-4F69-9D4D-26432C6CB4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6097" y="901890"/>
            <a:ext cx="9987671" cy="3122946"/>
          </a:xfrm>
          <a:prstGeom prst="rect">
            <a:avLst/>
          </a:prstGeom>
        </p:spPr>
      </p:pic>
      <p:pic>
        <p:nvPicPr>
          <p:cNvPr id="2" name="object 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726754" y="0"/>
            <a:ext cx="5278045" cy="203200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08125">
              <a:lnSpc>
                <a:spcPct val="100000"/>
              </a:lnSpc>
              <a:spcBef>
                <a:spcPts val="100"/>
              </a:spcBef>
            </a:pPr>
            <a:r>
              <a:rPr dirty="0"/>
              <a:t>Collimated</a:t>
            </a:r>
            <a:r>
              <a:rPr spc="-100" dirty="0"/>
              <a:t> </a:t>
            </a:r>
            <a:r>
              <a:rPr dirty="0"/>
              <a:t>PGM,</a:t>
            </a:r>
            <a:r>
              <a:rPr spc="-95" dirty="0"/>
              <a:t> </a:t>
            </a:r>
            <a:r>
              <a:rPr dirty="0">
                <a:solidFill>
                  <a:srgbClr val="FF2600"/>
                </a:solidFill>
              </a:rPr>
              <a:t>vertical</a:t>
            </a:r>
            <a:r>
              <a:rPr spc="-95" dirty="0">
                <a:solidFill>
                  <a:srgbClr val="FF2600"/>
                </a:solidFill>
              </a:rPr>
              <a:t> </a:t>
            </a:r>
            <a:r>
              <a:rPr dirty="0">
                <a:solidFill>
                  <a:srgbClr val="FF2600"/>
                </a:solidFill>
              </a:rPr>
              <a:t>plane</a:t>
            </a:r>
            <a:r>
              <a:rPr dirty="0"/>
              <a:t>;</a:t>
            </a:r>
            <a:r>
              <a:rPr spc="-100" dirty="0"/>
              <a:t> </a:t>
            </a:r>
            <a:r>
              <a:rPr spc="-25" dirty="0"/>
              <a:t>c=2</a:t>
            </a:r>
          </a:p>
        </p:txBody>
      </p:sp>
      <p:sp>
        <p:nvSpPr>
          <p:cNvPr id="14" name="object 1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pc="-10" dirty="0"/>
              <a:t>Software</a:t>
            </a:r>
            <a:r>
              <a:rPr spc="-50" dirty="0"/>
              <a:t> </a:t>
            </a:r>
            <a:r>
              <a:rPr dirty="0"/>
              <a:t>for</a:t>
            </a:r>
            <a:r>
              <a:rPr spc="-45" dirty="0"/>
              <a:t> </a:t>
            </a:r>
            <a:r>
              <a:rPr dirty="0"/>
              <a:t>Optical</a:t>
            </a:r>
            <a:r>
              <a:rPr spc="-45" dirty="0"/>
              <a:t> </a:t>
            </a:r>
            <a:r>
              <a:rPr dirty="0"/>
              <a:t>Simulations,</a:t>
            </a:r>
            <a:r>
              <a:rPr spc="-45" dirty="0"/>
              <a:t> </a:t>
            </a:r>
            <a:r>
              <a:rPr spc="-20" dirty="0"/>
              <a:t>Trieste,</a:t>
            </a:r>
            <a:r>
              <a:rPr spc="-45" dirty="0"/>
              <a:t> </a:t>
            </a:r>
            <a:r>
              <a:rPr dirty="0"/>
              <a:t>October</a:t>
            </a:r>
            <a:r>
              <a:rPr spc="-45" dirty="0"/>
              <a:t> </a:t>
            </a:r>
            <a:r>
              <a:rPr dirty="0"/>
              <a:t>2016.</a:t>
            </a:r>
            <a:r>
              <a:rPr spc="-45" dirty="0"/>
              <a:t> </a:t>
            </a:r>
            <a:r>
              <a:rPr dirty="0"/>
              <a:t>Ruben</a:t>
            </a:r>
            <a:r>
              <a:rPr spc="-45" dirty="0"/>
              <a:t> </a:t>
            </a:r>
            <a:r>
              <a:rPr spc="-10" dirty="0"/>
              <a:t>Reininger</a:t>
            </a: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25" dirty="0"/>
              <a:t>31</a:t>
            </a:fld>
            <a:endParaRPr spc="-25" dirty="0"/>
          </a:p>
        </p:txBody>
      </p:sp>
      <p:sp>
        <p:nvSpPr>
          <p:cNvPr id="16" name="object 16"/>
          <p:cNvSpPr txBox="1"/>
          <p:nvPr/>
        </p:nvSpPr>
        <p:spPr>
          <a:xfrm>
            <a:off x="1069339" y="9384967"/>
            <a:ext cx="72390" cy="211454"/>
          </a:xfrm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sz="1200" spc="-50" dirty="0">
                <a:solidFill>
                  <a:srgbClr val="275D90"/>
                </a:solidFill>
                <a:latin typeface="Calibri"/>
                <a:cs typeface="Calibri"/>
              </a:rPr>
              <a:t>-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A13AC17-26C5-48CD-A617-482A8D2D5831}"/>
              </a:ext>
            </a:extLst>
          </p:cNvPr>
          <p:cNvSpPr/>
          <p:nvPr/>
        </p:nvSpPr>
        <p:spPr>
          <a:xfrm>
            <a:off x="26762" y="0"/>
            <a:ext cx="472437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03_CollimatedPGM1000eVc2_Vertical.ows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22BC5D9-3890-4653-A940-DB2EBC0ACA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5067" y="4024836"/>
            <a:ext cx="4635501" cy="5161616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077B4ED-4022-494C-8F33-36EA456184DF}"/>
              </a:ext>
            </a:extLst>
          </p:cNvPr>
          <p:cNvCxnSpPr/>
          <p:nvPr/>
        </p:nvCxnSpPr>
        <p:spPr>
          <a:xfrm flipH="1" flipV="1">
            <a:off x="3987800" y="2463363"/>
            <a:ext cx="533400" cy="25658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11742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728389C9-F6E6-4F69-9D4D-26432C6CB4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6097" y="901890"/>
            <a:ext cx="9987671" cy="3122946"/>
          </a:xfrm>
          <a:prstGeom prst="rect">
            <a:avLst/>
          </a:prstGeom>
        </p:spPr>
      </p:pic>
      <p:pic>
        <p:nvPicPr>
          <p:cNvPr id="2" name="object 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726754" y="0"/>
            <a:ext cx="5278045" cy="203200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08125">
              <a:lnSpc>
                <a:spcPct val="100000"/>
              </a:lnSpc>
              <a:spcBef>
                <a:spcPts val="100"/>
              </a:spcBef>
            </a:pPr>
            <a:r>
              <a:rPr dirty="0"/>
              <a:t>Collimated</a:t>
            </a:r>
            <a:r>
              <a:rPr spc="-100" dirty="0"/>
              <a:t> </a:t>
            </a:r>
            <a:r>
              <a:rPr dirty="0"/>
              <a:t>PGM,</a:t>
            </a:r>
            <a:r>
              <a:rPr spc="-95" dirty="0"/>
              <a:t> </a:t>
            </a:r>
            <a:r>
              <a:rPr dirty="0">
                <a:solidFill>
                  <a:srgbClr val="FF2600"/>
                </a:solidFill>
              </a:rPr>
              <a:t>vertical</a:t>
            </a:r>
            <a:r>
              <a:rPr spc="-95" dirty="0">
                <a:solidFill>
                  <a:srgbClr val="FF2600"/>
                </a:solidFill>
              </a:rPr>
              <a:t> </a:t>
            </a:r>
            <a:r>
              <a:rPr dirty="0">
                <a:solidFill>
                  <a:srgbClr val="FF2600"/>
                </a:solidFill>
              </a:rPr>
              <a:t>plane</a:t>
            </a:r>
            <a:r>
              <a:rPr dirty="0"/>
              <a:t>;</a:t>
            </a:r>
            <a:r>
              <a:rPr spc="-100" dirty="0"/>
              <a:t> </a:t>
            </a:r>
            <a:r>
              <a:rPr spc="-25" dirty="0"/>
              <a:t>c=2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11214100" y="6692900"/>
            <a:ext cx="1550035" cy="2169160"/>
          </a:xfrm>
          <a:prstGeom prst="rect">
            <a:avLst/>
          </a:prstGeom>
        </p:spPr>
        <p:txBody>
          <a:bodyPr vert="horz" wrap="square" lIns="0" tIns="33019" rIns="0" bIns="0" rtlCol="0">
            <a:spAutoFit/>
          </a:bodyPr>
          <a:lstStyle/>
          <a:p>
            <a:pPr marL="12700" marR="280670">
              <a:lnSpc>
                <a:spcPts val="2800"/>
              </a:lnSpc>
              <a:spcBef>
                <a:spcPts val="259"/>
              </a:spcBef>
            </a:pPr>
            <a:r>
              <a:rPr sz="2400" dirty="0">
                <a:latin typeface="Arial MT"/>
                <a:cs typeface="Arial MT"/>
              </a:rPr>
              <a:t>With</a:t>
            </a:r>
            <a:r>
              <a:rPr sz="2400" spc="-30" dirty="0">
                <a:latin typeface="Arial MT"/>
                <a:cs typeface="Arial MT"/>
              </a:rPr>
              <a:t> </a:t>
            </a:r>
            <a:r>
              <a:rPr sz="2400" spc="-25" dirty="0">
                <a:latin typeface="Arial MT"/>
                <a:cs typeface="Arial MT"/>
              </a:rPr>
              <a:t>SE </a:t>
            </a:r>
            <a:r>
              <a:rPr sz="2400" dirty="0">
                <a:latin typeface="Arial MT"/>
                <a:cs typeface="Arial MT"/>
              </a:rPr>
              <a:t>on</a:t>
            </a:r>
            <a:r>
              <a:rPr sz="2400" spc="-75" dirty="0">
                <a:latin typeface="Arial MT"/>
                <a:cs typeface="Arial MT"/>
              </a:rPr>
              <a:t> </a:t>
            </a:r>
            <a:r>
              <a:rPr sz="2400" spc="-55" dirty="0">
                <a:latin typeface="Arial MT"/>
                <a:cs typeface="Arial MT"/>
              </a:rPr>
              <a:t>Toroid</a:t>
            </a:r>
            <a:endParaRPr sz="2400">
              <a:latin typeface="Arial MT"/>
              <a:cs typeface="Arial MT"/>
            </a:endParaRPr>
          </a:p>
          <a:p>
            <a:pPr>
              <a:lnSpc>
                <a:spcPct val="100000"/>
              </a:lnSpc>
            </a:pPr>
            <a:endParaRPr sz="24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80"/>
              </a:spcBef>
            </a:pPr>
            <a:endParaRPr sz="2400">
              <a:latin typeface="Arial MT"/>
              <a:cs typeface="Arial MT"/>
            </a:endParaRPr>
          </a:p>
          <a:p>
            <a:pPr marL="12700" marR="5080">
              <a:lnSpc>
                <a:spcPts val="2800"/>
              </a:lnSpc>
            </a:pPr>
            <a:r>
              <a:rPr sz="2400" dirty="0">
                <a:latin typeface="Arial MT"/>
                <a:cs typeface="Arial MT"/>
              </a:rPr>
              <a:t>Without</a:t>
            </a:r>
            <a:r>
              <a:rPr sz="2400" spc="-65" dirty="0">
                <a:latin typeface="Arial MT"/>
                <a:cs typeface="Arial MT"/>
              </a:rPr>
              <a:t> </a:t>
            </a:r>
            <a:r>
              <a:rPr sz="2400" spc="-25" dirty="0">
                <a:latin typeface="Arial MT"/>
                <a:cs typeface="Arial MT"/>
              </a:rPr>
              <a:t>SE </a:t>
            </a:r>
            <a:r>
              <a:rPr sz="2400" dirty="0">
                <a:latin typeface="Arial MT"/>
                <a:cs typeface="Arial MT"/>
              </a:rPr>
              <a:t>on</a:t>
            </a:r>
            <a:r>
              <a:rPr sz="2400" spc="-75" dirty="0">
                <a:latin typeface="Arial MT"/>
                <a:cs typeface="Arial MT"/>
              </a:rPr>
              <a:t> </a:t>
            </a:r>
            <a:r>
              <a:rPr sz="2400" spc="-10" dirty="0">
                <a:latin typeface="Arial MT"/>
                <a:cs typeface="Arial MT"/>
              </a:rPr>
              <a:t>Toroid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4" name="object 1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pc="-10" dirty="0"/>
              <a:t>Software</a:t>
            </a:r>
            <a:r>
              <a:rPr spc="-50" dirty="0"/>
              <a:t> </a:t>
            </a:r>
            <a:r>
              <a:rPr dirty="0"/>
              <a:t>for</a:t>
            </a:r>
            <a:r>
              <a:rPr spc="-45" dirty="0"/>
              <a:t> </a:t>
            </a:r>
            <a:r>
              <a:rPr dirty="0"/>
              <a:t>Optical</a:t>
            </a:r>
            <a:r>
              <a:rPr spc="-45" dirty="0"/>
              <a:t> </a:t>
            </a:r>
            <a:r>
              <a:rPr dirty="0"/>
              <a:t>Simulations,</a:t>
            </a:r>
            <a:r>
              <a:rPr spc="-45" dirty="0"/>
              <a:t> </a:t>
            </a:r>
            <a:r>
              <a:rPr spc="-20" dirty="0"/>
              <a:t>Trieste,</a:t>
            </a:r>
            <a:r>
              <a:rPr spc="-45" dirty="0"/>
              <a:t> </a:t>
            </a:r>
            <a:r>
              <a:rPr dirty="0"/>
              <a:t>October</a:t>
            </a:r>
            <a:r>
              <a:rPr spc="-45" dirty="0"/>
              <a:t> </a:t>
            </a:r>
            <a:r>
              <a:rPr dirty="0"/>
              <a:t>2016.</a:t>
            </a:r>
            <a:r>
              <a:rPr spc="-45" dirty="0"/>
              <a:t> </a:t>
            </a:r>
            <a:r>
              <a:rPr dirty="0"/>
              <a:t>Ruben</a:t>
            </a:r>
            <a:r>
              <a:rPr spc="-45" dirty="0"/>
              <a:t> </a:t>
            </a:r>
            <a:r>
              <a:rPr spc="-10" dirty="0"/>
              <a:t>Reininger</a:t>
            </a:r>
          </a:p>
        </p:txBody>
      </p:sp>
      <p:sp>
        <p:nvSpPr>
          <p:cNvPr id="15" name="object 1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25" dirty="0"/>
              <a:t>32</a:t>
            </a:fld>
            <a:endParaRPr spc="-25" dirty="0"/>
          </a:p>
        </p:txBody>
      </p:sp>
      <p:sp>
        <p:nvSpPr>
          <p:cNvPr id="16" name="object 16"/>
          <p:cNvSpPr txBox="1"/>
          <p:nvPr/>
        </p:nvSpPr>
        <p:spPr>
          <a:xfrm>
            <a:off x="1069339" y="9384967"/>
            <a:ext cx="72390" cy="211454"/>
          </a:xfrm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sz="1200" spc="-50" dirty="0">
                <a:solidFill>
                  <a:srgbClr val="275D90"/>
                </a:solidFill>
                <a:latin typeface="Calibri"/>
                <a:cs typeface="Calibri"/>
              </a:rPr>
              <a:t>-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A13AC17-26C5-48CD-A617-482A8D2D5831}"/>
              </a:ext>
            </a:extLst>
          </p:cNvPr>
          <p:cNvSpPr/>
          <p:nvPr/>
        </p:nvSpPr>
        <p:spPr>
          <a:xfrm>
            <a:off x="26762" y="46041"/>
            <a:ext cx="472437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03_CollimatedPGM1000eVc2_Vertical.ows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22BC5D9-3890-4653-A940-DB2EBC0ACA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5067" y="4024836"/>
            <a:ext cx="4635501" cy="5161616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077B4ED-4022-494C-8F33-36EA456184DF}"/>
              </a:ext>
            </a:extLst>
          </p:cNvPr>
          <p:cNvCxnSpPr/>
          <p:nvPr/>
        </p:nvCxnSpPr>
        <p:spPr>
          <a:xfrm flipH="1" flipV="1">
            <a:off x="3987800" y="2463363"/>
            <a:ext cx="533400" cy="25658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Picture 22">
            <a:extLst>
              <a:ext uri="{FF2B5EF4-FFF2-40B4-BE49-F238E27FC236}">
                <a16:creationId xmlns:a16="http://schemas.microsoft.com/office/drawing/2014/main" id="{FFDDB0F4-05FD-47DD-A957-D3BE134B08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2902" y="2602153"/>
            <a:ext cx="4497755" cy="3903224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CFF4D52E-29E9-461A-A00F-D5188987CD6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81716" y="6631846"/>
            <a:ext cx="3662388" cy="109710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9ACFCC9-1D9A-4DF6-B7EB-AE1BB529C5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74459" y="7866304"/>
            <a:ext cx="3501583" cy="1200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74022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726754" y="0"/>
            <a:ext cx="5278045" cy="203200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38125">
              <a:lnSpc>
                <a:spcPct val="100000"/>
              </a:lnSpc>
              <a:spcBef>
                <a:spcPts val="100"/>
              </a:spcBef>
            </a:pPr>
            <a:r>
              <a:rPr dirty="0"/>
              <a:t>Follath</a:t>
            </a:r>
            <a:r>
              <a:rPr spc="-100" dirty="0"/>
              <a:t> </a:t>
            </a:r>
            <a:r>
              <a:rPr dirty="0"/>
              <a:t>Collimated</a:t>
            </a:r>
            <a:r>
              <a:rPr spc="-95" dirty="0"/>
              <a:t> </a:t>
            </a:r>
            <a:r>
              <a:rPr dirty="0"/>
              <a:t>PGM,</a:t>
            </a:r>
            <a:r>
              <a:rPr spc="-155" dirty="0"/>
              <a:t> </a:t>
            </a:r>
            <a:r>
              <a:rPr dirty="0">
                <a:solidFill>
                  <a:srgbClr val="FF2600"/>
                </a:solidFill>
              </a:rPr>
              <a:t>TM,</a:t>
            </a:r>
            <a:r>
              <a:rPr spc="-95" dirty="0">
                <a:solidFill>
                  <a:srgbClr val="FF2600"/>
                </a:solidFill>
              </a:rPr>
              <a:t> </a:t>
            </a:r>
            <a:r>
              <a:rPr dirty="0">
                <a:solidFill>
                  <a:srgbClr val="FF2600"/>
                </a:solidFill>
              </a:rPr>
              <a:t>CM:</a:t>
            </a:r>
            <a:r>
              <a:rPr spc="-95" dirty="0">
                <a:solidFill>
                  <a:srgbClr val="FF2600"/>
                </a:solidFill>
              </a:rPr>
              <a:t> </a:t>
            </a:r>
            <a:r>
              <a:rPr dirty="0">
                <a:solidFill>
                  <a:srgbClr val="FF2600"/>
                </a:solidFill>
              </a:rPr>
              <a:t>hor</a:t>
            </a:r>
            <a:r>
              <a:rPr spc="-95" dirty="0">
                <a:solidFill>
                  <a:srgbClr val="FF2600"/>
                </a:solidFill>
              </a:rPr>
              <a:t> </a:t>
            </a:r>
            <a:r>
              <a:rPr dirty="0">
                <a:solidFill>
                  <a:srgbClr val="FF2600"/>
                </a:solidFill>
              </a:rPr>
              <a:t>plane</a:t>
            </a:r>
            <a:r>
              <a:rPr dirty="0"/>
              <a:t>;</a:t>
            </a:r>
            <a:r>
              <a:rPr spc="-100" dirty="0"/>
              <a:t> </a:t>
            </a:r>
            <a:r>
              <a:rPr spc="-25" dirty="0"/>
              <a:t>c=2</a:t>
            </a:r>
          </a:p>
        </p:txBody>
      </p:sp>
      <p:sp>
        <p:nvSpPr>
          <p:cNvPr id="39" name="object 39"/>
          <p:cNvSpPr txBox="1"/>
          <p:nvPr/>
        </p:nvSpPr>
        <p:spPr>
          <a:xfrm>
            <a:off x="2938553" y="2870102"/>
            <a:ext cx="741045" cy="746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40"/>
              </a:lnSpc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88.5°</a:t>
            </a:r>
            <a:endParaRPr sz="2400">
              <a:latin typeface="Arial MT"/>
              <a:cs typeface="Arial MT"/>
            </a:endParaRPr>
          </a:p>
          <a:p>
            <a:pPr marL="177800">
              <a:lnSpc>
                <a:spcPts val="2840"/>
              </a:lnSpc>
            </a:pPr>
            <a:r>
              <a:rPr sz="2400" spc="-20" dirty="0">
                <a:latin typeface="Arial MT"/>
                <a:cs typeface="Arial MT"/>
              </a:rPr>
              <a:t>left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44" name="object 4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pc="-10" dirty="0"/>
              <a:t>Software</a:t>
            </a:r>
            <a:r>
              <a:rPr spc="-50" dirty="0"/>
              <a:t> </a:t>
            </a:r>
            <a:r>
              <a:rPr dirty="0"/>
              <a:t>for</a:t>
            </a:r>
            <a:r>
              <a:rPr spc="-45" dirty="0"/>
              <a:t> </a:t>
            </a:r>
            <a:r>
              <a:rPr dirty="0"/>
              <a:t>Optical</a:t>
            </a:r>
            <a:r>
              <a:rPr spc="-45" dirty="0"/>
              <a:t> </a:t>
            </a:r>
            <a:r>
              <a:rPr dirty="0"/>
              <a:t>Simulations,</a:t>
            </a:r>
            <a:r>
              <a:rPr spc="-45" dirty="0"/>
              <a:t> </a:t>
            </a:r>
            <a:r>
              <a:rPr spc="-20" dirty="0"/>
              <a:t>Trieste,</a:t>
            </a:r>
            <a:r>
              <a:rPr spc="-45" dirty="0"/>
              <a:t> </a:t>
            </a:r>
            <a:r>
              <a:rPr dirty="0"/>
              <a:t>October</a:t>
            </a:r>
            <a:r>
              <a:rPr spc="-45" dirty="0"/>
              <a:t> </a:t>
            </a:r>
            <a:r>
              <a:rPr dirty="0"/>
              <a:t>2016.</a:t>
            </a:r>
            <a:r>
              <a:rPr spc="-45" dirty="0"/>
              <a:t> </a:t>
            </a:r>
            <a:r>
              <a:rPr dirty="0"/>
              <a:t>Ruben</a:t>
            </a:r>
            <a:r>
              <a:rPr spc="-45" dirty="0"/>
              <a:t> </a:t>
            </a:r>
            <a:r>
              <a:rPr spc="-10" dirty="0"/>
              <a:t>Reininger</a:t>
            </a:r>
          </a:p>
        </p:txBody>
      </p:sp>
      <p:sp>
        <p:nvSpPr>
          <p:cNvPr id="45" name="object 4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25" dirty="0"/>
              <a:t>33</a:t>
            </a:fld>
            <a:endParaRPr spc="-25" dirty="0"/>
          </a:p>
        </p:txBody>
      </p:sp>
      <p:sp>
        <p:nvSpPr>
          <p:cNvPr id="46" name="object 46"/>
          <p:cNvSpPr txBox="1"/>
          <p:nvPr/>
        </p:nvSpPr>
        <p:spPr>
          <a:xfrm>
            <a:off x="1069339" y="9384967"/>
            <a:ext cx="72390" cy="211454"/>
          </a:xfrm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sz="1200" spc="-50" dirty="0">
                <a:solidFill>
                  <a:srgbClr val="275D90"/>
                </a:solidFill>
                <a:latin typeface="Calibri"/>
                <a:cs typeface="Calibri"/>
              </a:rPr>
              <a:t>-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40" name="object 40"/>
          <p:cNvSpPr txBox="1"/>
          <p:nvPr/>
        </p:nvSpPr>
        <p:spPr>
          <a:xfrm>
            <a:off x="4932453" y="2870102"/>
            <a:ext cx="754380" cy="746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40"/>
              </a:lnSpc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87.8°</a:t>
            </a:r>
            <a:endParaRPr sz="2400">
              <a:latin typeface="Arial MT"/>
              <a:cs typeface="Arial MT"/>
            </a:endParaRPr>
          </a:p>
          <a:p>
            <a:pPr marL="12700">
              <a:lnSpc>
                <a:spcPts val="2840"/>
              </a:lnSpc>
            </a:pPr>
            <a:r>
              <a:rPr sz="2400" spc="-20" dirty="0">
                <a:latin typeface="Arial MT"/>
                <a:cs typeface="Arial MT"/>
              </a:rPr>
              <a:t>down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6329453" y="2870102"/>
            <a:ext cx="2329180" cy="746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ts val="2840"/>
              </a:lnSpc>
              <a:spcBef>
                <a:spcPts val="100"/>
              </a:spcBef>
            </a:pPr>
            <a:r>
              <a:rPr sz="2400" i="1" dirty="0">
                <a:latin typeface="Arial"/>
                <a:cs typeface="Arial"/>
              </a:rPr>
              <a:t>α</a:t>
            </a:r>
            <a:r>
              <a:rPr sz="2400" dirty="0">
                <a:latin typeface="Arial MT"/>
                <a:cs typeface="Arial MT"/>
              </a:rPr>
              <a:t>=88.5°,</a:t>
            </a:r>
            <a:r>
              <a:rPr sz="2400" spc="-90" dirty="0">
                <a:latin typeface="Arial MT"/>
                <a:cs typeface="Arial MT"/>
              </a:rPr>
              <a:t> </a:t>
            </a:r>
            <a:r>
              <a:rPr sz="2400" i="1" spc="-10" dirty="0">
                <a:latin typeface="Arial"/>
                <a:cs typeface="Arial"/>
              </a:rPr>
              <a:t>β</a:t>
            </a:r>
            <a:r>
              <a:rPr sz="2400" spc="-10" dirty="0">
                <a:latin typeface="Arial MT"/>
                <a:cs typeface="Arial MT"/>
              </a:rPr>
              <a:t>=87.1°</a:t>
            </a:r>
            <a:endParaRPr sz="2400">
              <a:latin typeface="Arial MT"/>
              <a:cs typeface="Arial MT"/>
            </a:endParaRPr>
          </a:p>
          <a:p>
            <a:pPr marR="635" algn="ctr">
              <a:lnSpc>
                <a:spcPts val="2840"/>
              </a:lnSpc>
            </a:pPr>
            <a:r>
              <a:rPr sz="2400" spc="-25" dirty="0">
                <a:latin typeface="Arial MT"/>
                <a:cs typeface="Arial MT"/>
              </a:rPr>
              <a:t>up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42" name="object 42"/>
          <p:cNvSpPr txBox="1"/>
          <p:nvPr/>
        </p:nvSpPr>
        <p:spPr>
          <a:xfrm>
            <a:off x="9313953" y="2870102"/>
            <a:ext cx="741045" cy="746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40"/>
              </a:lnSpc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88.5°</a:t>
            </a:r>
            <a:endParaRPr sz="2400">
              <a:latin typeface="Arial MT"/>
              <a:cs typeface="Arial MT"/>
            </a:endParaRPr>
          </a:p>
          <a:p>
            <a:pPr marL="165100">
              <a:lnSpc>
                <a:spcPts val="2840"/>
              </a:lnSpc>
            </a:pPr>
            <a:r>
              <a:rPr sz="2400" spc="-20" dirty="0">
                <a:latin typeface="Arial MT"/>
                <a:cs typeface="Arial MT"/>
              </a:rPr>
              <a:t>left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08E7F49-E9C0-405F-BA8A-DCE6A548217D}"/>
              </a:ext>
            </a:extLst>
          </p:cNvPr>
          <p:cNvSpPr/>
          <p:nvPr/>
        </p:nvSpPr>
        <p:spPr>
          <a:xfrm>
            <a:off x="0" y="-32460"/>
            <a:ext cx="38266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04_CollimatedPGM1000eVc2.ows</a:t>
            </a: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E8424FA0-340B-4B1F-B782-ECAEFE37FFA2}"/>
              </a:ext>
            </a:extLst>
          </p:cNvPr>
          <p:cNvGrpSpPr/>
          <p:nvPr/>
        </p:nvGrpSpPr>
        <p:grpSpPr>
          <a:xfrm>
            <a:off x="637785" y="952500"/>
            <a:ext cx="11732558" cy="1873925"/>
            <a:chOff x="637785" y="952500"/>
            <a:chExt cx="11732558" cy="1873925"/>
          </a:xfrm>
        </p:grpSpPr>
        <p:grpSp>
          <p:nvGrpSpPr>
            <p:cNvPr id="7" name="object 7"/>
            <p:cNvGrpSpPr/>
            <p:nvPr/>
          </p:nvGrpSpPr>
          <p:grpSpPr>
            <a:xfrm>
              <a:off x="1133094" y="1099626"/>
              <a:ext cx="795020" cy="167640"/>
              <a:chOff x="1133094" y="1099626"/>
              <a:chExt cx="795020" cy="167640"/>
            </a:xfrm>
          </p:grpSpPr>
          <p:sp>
            <p:nvSpPr>
              <p:cNvPr id="8" name="object 8"/>
              <p:cNvSpPr/>
              <p:nvPr/>
            </p:nvSpPr>
            <p:spPr>
              <a:xfrm>
                <a:off x="1281684" y="1183446"/>
                <a:ext cx="64643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46430">
                    <a:moveTo>
                      <a:pt x="0" y="0"/>
                    </a:moveTo>
                    <a:lnTo>
                      <a:pt x="645899" y="0"/>
                    </a:lnTo>
                  </a:path>
                </a:pathLst>
              </a:custGeom>
              <a:ln w="38100">
                <a:solidFill>
                  <a:srgbClr val="91919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" name="object 9"/>
              <p:cNvSpPr/>
              <p:nvPr/>
            </p:nvSpPr>
            <p:spPr>
              <a:xfrm>
                <a:off x="1133094" y="1099626"/>
                <a:ext cx="167640" cy="167640"/>
              </a:xfrm>
              <a:custGeom>
                <a:avLst/>
                <a:gdLst/>
                <a:ahLst/>
                <a:cxnLst/>
                <a:rect l="l" t="t" r="r" b="b"/>
                <a:pathLst>
                  <a:path w="167640" h="167640">
                    <a:moveTo>
                      <a:pt x="167640" y="0"/>
                    </a:moveTo>
                    <a:lnTo>
                      <a:pt x="0" y="83820"/>
                    </a:lnTo>
                    <a:lnTo>
                      <a:pt x="167640" y="167640"/>
                    </a:lnTo>
                    <a:lnTo>
                      <a:pt x="167640" y="0"/>
                    </a:lnTo>
                    <a:close/>
                  </a:path>
                </a:pathLst>
              </a:custGeom>
              <a:solidFill>
                <a:srgbClr val="919191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10" name="object 10"/>
            <p:cNvGrpSpPr/>
            <p:nvPr/>
          </p:nvGrpSpPr>
          <p:grpSpPr>
            <a:xfrm>
              <a:off x="2777298" y="1099626"/>
              <a:ext cx="3039745" cy="167640"/>
              <a:chOff x="2777298" y="1099626"/>
              <a:chExt cx="3039745" cy="167640"/>
            </a:xfrm>
          </p:grpSpPr>
          <p:sp>
            <p:nvSpPr>
              <p:cNvPr id="11" name="object 11"/>
              <p:cNvSpPr/>
              <p:nvPr/>
            </p:nvSpPr>
            <p:spPr>
              <a:xfrm>
                <a:off x="2777298" y="1183446"/>
                <a:ext cx="316230" cy="0"/>
              </a:xfrm>
              <a:custGeom>
                <a:avLst/>
                <a:gdLst/>
                <a:ahLst/>
                <a:cxnLst/>
                <a:rect l="l" t="t" r="r" b="b"/>
                <a:pathLst>
                  <a:path w="316230">
                    <a:moveTo>
                      <a:pt x="0" y="0"/>
                    </a:moveTo>
                    <a:lnTo>
                      <a:pt x="315698" y="0"/>
                    </a:lnTo>
                  </a:path>
                </a:pathLst>
              </a:custGeom>
              <a:ln w="38100">
                <a:solidFill>
                  <a:srgbClr val="91919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" name="object 12"/>
              <p:cNvSpPr/>
              <p:nvPr/>
            </p:nvSpPr>
            <p:spPr>
              <a:xfrm>
                <a:off x="3073947" y="1099626"/>
                <a:ext cx="167640" cy="167640"/>
              </a:xfrm>
              <a:custGeom>
                <a:avLst/>
                <a:gdLst/>
                <a:ahLst/>
                <a:cxnLst/>
                <a:rect l="l" t="t" r="r" b="b"/>
                <a:pathLst>
                  <a:path w="167639" h="167640">
                    <a:moveTo>
                      <a:pt x="0" y="0"/>
                    </a:moveTo>
                    <a:lnTo>
                      <a:pt x="0" y="167640"/>
                    </a:lnTo>
                    <a:lnTo>
                      <a:pt x="167639" y="8382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19191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3290026" y="1183446"/>
                <a:ext cx="2526665" cy="0"/>
              </a:xfrm>
              <a:custGeom>
                <a:avLst/>
                <a:gdLst/>
                <a:ahLst/>
                <a:cxnLst/>
                <a:rect l="l" t="t" r="r" b="b"/>
                <a:pathLst>
                  <a:path w="2526665">
                    <a:moveTo>
                      <a:pt x="0" y="0"/>
                    </a:moveTo>
                    <a:lnTo>
                      <a:pt x="2526578" y="0"/>
                    </a:lnTo>
                  </a:path>
                </a:pathLst>
              </a:custGeom>
              <a:ln w="38100">
                <a:solidFill>
                  <a:srgbClr val="91919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" name="object 14"/>
              <p:cNvSpPr/>
              <p:nvPr/>
            </p:nvSpPr>
            <p:spPr>
              <a:xfrm>
                <a:off x="3141436" y="1099626"/>
                <a:ext cx="167640" cy="167640"/>
              </a:xfrm>
              <a:custGeom>
                <a:avLst/>
                <a:gdLst/>
                <a:ahLst/>
                <a:cxnLst/>
                <a:rect l="l" t="t" r="r" b="b"/>
                <a:pathLst>
                  <a:path w="167639" h="167640">
                    <a:moveTo>
                      <a:pt x="167640" y="0"/>
                    </a:moveTo>
                    <a:lnTo>
                      <a:pt x="0" y="83820"/>
                    </a:lnTo>
                    <a:lnTo>
                      <a:pt x="167640" y="167640"/>
                    </a:lnTo>
                    <a:lnTo>
                      <a:pt x="167640" y="0"/>
                    </a:lnTo>
                    <a:close/>
                  </a:path>
                </a:pathLst>
              </a:custGeom>
              <a:solidFill>
                <a:srgbClr val="919191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15" name="object 15"/>
            <p:cNvGrpSpPr/>
            <p:nvPr/>
          </p:nvGrpSpPr>
          <p:grpSpPr>
            <a:xfrm>
              <a:off x="6496803" y="1099626"/>
              <a:ext cx="1885950" cy="167640"/>
              <a:chOff x="6496803" y="1099626"/>
              <a:chExt cx="1885950" cy="167640"/>
            </a:xfrm>
          </p:grpSpPr>
          <p:sp>
            <p:nvSpPr>
              <p:cNvPr id="16" name="object 16"/>
              <p:cNvSpPr/>
              <p:nvPr/>
            </p:nvSpPr>
            <p:spPr>
              <a:xfrm>
                <a:off x="6496803" y="1183446"/>
                <a:ext cx="945515" cy="0"/>
              </a:xfrm>
              <a:custGeom>
                <a:avLst/>
                <a:gdLst/>
                <a:ahLst/>
                <a:cxnLst/>
                <a:rect l="l" t="t" r="r" b="b"/>
                <a:pathLst>
                  <a:path w="945515">
                    <a:moveTo>
                      <a:pt x="0" y="0"/>
                    </a:moveTo>
                    <a:lnTo>
                      <a:pt x="945102" y="0"/>
                    </a:lnTo>
                  </a:path>
                </a:pathLst>
              </a:custGeom>
              <a:ln w="38100">
                <a:solidFill>
                  <a:srgbClr val="91919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" name="object 17"/>
              <p:cNvSpPr/>
              <p:nvPr/>
            </p:nvSpPr>
            <p:spPr>
              <a:xfrm>
                <a:off x="7422855" y="1099626"/>
                <a:ext cx="167640" cy="167640"/>
              </a:xfrm>
              <a:custGeom>
                <a:avLst/>
                <a:gdLst/>
                <a:ahLst/>
                <a:cxnLst/>
                <a:rect l="l" t="t" r="r" b="b"/>
                <a:pathLst>
                  <a:path w="167640" h="167640">
                    <a:moveTo>
                      <a:pt x="0" y="0"/>
                    </a:moveTo>
                    <a:lnTo>
                      <a:pt x="0" y="167640"/>
                    </a:lnTo>
                    <a:lnTo>
                      <a:pt x="167639" y="8382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19191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7706906" y="1183446"/>
                <a:ext cx="67627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76275">
                    <a:moveTo>
                      <a:pt x="0" y="0"/>
                    </a:moveTo>
                    <a:lnTo>
                      <a:pt x="675739" y="0"/>
                    </a:lnTo>
                  </a:path>
                </a:pathLst>
              </a:custGeom>
              <a:ln w="38100">
                <a:solidFill>
                  <a:srgbClr val="91919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" name="object 19"/>
              <p:cNvSpPr/>
              <p:nvPr/>
            </p:nvSpPr>
            <p:spPr>
              <a:xfrm>
                <a:off x="7558316" y="1099626"/>
                <a:ext cx="167640" cy="167640"/>
              </a:xfrm>
              <a:custGeom>
                <a:avLst/>
                <a:gdLst/>
                <a:ahLst/>
                <a:cxnLst/>
                <a:rect l="l" t="t" r="r" b="b"/>
                <a:pathLst>
                  <a:path w="167640" h="167640">
                    <a:moveTo>
                      <a:pt x="167639" y="0"/>
                    </a:moveTo>
                    <a:lnTo>
                      <a:pt x="0" y="83820"/>
                    </a:lnTo>
                    <a:lnTo>
                      <a:pt x="167639" y="167640"/>
                    </a:lnTo>
                    <a:lnTo>
                      <a:pt x="167639" y="0"/>
                    </a:lnTo>
                    <a:close/>
                  </a:path>
                </a:pathLst>
              </a:custGeom>
              <a:solidFill>
                <a:srgbClr val="919191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21" name="object 21"/>
            <p:cNvGrpSpPr/>
            <p:nvPr/>
          </p:nvGrpSpPr>
          <p:grpSpPr>
            <a:xfrm>
              <a:off x="9165680" y="1099625"/>
              <a:ext cx="943577" cy="164543"/>
              <a:chOff x="9062844" y="1099626"/>
              <a:chExt cx="1536700" cy="167640"/>
            </a:xfrm>
          </p:grpSpPr>
          <p:sp>
            <p:nvSpPr>
              <p:cNvPr id="22" name="object 22"/>
              <p:cNvSpPr/>
              <p:nvPr/>
            </p:nvSpPr>
            <p:spPr>
              <a:xfrm>
                <a:off x="10019315" y="1183446"/>
                <a:ext cx="580390" cy="0"/>
              </a:xfrm>
              <a:custGeom>
                <a:avLst/>
                <a:gdLst/>
                <a:ahLst/>
                <a:cxnLst/>
                <a:rect l="l" t="t" r="r" b="b"/>
                <a:pathLst>
                  <a:path w="580390">
                    <a:moveTo>
                      <a:pt x="0" y="0"/>
                    </a:moveTo>
                    <a:lnTo>
                      <a:pt x="580030" y="0"/>
                    </a:lnTo>
                  </a:path>
                </a:pathLst>
              </a:custGeom>
              <a:ln w="38100">
                <a:solidFill>
                  <a:srgbClr val="91919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" name="object 23"/>
              <p:cNvSpPr/>
              <p:nvPr/>
            </p:nvSpPr>
            <p:spPr>
              <a:xfrm>
                <a:off x="9870725" y="1099626"/>
                <a:ext cx="167640" cy="167640"/>
              </a:xfrm>
              <a:custGeom>
                <a:avLst/>
                <a:gdLst/>
                <a:ahLst/>
                <a:cxnLst/>
                <a:rect l="l" t="t" r="r" b="b"/>
                <a:pathLst>
                  <a:path w="167640" h="167640">
                    <a:moveTo>
                      <a:pt x="167640" y="0"/>
                    </a:moveTo>
                    <a:lnTo>
                      <a:pt x="0" y="83820"/>
                    </a:lnTo>
                    <a:lnTo>
                      <a:pt x="167640" y="167640"/>
                    </a:lnTo>
                    <a:lnTo>
                      <a:pt x="167640" y="0"/>
                    </a:lnTo>
                    <a:close/>
                  </a:path>
                </a:pathLst>
              </a:custGeom>
              <a:solidFill>
                <a:srgbClr val="919191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" name="object 24"/>
              <p:cNvSpPr/>
              <p:nvPr/>
            </p:nvSpPr>
            <p:spPr>
              <a:xfrm>
                <a:off x="9062844" y="1183446"/>
                <a:ext cx="67627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76275">
                    <a:moveTo>
                      <a:pt x="0" y="0"/>
                    </a:moveTo>
                    <a:lnTo>
                      <a:pt x="675737" y="0"/>
                    </a:lnTo>
                  </a:path>
                </a:pathLst>
              </a:custGeom>
              <a:ln w="38100">
                <a:solidFill>
                  <a:srgbClr val="91919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" name="object 25"/>
              <p:cNvSpPr/>
              <p:nvPr/>
            </p:nvSpPr>
            <p:spPr>
              <a:xfrm>
                <a:off x="9719533" y="1099626"/>
                <a:ext cx="167640" cy="167640"/>
              </a:xfrm>
              <a:custGeom>
                <a:avLst/>
                <a:gdLst/>
                <a:ahLst/>
                <a:cxnLst/>
                <a:rect l="l" t="t" r="r" b="b"/>
                <a:pathLst>
                  <a:path w="167640" h="167640">
                    <a:moveTo>
                      <a:pt x="0" y="0"/>
                    </a:moveTo>
                    <a:lnTo>
                      <a:pt x="0" y="167640"/>
                    </a:lnTo>
                    <a:lnTo>
                      <a:pt x="167640" y="8382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19191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26" name="object 26"/>
            <p:cNvGrpSpPr/>
            <p:nvPr/>
          </p:nvGrpSpPr>
          <p:grpSpPr>
            <a:xfrm>
              <a:off x="11375604" y="1099626"/>
              <a:ext cx="603885" cy="167640"/>
              <a:chOff x="11375604" y="1099626"/>
              <a:chExt cx="603885" cy="167640"/>
            </a:xfrm>
          </p:grpSpPr>
          <p:sp>
            <p:nvSpPr>
              <p:cNvPr id="27" name="object 27"/>
              <p:cNvSpPr/>
              <p:nvPr/>
            </p:nvSpPr>
            <p:spPr>
              <a:xfrm>
                <a:off x="11375604" y="1183446"/>
                <a:ext cx="455295" cy="0"/>
              </a:xfrm>
              <a:custGeom>
                <a:avLst/>
                <a:gdLst/>
                <a:ahLst/>
                <a:cxnLst/>
                <a:rect l="l" t="t" r="r" b="b"/>
                <a:pathLst>
                  <a:path w="455295">
                    <a:moveTo>
                      <a:pt x="0" y="0"/>
                    </a:moveTo>
                    <a:lnTo>
                      <a:pt x="455023" y="0"/>
                    </a:lnTo>
                  </a:path>
                </a:pathLst>
              </a:custGeom>
              <a:ln w="38100">
                <a:solidFill>
                  <a:srgbClr val="91919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" name="object 28"/>
              <p:cNvSpPr/>
              <p:nvPr/>
            </p:nvSpPr>
            <p:spPr>
              <a:xfrm>
                <a:off x="11811578" y="1099626"/>
                <a:ext cx="167640" cy="167640"/>
              </a:xfrm>
              <a:custGeom>
                <a:avLst/>
                <a:gdLst/>
                <a:ahLst/>
                <a:cxnLst/>
                <a:rect l="l" t="t" r="r" b="b"/>
                <a:pathLst>
                  <a:path w="167640" h="167640">
                    <a:moveTo>
                      <a:pt x="0" y="0"/>
                    </a:moveTo>
                    <a:lnTo>
                      <a:pt x="0" y="167640"/>
                    </a:lnTo>
                    <a:lnTo>
                      <a:pt x="167640" y="8382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19191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9" name="object 29"/>
            <p:cNvSpPr txBox="1"/>
            <p:nvPr/>
          </p:nvSpPr>
          <p:spPr>
            <a:xfrm>
              <a:off x="2019300" y="977900"/>
              <a:ext cx="7065242" cy="391156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  <a:tabLst>
                  <a:tab pos="3910965" algn="l"/>
                  <a:tab pos="6476365" algn="l"/>
                </a:tabLst>
              </a:pPr>
              <a:r>
                <a:rPr sz="2400" dirty="0">
                  <a:latin typeface="Arial MT"/>
                  <a:cs typeface="Arial MT"/>
                </a:rPr>
                <a:t>28</a:t>
              </a:r>
              <a:r>
                <a:rPr sz="2400" spc="-30" dirty="0">
                  <a:latin typeface="Arial MT"/>
                  <a:cs typeface="Arial MT"/>
                </a:rPr>
                <a:t> </a:t>
              </a:r>
              <a:r>
                <a:rPr sz="2400" spc="-50" dirty="0">
                  <a:latin typeface="Arial MT"/>
                  <a:cs typeface="Arial MT"/>
                </a:rPr>
                <a:t>m</a:t>
              </a:r>
              <a:r>
                <a:rPr sz="2400" dirty="0">
                  <a:latin typeface="Arial MT"/>
                  <a:cs typeface="Arial MT"/>
                </a:rPr>
                <a:t>	2</a:t>
              </a:r>
              <a:r>
                <a:rPr sz="2400" spc="-15" dirty="0">
                  <a:latin typeface="Arial MT"/>
                  <a:cs typeface="Arial MT"/>
                </a:rPr>
                <a:t> </a:t>
              </a:r>
              <a:r>
                <a:rPr sz="2400" spc="-50" dirty="0">
                  <a:latin typeface="Arial MT"/>
                  <a:cs typeface="Arial MT"/>
                </a:rPr>
                <a:t>m</a:t>
              </a:r>
              <a:r>
                <a:rPr sz="2400" dirty="0">
                  <a:latin typeface="Arial MT"/>
                  <a:cs typeface="Arial MT"/>
                </a:rPr>
                <a:t>	1</a:t>
              </a:r>
              <a:r>
                <a:rPr sz="2400" spc="-15" dirty="0">
                  <a:latin typeface="Arial MT"/>
                  <a:cs typeface="Arial MT"/>
                </a:rPr>
                <a:t> </a:t>
              </a:r>
              <a:r>
                <a:rPr sz="2400" spc="-50" dirty="0">
                  <a:latin typeface="Arial MT"/>
                  <a:cs typeface="Arial MT"/>
                </a:rPr>
                <a:t>m</a:t>
              </a:r>
              <a:endParaRPr sz="2400" dirty="0">
                <a:latin typeface="Arial MT"/>
                <a:cs typeface="Arial MT"/>
              </a:endParaRPr>
            </a:p>
          </p:txBody>
        </p:sp>
        <p:sp>
          <p:nvSpPr>
            <p:cNvPr id="30" name="object 30"/>
            <p:cNvSpPr txBox="1"/>
            <p:nvPr/>
          </p:nvSpPr>
          <p:spPr>
            <a:xfrm>
              <a:off x="1633215" y="1017835"/>
              <a:ext cx="565150" cy="290830"/>
            </a:xfrm>
            <a:prstGeom prst="rect">
              <a:avLst/>
            </a:prstGeom>
          </p:spPr>
          <p:txBody>
            <a:bodyPr vert="vert270" wrap="square" lIns="0" tIns="0" rIns="0" bIns="0" rtlCol="0">
              <a:spAutoFit/>
            </a:bodyPr>
            <a:lstStyle/>
            <a:p>
              <a:pPr marL="12700">
                <a:lnSpc>
                  <a:spcPts val="4300"/>
                </a:lnSpc>
              </a:pPr>
              <a:r>
                <a:rPr sz="3800" spc="-50" dirty="0">
                  <a:latin typeface="Arial MT"/>
                  <a:cs typeface="Arial MT"/>
                </a:rPr>
                <a:t>≈</a:t>
              </a:r>
              <a:endParaRPr sz="3800">
                <a:latin typeface="Arial MT"/>
                <a:cs typeface="Arial MT"/>
              </a:endParaRPr>
            </a:p>
          </p:txBody>
        </p:sp>
        <p:sp>
          <p:nvSpPr>
            <p:cNvPr id="31" name="object 31"/>
            <p:cNvSpPr txBox="1"/>
            <p:nvPr/>
          </p:nvSpPr>
          <p:spPr>
            <a:xfrm>
              <a:off x="10693400" y="952500"/>
              <a:ext cx="534035" cy="39116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2400" dirty="0">
                  <a:latin typeface="Arial MT"/>
                  <a:cs typeface="Arial MT"/>
                </a:rPr>
                <a:t>9</a:t>
              </a:r>
              <a:r>
                <a:rPr sz="2400" spc="-15" dirty="0">
                  <a:latin typeface="Arial MT"/>
                  <a:cs typeface="Arial MT"/>
                </a:rPr>
                <a:t> </a:t>
              </a:r>
              <a:r>
                <a:rPr sz="2400" spc="-50" dirty="0">
                  <a:latin typeface="Arial MT"/>
                  <a:cs typeface="Arial MT"/>
                </a:rPr>
                <a:t>m</a:t>
              </a:r>
              <a:endParaRPr sz="2400">
                <a:latin typeface="Arial MT"/>
                <a:cs typeface="Arial MT"/>
              </a:endParaRPr>
            </a:p>
          </p:txBody>
        </p:sp>
        <p:sp>
          <p:nvSpPr>
            <p:cNvPr id="32" name="object 32"/>
            <p:cNvSpPr txBox="1"/>
            <p:nvPr/>
          </p:nvSpPr>
          <p:spPr>
            <a:xfrm>
              <a:off x="10307315" y="1005135"/>
              <a:ext cx="565150" cy="290830"/>
            </a:xfrm>
            <a:prstGeom prst="rect">
              <a:avLst/>
            </a:prstGeom>
          </p:spPr>
          <p:txBody>
            <a:bodyPr vert="vert270" wrap="square" lIns="0" tIns="0" rIns="0" bIns="0" rtlCol="0">
              <a:spAutoFit/>
            </a:bodyPr>
            <a:lstStyle/>
            <a:p>
              <a:pPr marL="12700">
                <a:lnSpc>
                  <a:spcPts val="4300"/>
                </a:lnSpc>
              </a:pPr>
              <a:r>
                <a:rPr sz="3800" spc="-50" dirty="0">
                  <a:latin typeface="Arial MT"/>
                  <a:cs typeface="Arial MT"/>
                </a:rPr>
                <a:t>≈</a:t>
              </a:r>
              <a:endParaRPr sz="3800">
                <a:latin typeface="Arial MT"/>
                <a:cs typeface="Arial MT"/>
              </a:endParaRPr>
            </a:p>
          </p:txBody>
        </p:sp>
        <p:pic>
          <p:nvPicPr>
            <p:cNvPr id="50" name="Picture 49">
              <a:extLst>
                <a:ext uri="{FF2B5EF4-FFF2-40B4-BE49-F238E27FC236}">
                  <a16:creationId xmlns:a16="http://schemas.microsoft.com/office/drawing/2014/main" id="{FD48B0C3-BC17-4F33-B579-517BE2D3A93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37785" y="1343660"/>
              <a:ext cx="11732558" cy="1482765"/>
            </a:xfrm>
            <a:prstGeom prst="rect">
              <a:avLst/>
            </a:prstGeom>
          </p:spPr>
        </p:pic>
      </p:grpSp>
      <p:sp>
        <p:nvSpPr>
          <p:cNvPr id="43" name="object 13">
            <a:extLst>
              <a:ext uri="{FF2B5EF4-FFF2-40B4-BE49-F238E27FC236}">
                <a16:creationId xmlns:a16="http://schemas.microsoft.com/office/drawing/2014/main" id="{46415788-0915-4648-989C-5558CACB2AFE}"/>
              </a:ext>
            </a:extLst>
          </p:cNvPr>
          <p:cNvSpPr txBox="1"/>
          <p:nvPr/>
        </p:nvSpPr>
        <p:spPr>
          <a:xfrm>
            <a:off x="3318929" y="4959228"/>
            <a:ext cx="6946899" cy="76431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Arial MT"/>
                <a:cs typeface="Arial MT"/>
              </a:rPr>
              <a:t>R.</a:t>
            </a:r>
            <a:r>
              <a:rPr sz="2400" spc="-55" dirty="0">
                <a:latin typeface="Arial MT"/>
                <a:cs typeface="Arial MT"/>
              </a:rPr>
              <a:t> </a:t>
            </a:r>
            <a:r>
              <a:rPr sz="2400" dirty="0">
                <a:latin typeface="Arial MT"/>
                <a:cs typeface="Arial MT"/>
              </a:rPr>
              <a:t>Follath</a:t>
            </a:r>
            <a:r>
              <a:rPr sz="2400" spc="-35" dirty="0">
                <a:latin typeface="Arial MT"/>
                <a:cs typeface="Arial MT"/>
              </a:rPr>
              <a:t> </a:t>
            </a:r>
            <a:r>
              <a:rPr sz="2400" dirty="0">
                <a:latin typeface="Arial MT"/>
                <a:cs typeface="Arial MT"/>
              </a:rPr>
              <a:t>and</a:t>
            </a:r>
            <a:r>
              <a:rPr sz="2400" spc="-40" dirty="0">
                <a:latin typeface="Arial MT"/>
                <a:cs typeface="Arial MT"/>
              </a:rPr>
              <a:t> </a:t>
            </a:r>
            <a:r>
              <a:rPr sz="2400" spc="-110" dirty="0">
                <a:latin typeface="Arial MT"/>
                <a:cs typeface="Arial MT"/>
              </a:rPr>
              <a:t>F.</a:t>
            </a:r>
            <a:r>
              <a:rPr sz="2400" spc="-40" dirty="0">
                <a:latin typeface="Arial MT"/>
                <a:cs typeface="Arial MT"/>
              </a:rPr>
              <a:t> </a:t>
            </a:r>
            <a:r>
              <a:rPr sz="2400" dirty="0">
                <a:latin typeface="Arial MT"/>
                <a:cs typeface="Arial MT"/>
              </a:rPr>
              <a:t>Senf,</a:t>
            </a:r>
            <a:r>
              <a:rPr sz="2400" spc="-40" dirty="0">
                <a:latin typeface="Arial MT"/>
                <a:cs typeface="Arial MT"/>
              </a:rPr>
              <a:t> </a:t>
            </a:r>
            <a:r>
              <a:rPr sz="2400" spc="-10" dirty="0">
                <a:latin typeface="Arial MT"/>
                <a:cs typeface="Arial MT"/>
              </a:rPr>
              <a:t>NIM</a:t>
            </a:r>
            <a:r>
              <a:rPr sz="2400" spc="-155" dirty="0">
                <a:latin typeface="Arial MT"/>
                <a:cs typeface="Arial MT"/>
              </a:rPr>
              <a:t> </a:t>
            </a:r>
            <a:r>
              <a:rPr sz="2400" dirty="0">
                <a:latin typeface="Arial MT"/>
                <a:cs typeface="Arial MT"/>
              </a:rPr>
              <a:t>A</a:t>
            </a:r>
            <a:r>
              <a:rPr sz="2400" spc="-165" dirty="0">
                <a:latin typeface="Arial MT"/>
                <a:cs typeface="Arial MT"/>
              </a:rPr>
              <a:t> </a:t>
            </a:r>
            <a:r>
              <a:rPr sz="2400" b="1" dirty="0">
                <a:latin typeface="Arial"/>
                <a:cs typeface="Arial"/>
              </a:rPr>
              <a:t>390</a:t>
            </a:r>
            <a:r>
              <a:rPr sz="2400" dirty="0">
                <a:latin typeface="Arial MT"/>
                <a:cs typeface="Arial MT"/>
              </a:rPr>
              <a:t>,</a:t>
            </a:r>
            <a:r>
              <a:rPr sz="2400" spc="-45" dirty="0">
                <a:latin typeface="Arial MT"/>
                <a:cs typeface="Arial MT"/>
              </a:rPr>
              <a:t> </a:t>
            </a:r>
            <a:r>
              <a:rPr sz="2400" dirty="0">
                <a:latin typeface="Arial MT"/>
                <a:cs typeface="Arial MT"/>
              </a:rPr>
              <a:t>388</a:t>
            </a:r>
            <a:r>
              <a:rPr sz="2400" spc="-35" dirty="0">
                <a:latin typeface="Arial MT"/>
                <a:cs typeface="Arial MT"/>
              </a:rPr>
              <a:t> </a:t>
            </a:r>
            <a:r>
              <a:rPr sz="2400" spc="-10" dirty="0">
                <a:latin typeface="Arial MT"/>
                <a:cs typeface="Arial MT"/>
              </a:rPr>
              <a:t>(1997)</a:t>
            </a:r>
            <a:endParaRPr lang="en-US" sz="2400" spc="-1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GB" sz="2400" dirty="0">
                <a:latin typeface="Arial MT"/>
                <a:cs typeface="Arial MT"/>
                <a:hlinkClick r:id="rId4"/>
              </a:rPr>
              <a:t>https://doi.org/10.1016/S0168-9002(97)00401-4</a:t>
            </a:r>
            <a:r>
              <a:rPr lang="en-GB" sz="2400" dirty="0">
                <a:latin typeface="Arial MT"/>
                <a:cs typeface="Arial MT"/>
              </a:rPr>
              <a:t> </a:t>
            </a:r>
            <a:endParaRPr sz="24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Picture 51">
            <a:extLst>
              <a:ext uri="{FF2B5EF4-FFF2-40B4-BE49-F238E27FC236}">
                <a16:creationId xmlns:a16="http://schemas.microsoft.com/office/drawing/2014/main" id="{FC2837A6-4BFB-4807-8799-2443D5FA90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072" y="4466739"/>
            <a:ext cx="4926827" cy="3956979"/>
          </a:xfrm>
          <a:prstGeom prst="rect">
            <a:avLst/>
          </a:prstGeom>
        </p:spPr>
      </p:pic>
      <p:pic>
        <p:nvPicPr>
          <p:cNvPr id="2" name="object 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726754" y="0"/>
            <a:ext cx="5278045" cy="203200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38125">
              <a:lnSpc>
                <a:spcPct val="100000"/>
              </a:lnSpc>
              <a:spcBef>
                <a:spcPts val="100"/>
              </a:spcBef>
            </a:pPr>
            <a:r>
              <a:rPr dirty="0"/>
              <a:t>Follath</a:t>
            </a:r>
            <a:r>
              <a:rPr spc="-100" dirty="0"/>
              <a:t> </a:t>
            </a:r>
            <a:r>
              <a:rPr dirty="0"/>
              <a:t>Collimated</a:t>
            </a:r>
            <a:r>
              <a:rPr spc="-95" dirty="0"/>
              <a:t> </a:t>
            </a:r>
            <a:r>
              <a:rPr dirty="0"/>
              <a:t>PGM,</a:t>
            </a:r>
            <a:r>
              <a:rPr spc="-155" dirty="0"/>
              <a:t> </a:t>
            </a:r>
            <a:r>
              <a:rPr dirty="0">
                <a:solidFill>
                  <a:srgbClr val="FF2600"/>
                </a:solidFill>
              </a:rPr>
              <a:t>TM,</a:t>
            </a:r>
            <a:r>
              <a:rPr spc="-95" dirty="0">
                <a:solidFill>
                  <a:srgbClr val="FF2600"/>
                </a:solidFill>
              </a:rPr>
              <a:t> </a:t>
            </a:r>
            <a:r>
              <a:rPr dirty="0">
                <a:solidFill>
                  <a:srgbClr val="FF2600"/>
                </a:solidFill>
              </a:rPr>
              <a:t>CM:</a:t>
            </a:r>
            <a:r>
              <a:rPr spc="-95" dirty="0">
                <a:solidFill>
                  <a:srgbClr val="FF2600"/>
                </a:solidFill>
              </a:rPr>
              <a:t> </a:t>
            </a:r>
            <a:r>
              <a:rPr dirty="0">
                <a:solidFill>
                  <a:srgbClr val="FF2600"/>
                </a:solidFill>
              </a:rPr>
              <a:t>hor</a:t>
            </a:r>
            <a:r>
              <a:rPr spc="-95" dirty="0">
                <a:solidFill>
                  <a:srgbClr val="FF2600"/>
                </a:solidFill>
              </a:rPr>
              <a:t> </a:t>
            </a:r>
            <a:r>
              <a:rPr dirty="0">
                <a:solidFill>
                  <a:srgbClr val="FF2600"/>
                </a:solidFill>
              </a:rPr>
              <a:t>plane</a:t>
            </a:r>
            <a:r>
              <a:rPr dirty="0"/>
              <a:t>;</a:t>
            </a:r>
            <a:r>
              <a:rPr spc="-100" dirty="0"/>
              <a:t> </a:t>
            </a:r>
            <a:r>
              <a:rPr spc="-25" dirty="0"/>
              <a:t>c=2</a:t>
            </a:r>
          </a:p>
        </p:txBody>
      </p:sp>
      <p:sp>
        <p:nvSpPr>
          <p:cNvPr id="36" name="object 36"/>
          <p:cNvSpPr txBox="1"/>
          <p:nvPr/>
        </p:nvSpPr>
        <p:spPr>
          <a:xfrm>
            <a:off x="10403878" y="6898738"/>
            <a:ext cx="1536700" cy="439223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25"/>
              </a:spcBef>
              <a:tabLst>
                <a:tab pos="2531110" algn="l"/>
                <a:tab pos="3862704" algn="l"/>
              </a:tabLst>
            </a:pPr>
            <a:r>
              <a:rPr sz="2750" dirty="0">
                <a:latin typeface="Cambria"/>
                <a:cs typeface="Cambria"/>
              </a:rPr>
              <a:t>5</a:t>
            </a:r>
            <a:r>
              <a:rPr sz="2750" i="1" dirty="0">
                <a:latin typeface="Cambria"/>
                <a:cs typeface="Cambria"/>
              </a:rPr>
              <a:t>.</a:t>
            </a:r>
            <a:r>
              <a:rPr sz="2750" dirty="0">
                <a:latin typeface="Cambria"/>
                <a:cs typeface="Cambria"/>
              </a:rPr>
              <a:t>8</a:t>
            </a:r>
            <a:r>
              <a:rPr sz="2750" spc="285" dirty="0">
                <a:latin typeface="Cambria"/>
                <a:cs typeface="Cambria"/>
              </a:rPr>
              <a:t> </a:t>
            </a:r>
            <a:r>
              <a:rPr sz="2750" i="1" spc="175" dirty="0">
                <a:latin typeface="Cambria"/>
                <a:cs typeface="Cambria"/>
              </a:rPr>
              <a:t>µm</a:t>
            </a:r>
            <a:endParaRPr sz="2750" dirty="0">
              <a:latin typeface="Cambria"/>
              <a:cs typeface="Cambria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7327900" y="8115300"/>
            <a:ext cx="4345305" cy="769620"/>
          </a:xfrm>
          <a:prstGeom prst="rect">
            <a:avLst/>
          </a:prstGeom>
        </p:spPr>
        <p:txBody>
          <a:bodyPr vert="horz" wrap="square" lIns="0" tIns="22860" rIns="0" bIns="0" rtlCol="0">
            <a:spAutoFit/>
          </a:bodyPr>
          <a:lstStyle/>
          <a:p>
            <a:pPr marL="12700" marR="5080">
              <a:lnSpc>
                <a:spcPts val="2900"/>
              </a:lnSpc>
              <a:spcBef>
                <a:spcPts val="180"/>
              </a:spcBef>
            </a:pPr>
            <a:r>
              <a:rPr sz="2400" dirty="0">
                <a:solidFill>
                  <a:srgbClr val="FF2600"/>
                </a:solidFill>
                <a:latin typeface="Arial MT"/>
                <a:cs typeface="Arial MT"/>
              </a:rPr>
              <a:t>Mirror</a:t>
            </a:r>
            <a:r>
              <a:rPr sz="2400" spc="-75" dirty="0">
                <a:solidFill>
                  <a:srgbClr val="FF2600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F2600"/>
                </a:solidFill>
                <a:latin typeface="Arial MT"/>
                <a:cs typeface="Arial MT"/>
              </a:rPr>
              <a:t>rotation</a:t>
            </a:r>
            <a:r>
              <a:rPr sz="2400" spc="-65" dirty="0">
                <a:solidFill>
                  <a:srgbClr val="FF2600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F2600"/>
                </a:solidFill>
                <a:latin typeface="Arial MT"/>
                <a:cs typeface="Arial MT"/>
              </a:rPr>
              <a:t>relative</a:t>
            </a:r>
            <a:r>
              <a:rPr sz="2400" spc="-65" dirty="0">
                <a:solidFill>
                  <a:srgbClr val="FF2600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FF2600"/>
                </a:solidFill>
                <a:latin typeface="Arial MT"/>
                <a:cs typeface="Arial MT"/>
              </a:rPr>
              <a:t>to</a:t>
            </a:r>
            <a:r>
              <a:rPr sz="2400" spc="-65" dirty="0">
                <a:solidFill>
                  <a:srgbClr val="FF2600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FF2600"/>
                </a:solidFill>
                <a:latin typeface="Arial MT"/>
                <a:cs typeface="Arial MT"/>
              </a:rPr>
              <a:t>grating </a:t>
            </a:r>
            <a:r>
              <a:rPr sz="2400" spc="65" dirty="0">
                <a:solidFill>
                  <a:srgbClr val="FF2600"/>
                </a:solidFill>
                <a:latin typeface="Arial MT"/>
                <a:cs typeface="Arial MT"/>
              </a:rPr>
              <a:t>x</a:t>
            </a:r>
            <a:r>
              <a:rPr sz="2800" spc="65" dirty="0">
                <a:solidFill>
                  <a:srgbClr val="FF2600"/>
                </a:solidFill>
                <a:latin typeface="Symbol"/>
                <a:cs typeface="Symbol"/>
              </a:rPr>
              <a:t></a:t>
            </a:r>
            <a:r>
              <a:rPr sz="2400" spc="65" dirty="0">
                <a:solidFill>
                  <a:srgbClr val="FF2600"/>
                </a:solidFill>
                <a:latin typeface="Yu Gothic"/>
                <a:cs typeface="Yu Gothic"/>
              </a:rPr>
              <a:t>z</a:t>
            </a:r>
            <a:endParaRPr sz="2400">
              <a:latin typeface="Yu Gothic"/>
              <a:cs typeface="Yu Gothic"/>
            </a:endParaRPr>
          </a:p>
        </p:txBody>
      </p:sp>
      <p:sp>
        <p:nvSpPr>
          <p:cNvPr id="39" name="object 39"/>
          <p:cNvSpPr txBox="1"/>
          <p:nvPr/>
        </p:nvSpPr>
        <p:spPr>
          <a:xfrm>
            <a:off x="2938553" y="2870102"/>
            <a:ext cx="741045" cy="746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40"/>
              </a:lnSpc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88.5°</a:t>
            </a:r>
            <a:endParaRPr sz="2400">
              <a:latin typeface="Arial MT"/>
              <a:cs typeface="Arial MT"/>
            </a:endParaRPr>
          </a:p>
          <a:p>
            <a:pPr marL="177800">
              <a:lnSpc>
                <a:spcPts val="2840"/>
              </a:lnSpc>
            </a:pPr>
            <a:r>
              <a:rPr sz="2400" spc="-20" dirty="0">
                <a:latin typeface="Arial MT"/>
                <a:cs typeface="Arial MT"/>
              </a:rPr>
              <a:t>left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44" name="object 4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pc="-10" dirty="0"/>
              <a:t>Software</a:t>
            </a:r>
            <a:r>
              <a:rPr spc="-50" dirty="0"/>
              <a:t> </a:t>
            </a:r>
            <a:r>
              <a:rPr dirty="0"/>
              <a:t>for</a:t>
            </a:r>
            <a:r>
              <a:rPr spc="-45" dirty="0"/>
              <a:t> </a:t>
            </a:r>
            <a:r>
              <a:rPr dirty="0"/>
              <a:t>Optical</a:t>
            </a:r>
            <a:r>
              <a:rPr spc="-45" dirty="0"/>
              <a:t> </a:t>
            </a:r>
            <a:r>
              <a:rPr dirty="0"/>
              <a:t>Simulations,</a:t>
            </a:r>
            <a:r>
              <a:rPr spc="-45" dirty="0"/>
              <a:t> </a:t>
            </a:r>
            <a:r>
              <a:rPr spc="-20" dirty="0"/>
              <a:t>Trieste,</a:t>
            </a:r>
            <a:r>
              <a:rPr spc="-45" dirty="0"/>
              <a:t> </a:t>
            </a:r>
            <a:r>
              <a:rPr dirty="0"/>
              <a:t>October</a:t>
            </a:r>
            <a:r>
              <a:rPr spc="-45" dirty="0"/>
              <a:t> </a:t>
            </a:r>
            <a:r>
              <a:rPr dirty="0"/>
              <a:t>2016.</a:t>
            </a:r>
            <a:r>
              <a:rPr spc="-45" dirty="0"/>
              <a:t> </a:t>
            </a:r>
            <a:r>
              <a:rPr dirty="0"/>
              <a:t>Ruben</a:t>
            </a:r>
            <a:r>
              <a:rPr spc="-45" dirty="0"/>
              <a:t> </a:t>
            </a:r>
            <a:r>
              <a:rPr spc="-10" dirty="0"/>
              <a:t>Reininger</a:t>
            </a:r>
          </a:p>
        </p:txBody>
      </p:sp>
      <p:sp>
        <p:nvSpPr>
          <p:cNvPr id="45" name="object 4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25" dirty="0"/>
              <a:t>34</a:t>
            </a:fld>
            <a:endParaRPr spc="-25" dirty="0"/>
          </a:p>
        </p:txBody>
      </p:sp>
      <p:sp>
        <p:nvSpPr>
          <p:cNvPr id="46" name="object 46"/>
          <p:cNvSpPr txBox="1"/>
          <p:nvPr/>
        </p:nvSpPr>
        <p:spPr>
          <a:xfrm>
            <a:off x="1069339" y="9384967"/>
            <a:ext cx="72390" cy="211454"/>
          </a:xfrm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sz="1200" spc="-50" dirty="0">
                <a:solidFill>
                  <a:srgbClr val="275D90"/>
                </a:solidFill>
                <a:latin typeface="Calibri"/>
                <a:cs typeface="Calibri"/>
              </a:rPr>
              <a:t>-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40" name="object 40"/>
          <p:cNvSpPr txBox="1"/>
          <p:nvPr/>
        </p:nvSpPr>
        <p:spPr>
          <a:xfrm>
            <a:off x="4932453" y="2870102"/>
            <a:ext cx="754380" cy="746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40"/>
              </a:lnSpc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87.8°</a:t>
            </a:r>
            <a:endParaRPr sz="2400">
              <a:latin typeface="Arial MT"/>
              <a:cs typeface="Arial MT"/>
            </a:endParaRPr>
          </a:p>
          <a:p>
            <a:pPr marL="12700">
              <a:lnSpc>
                <a:spcPts val="2840"/>
              </a:lnSpc>
            </a:pPr>
            <a:r>
              <a:rPr sz="2400" spc="-20" dirty="0">
                <a:latin typeface="Arial MT"/>
                <a:cs typeface="Arial MT"/>
              </a:rPr>
              <a:t>down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6329453" y="2870102"/>
            <a:ext cx="2329180" cy="746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ts val="2840"/>
              </a:lnSpc>
              <a:spcBef>
                <a:spcPts val="100"/>
              </a:spcBef>
            </a:pPr>
            <a:r>
              <a:rPr sz="2400" i="1" dirty="0">
                <a:latin typeface="Arial"/>
                <a:cs typeface="Arial"/>
              </a:rPr>
              <a:t>α</a:t>
            </a:r>
            <a:r>
              <a:rPr sz="2400" dirty="0">
                <a:latin typeface="Arial MT"/>
                <a:cs typeface="Arial MT"/>
              </a:rPr>
              <a:t>=88.5°,</a:t>
            </a:r>
            <a:r>
              <a:rPr sz="2400" spc="-90" dirty="0">
                <a:latin typeface="Arial MT"/>
                <a:cs typeface="Arial MT"/>
              </a:rPr>
              <a:t> </a:t>
            </a:r>
            <a:r>
              <a:rPr sz="2400" i="1" spc="-10" dirty="0">
                <a:latin typeface="Arial"/>
                <a:cs typeface="Arial"/>
              </a:rPr>
              <a:t>β</a:t>
            </a:r>
            <a:r>
              <a:rPr sz="2400" spc="-10" dirty="0">
                <a:latin typeface="Arial MT"/>
                <a:cs typeface="Arial MT"/>
              </a:rPr>
              <a:t>=87.1°</a:t>
            </a:r>
            <a:endParaRPr sz="2400">
              <a:latin typeface="Arial MT"/>
              <a:cs typeface="Arial MT"/>
            </a:endParaRPr>
          </a:p>
          <a:p>
            <a:pPr marR="635" algn="ctr">
              <a:lnSpc>
                <a:spcPts val="2840"/>
              </a:lnSpc>
            </a:pPr>
            <a:r>
              <a:rPr sz="2400" spc="-25" dirty="0">
                <a:latin typeface="Arial MT"/>
                <a:cs typeface="Arial MT"/>
              </a:rPr>
              <a:t>up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42" name="object 42"/>
          <p:cNvSpPr txBox="1"/>
          <p:nvPr/>
        </p:nvSpPr>
        <p:spPr>
          <a:xfrm>
            <a:off x="9313953" y="2870102"/>
            <a:ext cx="741045" cy="746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40"/>
              </a:lnSpc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88.5°</a:t>
            </a:r>
            <a:endParaRPr sz="2400">
              <a:latin typeface="Arial MT"/>
              <a:cs typeface="Arial MT"/>
            </a:endParaRPr>
          </a:p>
          <a:p>
            <a:pPr marL="165100">
              <a:lnSpc>
                <a:spcPts val="2840"/>
              </a:lnSpc>
            </a:pPr>
            <a:r>
              <a:rPr sz="2400" spc="-20" dirty="0">
                <a:latin typeface="Arial MT"/>
                <a:cs typeface="Arial MT"/>
              </a:rPr>
              <a:t>left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43" name="object 43"/>
          <p:cNvSpPr txBox="1"/>
          <p:nvPr/>
        </p:nvSpPr>
        <p:spPr>
          <a:xfrm rot="21060000">
            <a:off x="2539731" y="6501250"/>
            <a:ext cx="1325213" cy="3048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400"/>
              </a:lnSpc>
            </a:pPr>
            <a:r>
              <a:rPr sz="2400" dirty="0">
                <a:solidFill>
                  <a:srgbClr val="FF2600"/>
                </a:solidFill>
                <a:latin typeface="Arial MT"/>
                <a:cs typeface="Arial MT"/>
              </a:rPr>
              <a:t>No</a:t>
            </a:r>
            <a:r>
              <a:rPr sz="2400" spc="-75" dirty="0">
                <a:solidFill>
                  <a:srgbClr val="FF2600"/>
                </a:solidFill>
                <a:latin typeface="Arial MT"/>
                <a:cs typeface="Arial MT"/>
              </a:rPr>
              <a:t> </a:t>
            </a:r>
            <a:r>
              <a:rPr sz="2400" spc="-20" dirty="0">
                <a:solidFill>
                  <a:srgbClr val="FF2600"/>
                </a:solidFill>
                <a:latin typeface="Arial MT"/>
                <a:cs typeface="Arial MT"/>
              </a:rPr>
              <a:t>C</a:t>
            </a:r>
            <a:r>
              <a:rPr sz="3600" spc="-30" baseline="1157" dirty="0">
                <a:solidFill>
                  <a:srgbClr val="FF2600"/>
                </a:solidFill>
                <a:latin typeface="Arial MT"/>
                <a:cs typeface="Arial MT"/>
              </a:rPr>
              <a:t>oma</a:t>
            </a:r>
            <a:endParaRPr sz="3600" baseline="1157">
              <a:latin typeface="Arial MT"/>
              <a:cs typeface="Arial MT"/>
            </a:endParaRPr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7298DCD2-21AB-46A0-9CD5-448E80CBE6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1950" y="6471227"/>
            <a:ext cx="4423826" cy="1216307"/>
          </a:xfrm>
          <a:prstGeom prst="rect">
            <a:avLst/>
          </a:prstGeom>
        </p:spPr>
      </p:pic>
      <p:sp>
        <p:nvSpPr>
          <p:cNvPr id="48" name="Rectangle 47">
            <a:extLst>
              <a:ext uri="{FF2B5EF4-FFF2-40B4-BE49-F238E27FC236}">
                <a16:creationId xmlns:a16="http://schemas.microsoft.com/office/drawing/2014/main" id="{C08E7F49-E9C0-405F-BA8A-DCE6A548217D}"/>
              </a:ext>
            </a:extLst>
          </p:cNvPr>
          <p:cNvSpPr/>
          <p:nvPr/>
        </p:nvSpPr>
        <p:spPr>
          <a:xfrm>
            <a:off x="0" y="-32460"/>
            <a:ext cx="38266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04_CollimatedPGM1000eVc2.ows</a:t>
            </a: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E8424FA0-340B-4B1F-B782-ECAEFE37FFA2}"/>
              </a:ext>
            </a:extLst>
          </p:cNvPr>
          <p:cNvGrpSpPr/>
          <p:nvPr/>
        </p:nvGrpSpPr>
        <p:grpSpPr>
          <a:xfrm>
            <a:off x="637785" y="952500"/>
            <a:ext cx="11732558" cy="1873925"/>
            <a:chOff x="637785" y="952500"/>
            <a:chExt cx="11732558" cy="1873925"/>
          </a:xfrm>
        </p:grpSpPr>
        <p:grpSp>
          <p:nvGrpSpPr>
            <p:cNvPr id="7" name="object 7"/>
            <p:cNvGrpSpPr/>
            <p:nvPr/>
          </p:nvGrpSpPr>
          <p:grpSpPr>
            <a:xfrm>
              <a:off x="1133094" y="1099626"/>
              <a:ext cx="795020" cy="167640"/>
              <a:chOff x="1133094" y="1099626"/>
              <a:chExt cx="795020" cy="167640"/>
            </a:xfrm>
          </p:grpSpPr>
          <p:sp>
            <p:nvSpPr>
              <p:cNvPr id="8" name="object 8"/>
              <p:cNvSpPr/>
              <p:nvPr/>
            </p:nvSpPr>
            <p:spPr>
              <a:xfrm>
                <a:off x="1281684" y="1183446"/>
                <a:ext cx="64643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46430">
                    <a:moveTo>
                      <a:pt x="0" y="0"/>
                    </a:moveTo>
                    <a:lnTo>
                      <a:pt x="645899" y="0"/>
                    </a:lnTo>
                  </a:path>
                </a:pathLst>
              </a:custGeom>
              <a:ln w="38100">
                <a:solidFill>
                  <a:srgbClr val="91919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" name="object 9"/>
              <p:cNvSpPr/>
              <p:nvPr/>
            </p:nvSpPr>
            <p:spPr>
              <a:xfrm>
                <a:off x="1133094" y="1099626"/>
                <a:ext cx="167640" cy="167640"/>
              </a:xfrm>
              <a:custGeom>
                <a:avLst/>
                <a:gdLst/>
                <a:ahLst/>
                <a:cxnLst/>
                <a:rect l="l" t="t" r="r" b="b"/>
                <a:pathLst>
                  <a:path w="167640" h="167640">
                    <a:moveTo>
                      <a:pt x="167640" y="0"/>
                    </a:moveTo>
                    <a:lnTo>
                      <a:pt x="0" y="83820"/>
                    </a:lnTo>
                    <a:lnTo>
                      <a:pt x="167640" y="167640"/>
                    </a:lnTo>
                    <a:lnTo>
                      <a:pt x="167640" y="0"/>
                    </a:lnTo>
                    <a:close/>
                  </a:path>
                </a:pathLst>
              </a:custGeom>
              <a:solidFill>
                <a:srgbClr val="919191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10" name="object 10"/>
            <p:cNvGrpSpPr/>
            <p:nvPr/>
          </p:nvGrpSpPr>
          <p:grpSpPr>
            <a:xfrm>
              <a:off x="2777298" y="1099626"/>
              <a:ext cx="3039745" cy="167640"/>
              <a:chOff x="2777298" y="1099626"/>
              <a:chExt cx="3039745" cy="167640"/>
            </a:xfrm>
          </p:grpSpPr>
          <p:sp>
            <p:nvSpPr>
              <p:cNvPr id="11" name="object 11"/>
              <p:cNvSpPr/>
              <p:nvPr/>
            </p:nvSpPr>
            <p:spPr>
              <a:xfrm>
                <a:off x="2777298" y="1183446"/>
                <a:ext cx="316230" cy="0"/>
              </a:xfrm>
              <a:custGeom>
                <a:avLst/>
                <a:gdLst/>
                <a:ahLst/>
                <a:cxnLst/>
                <a:rect l="l" t="t" r="r" b="b"/>
                <a:pathLst>
                  <a:path w="316230">
                    <a:moveTo>
                      <a:pt x="0" y="0"/>
                    </a:moveTo>
                    <a:lnTo>
                      <a:pt x="315698" y="0"/>
                    </a:lnTo>
                  </a:path>
                </a:pathLst>
              </a:custGeom>
              <a:ln w="38100">
                <a:solidFill>
                  <a:srgbClr val="91919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" name="object 12"/>
              <p:cNvSpPr/>
              <p:nvPr/>
            </p:nvSpPr>
            <p:spPr>
              <a:xfrm>
                <a:off x="3073947" y="1099626"/>
                <a:ext cx="167640" cy="167640"/>
              </a:xfrm>
              <a:custGeom>
                <a:avLst/>
                <a:gdLst/>
                <a:ahLst/>
                <a:cxnLst/>
                <a:rect l="l" t="t" r="r" b="b"/>
                <a:pathLst>
                  <a:path w="167639" h="167640">
                    <a:moveTo>
                      <a:pt x="0" y="0"/>
                    </a:moveTo>
                    <a:lnTo>
                      <a:pt x="0" y="167640"/>
                    </a:lnTo>
                    <a:lnTo>
                      <a:pt x="167639" y="8382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19191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3290026" y="1183446"/>
                <a:ext cx="2526665" cy="0"/>
              </a:xfrm>
              <a:custGeom>
                <a:avLst/>
                <a:gdLst/>
                <a:ahLst/>
                <a:cxnLst/>
                <a:rect l="l" t="t" r="r" b="b"/>
                <a:pathLst>
                  <a:path w="2526665">
                    <a:moveTo>
                      <a:pt x="0" y="0"/>
                    </a:moveTo>
                    <a:lnTo>
                      <a:pt x="2526578" y="0"/>
                    </a:lnTo>
                  </a:path>
                </a:pathLst>
              </a:custGeom>
              <a:ln w="38100">
                <a:solidFill>
                  <a:srgbClr val="91919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" name="object 14"/>
              <p:cNvSpPr/>
              <p:nvPr/>
            </p:nvSpPr>
            <p:spPr>
              <a:xfrm>
                <a:off x="3141436" y="1099626"/>
                <a:ext cx="167640" cy="167640"/>
              </a:xfrm>
              <a:custGeom>
                <a:avLst/>
                <a:gdLst/>
                <a:ahLst/>
                <a:cxnLst/>
                <a:rect l="l" t="t" r="r" b="b"/>
                <a:pathLst>
                  <a:path w="167639" h="167640">
                    <a:moveTo>
                      <a:pt x="167640" y="0"/>
                    </a:moveTo>
                    <a:lnTo>
                      <a:pt x="0" y="83820"/>
                    </a:lnTo>
                    <a:lnTo>
                      <a:pt x="167640" y="167640"/>
                    </a:lnTo>
                    <a:lnTo>
                      <a:pt x="167640" y="0"/>
                    </a:lnTo>
                    <a:close/>
                  </a:path>
                </a:pathLst>
              </a:custGeom>
              <a:solidFill>
                <a:srgbClr val="919191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15" name="object 15"/>
            <p:cNvGrpSpPr/>
            <p:nvPr/>
          </p:nvGrpSpPr>
          <p:grpSpPr>
            <a:xfrm>
              <a:off x="6496803" y="1099626"/>
              <a:ext cx="1885950" cy="167640"/>
              <a:chOff x="6496803" y="1099626"/>
              <a:chExt cx="1885950" cy="167640"/>
            </a:xfrm>
          </p:grpSpPr>
          <p:sp>
            <p:nvSpPr>
              <p:cNvPr id="16" name="object 16"/>
              <p:cNvSpPr/>
              <p:nvPr/>
            </p:nvSpPr>
            <p:spPr>
              <a:xfrm>
                <a:off x="6496803" y="1183446"/>
                <a:ext cx="945515" cy="0"/>
              </a:xfrm>
              <a:custGeom>
                <a:avLst/>
                <a:gdLst/>
                <a:ahLst/>
                <a:cxnLst/>
                <a:rect l="l" t="t" r="r" b="b"/>
                <a:pathLst>
                  <a:path w="945515">
                    <a:moveTo>
                      <a:pt x="0" y="0"/>
                    </a:moveTo>
                    <a:lnTo>
                      <a:pt x="945102" y="0"/>
                    </a:lnTo>
                  </a:path>
                </a:pathLst>
              </a:custGeom>
              <a:ln w="38100">
                <a:solidFill>
                  <a:srgbClr val="91919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" name="object 17"/>
              <p:cNvSpPr/>
              <p:nvPr/>
            </p:nvSpPr>
            <p:spPr>
              <a:xfrm>
                <a:off x="7422855" y="1099626"/>
                <a:ext cx="167640" cy="167640"/>
              </a:xfrm>
              <a:custGeom>
                <a:avLst/>
                <a:gdLst/>
                <a:ahLst/>
                <a:cxnLst/>
                <a:rect l="l" t="t" r="r" b="b"/>
                <a:pathLst>
                  <a:path w="167640" h="167640">
                    <a:moveTo>
                      <a:pt x="0" y="0"/>
                    </a:moveTo>
                    <a:lnTo>
                      <a:pt x="0" y="167640"/>
                    </a:lnTo>
                    <a:lnTo>
                      <a:pt x="167639" y="8382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19191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7706906" y="1183446"/>
                <a:ext cx="67627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76275">
                    <a:moveTo>
                      <a:pt x="0" y="0"/>
                    </a:moveTo>
                    <a:lnTo>
                      <a:pt x="675739" y="0"/>
                    </a:lnTo>
                  </a:path>
                </a:pathLst>
              </a:custGeom>
              <a:ln w="38100">
                <a:solidFill>
                  <a:srgbClr val="91919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" name="object 19"/>
              <p:cNvSpPr/>
              <p:nvPr/>
            </p:nvSpPr>
            <p:spPr>
              <a:xfrm>
                <a:off x="7558316" y="1099626"/>
                <a:ext cx="167640" cy="167640"/>
              </a:xfrm>
              <a:custGeom>
                <a:avLst/>
                <a:gdLst/>
                <a:ahLst/>
                <a:cxnLst/>
                <a:rect l="l" t="t" r="r" b="b"/>
                <a:pathLst>
                  <a:path w="167640" h="167640">
                    <a:moveTo>
                      <a:pt x="167639" y="0"/>
                    </a:moveTo>
                    <a:lnTo>
                      <a:pt x="0" y="83820"/>
                    </a:lnTo>
                    <a:lnTo>
                      <a:pt x="167639" y="167640"/>
                    </a:lnTo>
                    <a:lnTo>
                      <a:pt x="167639" y="0"/>
                    </a:lnTo>
                    <a:close/>
                  </a:path>
                </a:pathLst>
              </a:custGeom>
              <a:solidFill>
                <a:srgbClr val="919191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21" name="object 21"/>
            <p:cNvGrpSpPr/>
            <p:nvPr/>
          </p:nvGrpSpPr>
          <p:grpSpPr>
            <a:xfrm>
              <a:off x="9165680" y="1099625"/>
              <a:ext cx="943577" cy="164543"/>
              <a:chOff x="9062844" y="1099626"/>
              <a:chExt cx="1536700" cy="167640"/>
            </a:xfrm>
          </p:grpSpPr>
          <p:sp>
            <p:nvSpPr>
              <p:cNvPr id="22" name="object 22"/>
              <p:cNvSpPr/>
              <p:nvPr/>
            </p:nvSpPr>
            <p:spPr>
              <a:xfrm>
                <a:off x="10019315" y="1183446"/>
                <a:ext cx="580390" cy="0"/>
              </a:xfrm>
              <a:custGeom>
                <a:avLst/>
                <a:gdLst/>
                <a:ahLst/>
                <a:cxnLst/>
                <a:rect l="l" t="t" r="r" b="b"/>
                <a:pathLst>
                  <a:path w="580390">
                    <a:moveTo>
                      <a:pt x="0" y="0"/>
                    </a:moveTo>
                    <a:lnTo>
                      <a:pt x="580030" y="0"/>
                    </a:lnTo>
                  </a:path>
                </a:pathLst>
              </a:custGeom>
              <a:ln w="38100">
                <a:solidFill>
                  <a:srgbClr val="91919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" name="object 23"/>
              <p:cNvSpPr/>
              <p:nvPr/>
            </p:nvSpPr>
            <p:spPr>
              <a:xfrm>
                <a:off x="9870725" y="1099626"/>
                <a:ext cx="167640" cy="167640"/>
              </a:xfrm>
              <a:custGeom>
                <a:avLst/>
                <a:gdLst/>
                <a:ahLst/>
                <a:cxnLst/>
                <a:rect l="l" t="t" r="r" b="b"/>
                <a:pathLst>
                  <a:path w="167640" h="167640">
                    <a:moveTo>
                      <a:pt x="167640" y="0"/>
                    </a:moveTo>
                    <a:lnTo>
                      <a:pt x="0" y="83820"/>
                    </a:lnTo>
                    <a:lnTo>
                      <a:pt x="167640" y="167640"/>
                    </a:lnTo>
                    <a:lnTo>
                      <a:pt x="167640" y="0"/>
                    </a:lnTo>
                    <a:close/>
                  </a:path>
                </a:pathLst>
              </a:custGeom>
              <a:solidFill>
                <a:srgbClr val="919191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" name="object 24"/>
              <p:cNvSpPr/>
              <p:nvPr/>
            </p:nvSpPr>
            <p:spPr>
              <a:xfrm>
                <a:off x="9062844" y="1183446"/>
                <a:ext cx="67627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76275">
                    <a:moveTo>
                      <a:pt x="0" y="0"/>
                    </a:moveTo>
                    <a:lnTo>
                      <a:pt x="675737" y="0"/>
                    </a:lnTo>
                  </a:path>
                </a:pathLst>
              </a:custGeom>
              <a:ln w="38100">
                <a:solidFill>
                  <a:srgbClr val="91919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" name="object 25"/>
              <p:cNvSpPr/>
              <p:nvPr/>
            </p:nvSpPr>
            <p:spPr>
              <a:xfrm>
                <a:off x="9719533" y="1099626"/>
                <a:ext cx="167640" cy="167640"/>
              </a:xfrm>
              <a:custGeom>
                <a:avLst/>
                <a:gdLst/>
                <a:ahLst/>
                <a:cxnLst/>
                <a:rect l="l" t="t" r="r" b="b"/>
                <a:pathLst>
                  <a:path w="167640" h="167640">
                    <a:moveTo>
                      <a:pt x="0" y="0"/>
                    </a:moveTo>
                    <a:lnTo>
                      <a:pt x="0" y="167640"/>
                    </a:lnTo>
                    <a:lnTo>
                      <a:pt x="167640" y="8382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19191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26" name="object 26"/>
            <p:cNvGrpSpPr/>
            <p:nvPr/>
          </p:nvGrpSpPr>
          <p:grpSpPr>
            <a:xfrm>
              <a:off x="11375604" y="1099626"/>
              <a:ext cx="603885" cy="167640"/>
              <a:chOff x="11375604" y="1099626"/>
              <a:chExt cx="603885" cy="167640"/>
            </a:xfrm>
          </p:grpSpPr>
          <p:sp>
            <p:nvSpPr>
              <p:cNvPr id="27" name="object 27"/>
              <p:cNvSpPr/>
              <p:nvPr/>
            </p:nvSpPr>
            <p:spPr>
              <a:xfrm>
                <a:off x="11375604" y="1183446"/>
                <a:ext cx="455295" cy="0"/>
              </a:xfrm>
              <a:custGeom>
                <a:avLst/>
                <a:gdLst/>
                <a:ahLst/>
                <a:cxnLst/>
                <a:rect l="l" t="t" r="r" b="b"/>
                <a:pathLst>
                  <a:path w="455295">
                    <a:moveTo>
                      <a:pt x="0" y="0"/>
                    </a:moveTo>
                    <a:lnTo>
                      <a:pt x="455023" y="0"/>
                    </a:lnTo>
                  </a:path>
                </a:pathLst>
              </a:custGeom>
              <a:ln w="38100">
                <a:solidFill>
                  <a:srgbClr val="91919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" name="object 28"/>
              <p:cNvSpPr/>
              <p:nvPr/>
            </p:nvSpPr>
            <p:spPr>
              <a:xfrm>
                <a:off x="11811578" y="1099626"/>
                <a:ext cx="167640" cy="167640"/>
              </a:xfrm>
              <a:custGeom>
                <a:avLst/>
                <a:gdLst/>
                <a:ahLst/>
                <a:cxnLst/>
                <a:rect l="l" t="t" r="r" b="b"/>
                <a:pathLst>
                  <a:path w="167640" h="167640">
                    <a:moveTo>
                      <a:pt x="0" y="0"/>
                    </a:moveTo>
                    <a:lnTo>
                      <a:pt x="0" y="167640"/>
                    </a:lnTo>
                    <a:lnTo>
                      <a:pt x="167640" y="8382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19191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9" name="object 29"/>
            <p:cNvSpPr txBox="1"/>
            <p:nvPr/>
          </p:nvSpPr>
          <p:spPr>
            <a:xfrm>
              <a:off x="2019300" y="977900"/>
              <a:ext cx="7065242" cy="391156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  <a:tabLst>
                  <a:tab pos="3910965" algn="l"/>
                  <a:tab pos="6476365" algn="l"/>
                </a:tabLst>
              </a:pPr>
              <a:r>
                <a:rPr sz="2400" dirty="0">
                  <a:latin typeface="Arial MT"/>
                  <a:cs typeface="Arial MT"/>
                </a:rPr>
                <a:t>28</a:t>
              </a:r>
              <a:r>
                <a:rPr sz="2400" spc="-30" dirty="0">
                  <a:latin typeface="Arial MT"/>
                  <a:cs typeface="Arial MT"/>
                </a:rPr>
                <a:t> </a:t>
              </a:r>
              <a:r>
                <a:rPr sz="2400" spc="-50" dirty="0">
                  <a:latin typeface="Arial MT"/>
                  <a:cs typeface="Arial MT"/>
                </a:rPr>
                <a:t>m</a:t>
              </a:r>
              <a:r>
                <a:rPr sz="2400" dirty="0">
                  <a:latin typeface="Arial MT"/>
                  <a:cs typeface="Arial MT"/>
                </a:rPr>
                <a:t>	2</a:t>
              </a:r>
              <a:r>
                <a:rPr sz="2400" spc="-15" dirty="0">
                  <a:latin typeface="Arial MT"/>
                  <a:cs typeface="Arial MT"/>
                </a:rPr>
                <a:t> </a:t>
              </a:r>
              <a:r>
                <a:rPr sz="2400" spc="-50" dirty="0">
                  <a:latin typeface="Arial MT"/>
                  <a:cs typeface="Arial MT"/>
                </a:rPr>
                <a:t>m</a:t>
              </a:r>
              <a:r>
                <a:rPr sz="2400" dirty="0">
                  <a:latin typeface="Arial MT"/>
                  <a:cs typeface="Arial MT"/>
                </a:rPr>
                <a:t>	1</a:t>
              </a:r>
              <a:r>
                <a:rPr sz="2400" spc="-15" dirty="0">
                  <a:latin typeface="Arial MT"/>
                  <a:cs typeface="Arial MT"/>
                </a:rPr>
                <a:t> </a:t>
              </a:r>
              <a:r>
                <a:rPr sz="2400" spc="-50" dirty="0">
                  <a:latin typeface="Arial MT"/>
                  <a:cs typeface="Arial MT"/>
                </a:rPr>
                <a:t>m</a:t>
              </a:r>
              <a:endParaRPr sz="2400" dirty="0">
                <a:latin typeface="Arial MT"/>
                <a:cs typeface="Arial MT"/>
              </a:endParaRPr>
            </a:p>
          </p:txBody>
        </p:sp>
        <p:sp>
          <p:nvSpPr>
            <p:cNvPr id="30" name="object 30"/>
            <p:cNvSpPr txBox="1"/>
            <p:nvPr/>
          </p:nvSpPr>
          <p:spPr>
            <a:xfrm>
              <a:off x="1633215" y="1017835"/>
              <a:ext cx="565150" cy="290830"/>
            </a:xfrm>
            <a:prstGeom prst="rect">
              <a:avLst/>
            </a:prstGeom>
          </p:spPr>
          <p:txBody>
            <a:bodyPr vert="vert270" wrap="square" lIns="0" tIns="0" rIns="0" bIns="0" rtlCol="0">
              <a:spAutoFit/>
            </a:bodyPr>
            <a:lstStyle/>
            <a:p>
              <a:pPr marL="12700">
                <a:lnSpc>
                  <a:spcPts val="4300"/>
                </a:lnSpc>
              </a:pPr>
              <a:r>
                <a:rPr sz="3800" spc="-50" dirty="0">
                  <a:latin typeface="Arial MT"/>
                  <a:cs typeface="Arial MT"/>
                </a:rPr>
                <a:t>≈</a:t>
              </a:r>
              <a:endParaRPr sz="3800">
                <a:latin typeface="Arial MT"/>
                <a:cs typeface="Arial MT"/>
              </a:endParaRPr>
            </a:p>
          </p:txBody>
        </p:sp>
        <p:sp>
          <p:nvSpPr>
            <p:cNvPr id="31" name="object 31"/>
            <p:cNvSpPr txBox="1"/>
            <p:nvPr/>
          </p:nvSpPr>
          <p:spPr>
            <a:xfrm>
              <a:off x="10693400" y="952500"/>
              <a:ext cx="534035" cy="39116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2400" dirty="0">
                  <a:latin typeface="Arial MT"/>
                  <a:cs typeface="Arial MT"/>
                </a:rPr>
                <a:t>9</a:t>
              </a:r>
              <a:r>
                <a:rPr sz="2400" spc="-15" dirty="0">
                  <a:latin typeface="Arial MT"/>
                  <a:cs typeface="Arial MT"/>
                </a:rPr>
                <a:t> </a:t>
              </a:r>
              <a:r>
                <a:rPr sz="2400" spc="-50" dirty="0">
                  <a:latin typeface="Arial MT"/>
                  <a:cs typeface="Arial MT"/>
                </a:rPr>
                <a:t>m</a:t>
              </a:r>
              <a:endParaRPr sz="2400">
                <a:latin typeface="Arial MT"/>
                <a:cs typeface="Arial MT"/>
              </a:endParaRPr>
            </a:p>
          </p:txBody>
        </p:sp>
        <p:sp>
          <p:nvSpPr>
            <p:cNvPr id="32" name="object 32"/>
            <p:cNvSpPr txBox="1"/>
            <p:nvPr/>
          </p:nvSpPr>
          <p:spPr>
            <a:xfrm>
              <a:off x="10307315" y="1005135"/>
              <a:ext cx="565150" cy="290830"/>
            </a:xfrm>
            <a:prstGeom prst="rect">
              <a:avLst/>
            </a:prstGeom>
          </p:spPr>
          <p:txBody>
            <a:bodyPr vert="vert270" wrap="square" lIns="0" tIns="0" rIns="0" bIns="0" rtlCol="0">
              <a:spAutoFit/>
            </a:bodyPr>
            <a:lstStyle/>
            <a:p>
              <a:pPr marL="12700">
                <a:lnSpc>
                  <a:spcPts val="4300"/>
                </a:lnSpc>
              </a:pPr>
              <a:r>
                <a:rPr sz="3800" spc="-50" dirty="0">
                  <a:latin typeface="Arial MT"/>
                  <a:cs typeface="Arial MT"/>
                </a:rPr>
                <a:t>≈</a:t>
              </a:r>
              <a:endParaRPr sz="3800">
                <a:latin typeface="Arial MT"/>
                <a:cs typeface="Arial MT"/>
              </a:endParaRPr>
            </a:p>
          </p:txBody>
        </p:sp>
        <p:pic>
          <p:nvPicPr>
            <p:cNvPr id="50" name="Picture 49">
              <a:extLst>
                <a:ext uri="{FF2B5EF4-FFF2-40B4-BE49-F238E27FC236}">
                  <a16:creationId xmlns:a16="http://schemas.microsoft.com/office/drawing/2014/main" id="{FD48B0C3-BC17-4F33-B579-517BE2D3A93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37785" y="1343660"/>
              <a:ext cx="11732558" cy="1482765"/>
            </a:xfrm>
            <a:prstGeom prst="rect">
              <a:avLst/>
            </a:prstGeom>
          </p:spPr>
        </p:pic>
      </p:grpSp>
      <p:pic>
        <p:nvPicPr>
          <p:cNvPr id="53" name="Picture 52">
            <a:extLst>
              <a:ext uri="{FF2B5EF4-FFF2-40B4-BE49-F238E27FC236}">
                <a16:creationId xmlns:a16="http://schemas.microsoft.com/office/drawing/2014/main" id="{A3F74DFC-9DD3-4727-A250-900AD7AC94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1417" y="4847736"/>
            <a:ext cx="3845677" cy="1216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971610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32">
            <a:extLst>
              <a:ext uri="{FF2B5EF4-FFF2-40B4-BE49-F238E27FC236}">
                <a16:creationId xmlns:a16="http://schemas.microsoft.com/office/drawing/2014/main" id="{0F978FD1-F7D8-4604-BE80-3599C2E097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3642" y="4406058"/>
            <a:ext cx="3763806" cy="1170962"/>
          </a:xfrm>
          <a:prstGeom prst="rect">
            <a:avLst/>
          </a:prstGeom>
        </p:spPr>
      </p:pic>
      <p:pic>
        <p:nvPicPr>
          <p:cNvPr id="2" name="object 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726754" y="0"/>
            <a:ext cx="5278045" cy="203200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38125">
              <a:lnSpc>
                <a:spcPct val="100000"/>
              </a:lnSpc>
              <a:spcBef>
                <a:spcPts val="100"/>
              </a:spcBef>
            </a:pPr>
            <a:r>
              <a:rPr dirty="0"/>
              <a:t>Follath</a:t>
            </a:r>
            <a:r>
              <a:rPr spc="-100" dirty="0"/>
              <a:t> </a:t>
            </a:r>
            <a:r>
              <a:rPr dirty="0"/>
              <a:t>Collimated</a:t>
            </a:r>
            <a:r>
              <a:rPr spc="-95" dirty="0"/>
              <a:t> </a:t>
            </a:r>
            <a:r>
              <a:rPr dirty="0"/>
              <a:t>PGM,</a:t>
            </a:r>
            <a:r>
              <a:rPr spc="-155" dirty="0"/>
              <a:t> </a:t>
            </a:r>
            <a:r>
              <a:rPr dirty="0">
                <a:solidFill>
                  <a:srgbClr val="FF2600"/>
                </a:solidFill>
              </a:rPr>
              <a:t>TM,</a:t>
            </a:r>
            <a:r>
              <a:rPr spc="-95" dirty="0">
                <a:solidFill>
                  <a:srgbClr val="FF2600"/>
                </a:solidFill>
              </a:rPr>
              <a:t> </a:t>
            </a:r>
            <a:r>
              <a:rPr dirty="0">
                <a:solidFill>
                  <a:srgbClr val="FF2600"/>
                </a:solidFill>
              </a:rPr>
              <a:t>CM:</a:t>
            </a:r>
            <a:r>
              <a:rPr spc="-95" dirty="0">
                <a:solidFill>
                  <a:srgbClr val="FF2600"/>
                </a:solidFill>
              </a:rPr>
              <a:t> </a:t>
            </a:r>
            <a:r>
              <a:rPr dirty="0">
                <a:solidFill>
                  <a:srgbClr val="FF2600"/>
                </a:solidFill>
              </a:rPr>
              <a:t>hor</a:t>
            </a:r>
            <a:r>
              <a:rPr spc="-95" dirty="0">
                <a:solidFill>
                  <a:srgbClr val="FF2600"/>
                </a:solidFill>
              </a:rPr>
              <a:t> </a:t>
            </a:r>
            <a:r>
              <a:rPr dirty="0">
                <a:solidFill>
                  <a:srgbClr val="FF2600"/>
                </a:solidFill>
              </a:rPr>
              <a:t>plane</a:t>
            </a:r>
            <a:r>
              <a:rPr dirty="0"/>
              <a:t>;</a:t>
            </a:r>
            <a:r>
              <a:rPr spc="-100" dirty="0"/>
              <a:t> </a:t>
            </a:r>
            <a:r>
              <a:rPr spc="-25" dirty="0"/>
              <a:t>c=2</a:t>
            </a:r>
          </a:p>
        </p:txBody>
      </p:sp>
      <p:sp>
        <p:nvSpPr>
          <p:cNvPr id="44" name="object 4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pc="-10" dirty="0"/>
              <a:t>Software</a:t>
            </a:r>
            <a:r>
              <a:rPr spc="-50" dirty="0"/>
              <a:t> </a:t>
            </a:r>
            <a:r>
              <a:rPr dirty="0"/>
              <a:t>for</a:t>
            </a:r>
            <a:r>
              <a:rPr spc="-45" dirty="0"/>
              <a:t> </a:t>
            </a:r>
            <a:r>
              <a:rPr dirty="0"/>
              <a:t>Optical</a:t>
            </a:r>
            <a:r>
              <a:rPr spc="-45" dirty="0"/>
              <a:t> </a:t>
            </a:r>
            <a:r>
              <a:rPr dirty="0"/>
              <a:t>Simulations,</a:t>
            </a:r>
            <a:r>
              <a:rPr spc="-45" dirty="0"/>
              <a:t> </a:t>
            </a:r>
            <a:r>
              <a:rPr spc="-20" dirty="0"/>
              <a:t>Trieste,</a:t>
            </a:r>
            <a:r>
              <a:rPr spc="-45" dirty="0"/>
              <a:t> </a:t>
            </a:r>
            <a:r>
              <a:rPr dirty="0"/>
              <a:t>October</a:t>
            </a:r>
            <a:r>
              <a:rPr spc="-45" dirty="0"/>
              <a:t> </a:t>
            </a:r>
            <a:r>
              <a:rPr dirty="0"/>
              <a:t>2016.</a:t>
            </a:r>
            <a:r>
              <a:rPr spc="-45" dirty="0"/>
              <a:t> </a:t>
            </a:r>
            <a:r>
              <a:rPr dirty="0"/>
              <a:t>Ruben</a:t>
            </a:r>
            <a:r>
              <a:rPr spc="-45" dirty="0"/>
              <a:t> </a:t>
            </a:r>
            <a:r>
              <a:rPr spc="-10" dirty="0"/>
              <a:t>Reininger</a:t>
            </a:r>
          </a:p>
        </p:txBody>
      </p:sp>
      <p:sp>
        <p:nvSpPr>
          <p:cNvPr id="45" name="object 4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25" dirty="0"/>
              <a:t>35</a:t>
            </a:fld>
            <a:endParaRPr spc="-25" dirty="0"/>
          </a:p>
        </p:txBody>
      </p:sp>
      <p:sp>
        <p:nvSpPr>
          <p:cNvPr id="46" name="object 46"/>
          <p:cNvSpPr txBox="1"/>
          <p:nvPr/>
        </p:nvSpPr>
        <p:spPr>
          <a:xfrm>
            <a:off x="1069339" y="9384967"/>
            <a:ext cx="72390" cy="211454"/>
          </a:xfrm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sz="1200" spc="-50" dirty="0">
                <a:solidFill>
                  <a:srgbClr val="275D90"/>
                </a:solidFill>
                <a:latin typeface="Calibri"/>
                <a:cs typeface="Calibri"/>
              </a:rPr>
              <a:t>-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08E7F49-E9C0-405F-BA8A-DCE6A548217D}"/>
              </a:ext>
            </a:extLst>
          </p:cNvPr>
          <p:cNvSpPr/>
          <p:nvPr/>
        </p:nvSpPr>
        <p:spPr>
          <a:xfrm>
            <a:off x="0" y="-32460"/>
            <a:ext cx="38266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04_CollimatedPGM1000eVc2.ows</a:t>
            </a: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E8424FA0-340B-4B1F-B782-ECAEFE37FFA2}"/>
              </a:ext>
            </a:extLst>
          </p:cNvPr>
          <p:cNvGrpSpPr/>
          <p:nvPr/>
        </p:nvGrpSpPr>
        <p:grpSpPr>
          <a:xfrm>
            <a:off x="637785" y="952500"/>
            <a:ext cx="11732558" cy="1873925"/>
            <a:chOff x="637785" y="952500"/>
            <a:chExt cx="11732558" cy="1873925"/>
          </a:xfrm>
        </p:grpSpPr>
        <p:grpSp>
          <p:nvGrpSpPr>
            <p:cNvPr id="7" name="object 7"/>
            <p:cNvGrpSpPr/>
            <p:nvPr/>
          </p:nvGrpSpPr>
          <p:grpSpPr>
            <a:xfrm>
              <a:off x="1133094" y="1099626"/>
              <a:ext cx="795020" cy="167640"/>
              <a:chOff x="1133094" y="1099626"/>
              <a:chExt cx="795020" cy="167640"/>
            </a:xfrm>
          </p:grpSpPr>
          <p:sp>
            <p:nvSpPr>
              <p:cNvPr id="8" name="object 8"/>
              <p:cNvSpPr/>
              <p:nvPr/>
            </p:nvSpPr>
            <p:spPr>
              <a:xfrm>
                <a:off x="1281684" y="1183446"/>
                <a:ext cx="64643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46430">
                    <a:moveTo>
                      <a:pt x="0" y="0"/>
                    </a:moveTo>
                    <a:lnTo>
                      <a:pt x="645899" y="0"/>
                    </a:lnTo>
                  </a:path>
                </a:pathLst>
              </a:custGeom>
              <a:ln w="38100">
                <a:solidFill>
                  <a:srgbClr val="91919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" name="object 9"/>
              <p:cNvSpPr/>
              <p:nvPr/>
            </p:nvSpPr>
            <p:spPr>
              <a:xfrm>
                <a:off x="1133094" y="1099626"/>
                <a:ext cx="167640" cy="167640"/>
              </a:xfrm>
              <a:custGeom>
                <a:avLst/>
                <a:gdLst/>
                <a:ahLst/>
                <a:cxnLst/>
                <a:rect l="l" t="t" r="r" b="b"/>
                <a:pathLst>
                  <a:path w="167640" h="167640">
                    <a:moveTo>
                      <a:pt x="167640" y="0"/>
                    </a:moveTo>
                    <a:lnTo>
                      <a:pt x="0" y="83820"/>
                    </a:lnTo>
                    <a:lnTo>
                      <a:pt x="167640" y="167640"/>
                    </a:lnTo>
                    <a:lnTo>
                      <a:pt x="167640" y="0"/>
                    </a:lnTo>
                    <a:close/>
                  </a:path>
                </a:pathLst>
              </a:custGeom>
              <a:solidFill>
                <a:srgbClr val="919191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10" name="object 10"/>
            <p:cNvGrpSpPr/>
            <p:nvPr/>
          </p:nvGrpSpPr>
          <p:grpSpPr>
            <a:xfrm>
              <a:off x="2777298" y="1099626"/>
              <a:ext cx="3039745" cy="167640"/>
              <a:chOff x="2777298" y="1099626"/>
              <a:chExt cx="3039745" cy="167640"/>
            </a:xfrm>
          </p:grpSpPr>
          <p:sp>
            <p:nvSpPr>
              <p:cNvPr id="11" name="object 11"/>
              <p:cNvSpPr/>
              <p:nvPr/>
            </p:nvSpPr>
            <p:spPr>
              <a:xfrm>
                <a:off x="2777298" y="1183446"/>
                <a:ext cx="316230" cy="0"/>
              </a:xfrm>
              <a:custGeom>
                <a:avLst/>
                <a:gdLst/>
                <a:ahLst/>
                <a:cxnLst/>
                <a:rect l="l" t="t" r="r" b="b"/>
                <a:pathLst>
                  <a:path w="316230">
                    <a:moveTo>
                      <a:pt x="0" y="0"/>
                    </a:moveTo>
                    <a:lnTo>
                      <a:pt x="315698" y="0"/>
                    </a:lnTo>
                  </a:path>
                </a:pathLst>
              </a:custGeom>
              <a:ln w="38100">
                <a:solidFill>
                  <a:srgbClr val="91919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" name="object 12"/>
              <p:cNvSpPr/>
              <p:nvPr/>
            </p:nvSpPr>
            <p:spPr>
              <a:xfrm>
                <a:off x="3073947" y="1099626"/>
                <a:ext cx="167640" cy="167640"/>
              </a:xfrm>
              <a:custGeom>
                <a:avLst/>
                <a:gdLst/>
                <a:ahLst/>
                <a:cxnLst/>
                <a:rect l="l" t="t" r="r" b="b"/>
                <a:pathLst>
                  <a:path w="167639" h="167640">
                    <a:moveTo>
                      <a:pt x="0" y="0"/>
                    </a:moveTo>
                    <a:lnTo>
                      <a:pt x="0" y="167640"/>
                    </a:lnTo>
                    <a:lnTo>
                      <a:pt x="167639" y="8382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19191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3290026" y="1183446"/>
                <a:ext cx="2526665" cy="0"/>
              </a:xfrm>
              <a:custGeom>
                <a:avLst/>
                <a:gdLst/>
                <a:ahLst/>
                <a:cxnLst/>
                <a:rect l="l" t="t" r="r" b="b"/>
                <a:pathLst>
                  <a:path w="2526665">
                    <a:moveTo>
                      <a:pt x="0" y="0"/>
                    </a:moveTo>
                    <a:lnTo>
                      <a:pt x="2526578" y="0"/>
                    </a:lnTo>
                  </a:path>
                </a:pathLst>
              </a:custGeom>
              <a:ln w="38100">
                <a:solidFill>
                  <a:srgbClr val="91919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" name="object 14"/>
              <p:cNvSpPr/>
              <p:nvPr/>
            </p:nvSpPr>
            <p:spPr>
              <a:xfrm>
                <a:off x="3141436" y="1099626"/>
                <a:ext cx="167640" cy="167640"/>
              </a:xfrm>
              <a:custGeom>
                <a:avLst/>
                <a:gdLst/>
                <a:ahLst/>
                <a:cxnLst/>
                <a:rect l="l" t="t" r="r" b="b"/>
                <a:pathLst>
                  <a:path w="167639" h="167640">
                    <a:moveTo>
                      <a:pt x="167640" y="0"/>
                    </a:moveTo>
                    <a:lnTo>
                      <a:pt x="0" y="83820"/>
                    </a:lnTo>
                    <a:lnTo>
                      <a:pt x="167640" y="167640"/>
                    </a:lnTo>
                    <a:lnTo>
                      <a:pt x="167640" y="0"/>
                    </a:lnTo>
                    <a:close/>
                  </a:path>
                </a:pathLst>
              </a:custGeom>
              <a:solidFill>
                <a:srgbClr val="919191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15" name="object 15"/>
            <p:cNvGrpSpPr/>
            <p:nvPr/>
          </p:nvGrpSpPr>
          <p:grpSpPr>
            <a:xfrm>
              <a:off x="6496803" y="1099626"/>
              <a:ext cx="1885950" cy="167640"/>
              <a:chOff x="6496803" y="1099626"/>
              <a:chExt cx="1885950" cy="167640"/>
            </a:xfrm>
          </p:grpSpPr>
          <p:sp>
            <p:nvSpPr>
              <p:cNvPr id="16" name="object 16"/>
              <p:cNvSpPr/>
              <p:nvPr/>
            </p:nvSpPr>
            <p:spPr>
              <a:xfrm>
                <a:off x="6496803" y="1183446"/>
                <a:ext cx="945515" cy="0"/>
              </a:xfrm>
              <a:custGeom>
                <a:avLst/>
                <a:gdLst/>
                <a:ahLst/>
                <a:cxnLst/>
                <a:rect l="l" t="t" r="r" b="b"/>
                <a:pathLst>
                  <a:path w="945515">
                    <a:moveTo>
                      <a:pt x="0" y="0"/>
                    </a:moveTo>
                    <a:lnTo>
                      <a:pt x="945102" y="0"/>
                    </a:lnTo>
                  </a:path>
                </a:pathLst>
              </a:custGeom>
              <a:ln w="38100">
                <a:solidFill>
                  <a:srgbClr val="91919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" name="object 17"/>
              <p:cNvSpPr/>
              <p:nvPr/>
            </p:nvSpPr>
            <p:spPr>
              <a:xfrm>
                <a:off x="7422855" y="1099626"/>
                <a:ext cx="167640" cy="167640"/>
              </a:xfrm>
              <a:custGeom>
                <a:avLst/>
                <a:gdLst/>
                <a:ahLst/>
                <a:cxnLst/>
                <a:rect l="l" t="t" r="r" b="b"/>
                <a:pathLst>
                  <a:path w="167640" h="167640">
                    <a:moveTo>
                      <a:pt x="0" y="0"/>
                    </a:moveTo>
                    <a:lnTo>
                      <a:pt x="0" y="167640"/>
                    </a:lnTo>
                    <a:lnTo>
                      <a:pt x="167639" y="8382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19191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7706906" y="1183446"/>
                <a:ext cx="67627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76275">
                    <a:moveTo>
                      <a:pt x="0" y="0"/>
                    </a:moveTo>
                    <a:lnTo>
                      <a:pt x="675739" y="0"/>
                    </a:lnTo>
                  </a:path>
                </a:pathLst>
              </a:custGeom>
              <a:ln w="38100">
                <a:solidFill>
                  <a:srgbClr val="91919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" name="object 19"/>
              <p:cNvSpPr/>
              <p:nvPr/>
            </p:nvSpPr>
            <p:spPr>
              <a:xfrm>
                <a:off x="7558316" y="1099626"/>
                <a:ext cx="167640" cy="167640"/>
              </a:xfrm>
              <a:custGeom>
                <a:avLst/>
                <a:gdLst/>
                <a:ahLst/>
                <a:cxnLst/>
                <a:rect l="l" t="t" r="r" b="b"/>
                <a:pathLst>
                  <a:path w="167640" h="167640">
                    <a:moveTo>
                      <a:pt x="167639" y="0"/>
                    </a:moveTo>
                    <a:lnTo>
                      <a:pt x="0" y="83820"/>
                    </a:lnTo>
                    <a:lnTo>
                      <a:pt x="167639" y="167640"/>
                    </a:lnTo>
                    <a:lnTo>
                      <a:pt x="167639" y="0"/>
                    </a:lnTo>
                    <a:close/>
                  </a:path>
                </a:pathLst>
              </a:custGeom>
              <a:solidFill>
                <a:srgbClr val="919191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21" name="object 21"/>
            <p:cNvGrpSpPr/>
            <p:nvPr/>
          </p:nvGrpSpPr>
          <p:grpSpPr>
            <a:xfrm>
              <a:off x="9165680" y="1099625"/>
              <a:ext cx="943577" cy="164543"/>
              <a:chOff x="9062844" y="1099626"/>
              <a:chExt cx="1536700" cy="167640"/>
            </a:xfrm>
          </p:grpSpPr>
          <p:sp>
            <p:nvSpPr>
              <p:cNvPr id="22" name="object 22"/>
              <p:cNvSpPr/>
              <p:nvPr/>
            </p:nvSpPr>
            <p:spPr>
              <a:xfrm>
                <a:off x="10019315" y="1183446"/>
                <a:ext cx="580390" cy="0"/>
              </a:xfrm>
              <a:custGeom>
                <a:avLst/>
                <a:gdLst/>
                <a:ahLst/>
                <a:cxnLst/>
                <a:rect l="l" t="t" r="r" b="b"/>
                <a:pathLst>
                  <a:path w="580390">
                    <a:moveTo>
                      <a:pt x="0" y="0"/>
                    </a:moveTo>
                    <a:lnTo>
                      <a:pt x="580030" y="0"/>
                    </a:lnTo>
                  </a:path>
                </a:pathLst>
              </a:custGeom>
              <a:ln w="38100">
                <a:solidFill>
                  <a:srgbClr val="91919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" name="object 23"/>
              <p:cNvSpPr/>
              <p:nvPr/>
            </p:nvSpPr>
            <p:spPr>
              <a:xfrm>
                <a:off x="9870725" y="1099626"/>
                <a:ext cx="167640" cy="167640"/>
              </a:xfrm>
              <a:custGeom>
                <a:avLst/>
                <a:gdLst/>
                <a:ahLst/>
                <a:cxnLst/>
                <a:rect l="l" t="t" r="r" b="b"/>
                <a:pathLst>
                  <a:path w="167640" h="167640">
                    <a:moveTo>
                      <a:pt x="167640" y="0"/>
                    </a:moveTo>
                    <a:lnTo>
                      <a:pt x="0" y="83820"/>
                    </a:lnTo>
                    <a:lnTo>
                      <a:pt x="167640" y="167640"/>
                    </a:lnTo>
                    <a:lnTo>
                      <a:pt x="167640" y="0"/>
                    </a:lnTo>
                    <a:close/>
                  </a:path>
                </a:pathLst>
              </a:custGeom>
              <a:solidFill>
                <a:srgbClr val="919191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" name="object 24"/>
              <p:cNvSpPr/>
              <p:nvPr/>
            </p:nvSpPr>
            <p:spPr>
              <a:xfrm>
                <a:off x="9062844" y="1183446"/>
                <a:ext cx="67627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76275">
                    <a:moveTo>
                      <a:pt x="0" y="0"/>
                    </a:moveTo>
                    <a:lnTo>
                      <a:pt x="675737" y="0"/>
                    </a:lnTo>
                  </a:path>
                </a:pathLst>
              </a:custGeom>
              <a:ln w="38100">
                <a:solidFill>
                  <a:srgbClr val="91919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" name="object 25"/>
              <p:cNvSpPr/>
              <p:nvPr/>
            </p:nvSpPr>
            <p:spPr>
              <a:xfrm>
                <a:off x="9719533" y="1099626"/>
                <a:ext cx="167640" cy="167640"/>
              </a:xfrm>
              <a:custGeom>
                <a:avLst/>
                <a:gdLst/>
                <a:ahLst/>
                <a:cxnLst/>
                <a:rect l="l" t="t" r="r" b="b"/>
                <a:pathLst>
                  <a:path w="167640" h="167640">
                    <a:moveTo>
                      <a:pt x="0" y="0"/>
                    </a:moveTo>
                    <a:lnTo>
                      <a:pt x="0" y="167640"/>
                    </a:lnTo>
                    <a:lnTo>
                      <a:pt x="167640" y="8382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19191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26" name="object 26"/>
            <p:cNvGrpSpPr/>
            <p:nvPr/>
          </p:nvGrpSpPr>
          <p:grpSpPr>
            <a:xfrm>
              <a:off x="11375604" y="1099626"/>
              <a:ext cx="603885" cy="167640"/>
              <a:chOff x="11375604" y="1099626"/>
              <a:chExt cx="603885" cy="167640"/>
            </a:xfrm>
          </p:grpSpPr>
          <p:sp>
            <p:nvSpPr>
              <p:cNvPr id="27" name="object 27"/>
              <p:cNvSpPr/>
              <p:nvPr/>
            </p:nvSpPr>
            <p:spPr>
              <a:xfrm>
                <a:off x="11375604" y="1183446"/>
                <a:ext cx="455295" cy="0"/>
              </a:xfrm>
              <a:custGeom>
                <a:avLst/>
                <a:gdLst/>
                <a:ahLst/>
                <a:cxnLst/>
                <a:rect l="l" t="t" r="r" b="b"/>
                <a:pathLst>
                  <a:path w="455295">
                    <a:moveTo>
                      <a:pt x="0" y="0"/>
                    </a:moveTo>
                    <a:lnTo>
                      <a:pt x="455023" y="0"/>
                    </a:lnTo>
                  </a:path>
                </a:pathLst>
              </a:custGeom>
              <a:ln w="38100">
                <a:solidFill>
                  <a:srgbClr val="919191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" name="object 28"/>
              <p:cNvSpPr/>
              <p:nvPr/>
            </p:nvSpPr>
            <p:spPr>
              <a:xfrm>
                <a:off x="11811578" y="1099626"/>
                <a:ext cx="167640" cy="167640"/>
              </a:xfrm>
              <a:custGeom>
                <a:avLst/>
                <a:gdLst/>
                <a:ahLst/>
                <a:cxnLst/>
                <a:rect l="l" t="t" r="r" b="b"/>
                <a:pathLst>
                  <a:path w="167640" h="167640">
                    <a:moveTo>
                      <a:pt x="0" y="0"/>
                    </a:moveTo>
                    <a:lnTo>
                      <a:pt x="0" y="167640"/>
                    </a:lnTo>
                    <a:lnTo>
                      <a:pt x="167640" y="8382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19191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9" name="object 29"/>
            <p:cNvSpPr txBox="1"/>
            <p:nvPr/>
          </p:nvSpPr>
          <p:spPr>
            <a:xfrm>
              <a:off x="2019300" y="977900"/>
              <a:ext cx="7065242" cy="391156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  <a:tabLst>
                  <a:tab pos="3910965" algn="l"/>
                  <a:tab pos="6476365" algn="l"/>
                </a:tabLst>
              </a:pPr>
              <a:r>
                <a:rPr sz="2400" dirty="0">
                  <a:latin typeface="Arial MT"/>
                  <a:cs typeface="Arial MT"/>
                </a:rPr>
                <a:t>28</a:t>
              </a:r>
              <a:r>
                <a:rPr sz="2400" spc="-30" dirty="0">
                  <a:latin typeface="Arial MT"/>
                  <a:cs typeface="Arial MT"/>
                </a:rPr>
                <a:t> </a:t>
              </a:r>
              <a:r>
                <a:rPr sz="2400" spc="-50" dirty="0">
                  <a:latin typeface="Arial MT"/>
                  <a:cs typeface="Arial MT"/>
                </a:rPr>
                <a:t>m</a:t>
              </a:r>
              <a:r>
                <a:rPr sz="2400" dirty="0">
                  <a:latin typeface="Arial MT"/>
                  <a:cs typeface="Arial MT"/>
                </a:rPr>
                <a:t>	2</a:t>
              </a:r>
              <a:r>
                <a:rPr sz="2400" spc="-15" dirty="0">
                  <a:latin typeface="Arial MT"/>
                  <a:cs typeface="Arial MT"/>
                </a:rPr>
                <a:t> </a:t>
              </a:r>
              <a:r>
                <a:rPr sz="2400" spc="-50" dirty="0">
                  <a:latin typeface="Arial MT"/>
                  <a:cs typeface="Arial MT"/>
                </a:rPr>
                <a:t>m</a:t>
              </a:r>
              <a:r>
                <a:rPr sz="2400" dirty="0">
                  <a:latin typeface="Arial MT"/>
                  <a:cs typeface="Arial MT"/>
                </a:rPr>
                <a:t>	1</a:t>
              </a:r>
              <a:r>
                <a:rPr sz="2400" spc="-15" dirty="0">
                  <a:latin typeface="Arial MT"/>
                  <a:cs typeface="Arial MT"/>
                </a:rPr>
                <a:t> </a:t>
              </a:r>
              <a:r>
                <a:rPr sz="2400" spc="-50" dirty="0">
                  <a:latin typeface="Arial MT"/>
                  <a:cs typeface="Arial MT"/>
                </a:rPr>
                <a:t>m</a:t>
              </a:r>
              <a:endParaRPr sz="2400" dirty="0">
                <a:latin typeface="Arial MT"/>
                <a:cs typeface="Arial MT"/>
              </a:endParaRPr>
            </a:p>
          </p:txBody>
        </p:sp>
        <p:sp>
          <p:nvSpPr>
            <p:cNvPr id="30" name="object 30"/>
            <p:cNvSpPr txBox="1"/>
            <p:nvPr/>
          </p:nvSpPr>
          <p:spPr>
            <a:xfrm>
              <a:off x="1633215" y="1017835"/>
              <a:ext cx="565150" cy="290830"/>
            </a:xfrm>
            <a:prstGeom prst="rect">
              <a:avLst/>
            </a:prstGeom>
          </p:spPr>
          <p:txBody>
            <a:bodyPr vert="vert270" wrap="square" lIns="0" tIns="0" rIns="0" bIns="0" rtlCol="0">
              <a:spAutoFit/>
            </a:bodyPr>
            <a:lstStyle/>
            <a:p>
              <a:pPr marL="12700">
                <a:lnSpc>
                  <a:spcPts val="4300"/>
                </a:lnSpc>
              </a:pPr>
              <a:r>
                <a:rPr sz="3800" spc="-50" dirty="0">
                  <a:latin typeface="Arial MT"/>
                  <a:cs typeface="Arial MT"/>
                </a:rPr>
                <a:t>≈</a:t>
              </a:r>
              <a:endParaRPr sz="3800" dirty="0">
                <a:latin typeface="Arial MT"/>
                <a:cs typeface="Arial MT"/>
              </a:endParaRPr>
            </a:p>
          </p:txBody>
        </p:sp>
        <p:sp>
          <p:nvSpPr>
            <p:cNvPr id="31" name="object 31"/>
            <p:cNvSpPr txBox="1"/>
            <p:nvPr/>
          </p:nvSpPr>
          <p:spPr>
            <a:xfrm>
              <a:off x="10693400" y="952500"/>
              <a:ext cx="534035" cy="39116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2400" dirty="0">
                  <a:latin typeface="Arial MT"/>
                  <a:cs typeface="Arial MT"/>
                </a:rPr>
                <a:t>9</a:t>
              </a:r>
              <a:r>
                <a:rPr sz="2400" spc="-15" dirty="0">
                  <a:latin typeface="Arial MT"/>
                  <a:cs typeface="Arial MT"/>
                </a:rPr>
                <a:t> </a:t>
              </a:r>
              <a:r>
                <a:rPr sz="2400" spc="-50" dirty="0">
                  <a:latin typeface="Arial MT"/>
                  <a:cs typeface="Arial MT"/>
                </a:rPr>
                <a:t>m</a:t>
              </a:r>
              <a:endParaRPr sz="2400">
                <a:latin typeface="Arial MT"/>
                <a:cs typeface="Arial MT"/>
              </a:endParaRPr>
            </a:p>
          </p:txBody>
        </p:sp>
        <p:sp>
          <p:nvSpPr>
            <p:cNvPr id="32" name="object 32"/>
            <p:cNvSpPr txBox="1"/>
            <p:nvPr/>
          </p:nvSpPr>
          <p:spPr>
            <a:xfrm>
              <a:off x="10307315" y="1005135"/>
              <a:ext cx="565150" cy="290830"/>
            </a:xfrm>
            <a:prstGeom prst="rect">
              <a:avLst/>
            </a:prstGeom>
          </p:spPr>
          <p:txBody>
            <a:bodyPr vert="vert270" wrap="square" lIns="0" tIns="0" rIns="0" bIns="0" rtlCol="0">
              <a:spAutoFit/>
            </a:bodyPr>
            <a:lstStyle/>
            <a:p>
              <a:pPr marL="12700">
                <a:lnSpc>
                  <a:spcPts val="4300"/>
                </a:lnSpc>
              </a:pPr>
              <a:r>
                <a:rPr sz="3800" spc="-50" dirty="0">
                  <a:latin typeface="Arial MT"/>
                  <a:cs typeface="Arial MT"/>
                </a:rPr>
                <a:t>≈</a:t>
              </a:r>
              <a:endParaRPr sz="3800">
                <a:latin typeface="Arial MT"/>
                <a:cs typeface="Arial MT"/>
              </a:endParaRPr>
            </a:p>
          </p:txBody>
        </p:sp>
        <p:pic>
          <p:nvPicPr>
            <p:cNvPr id="50" name="Picture 49">
              <a:extLst>
                <a:ext uri="{FF2B5EF4-FFF2-40B4-BE49-F238E27FC236}">
                  <a16:creationId xmlns:a16="http://schemas.microsoft.com/office/drawing/2014/main" id="{FD48B0C3-BC17-4F33-B579-517BE2D3A93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37785" y="1343660"/>
              <a:ext cx="11732558" cy="1482765"/>
            </a:xfrm>
            <a:prstGeom prst="rect">
              <a:avLst/>
            </a:prstGeom>
          </p:spPr>
        </p:pic>
      </p:grpSp>
      <p:pic>
        <p:nvPicPr>
          <p:cNvPr id="53" name="Picture 52">
            <a:extLst>
              <a:ext uri="{FF2B5EF4-FFF2-40B4-BE49-F238E27FC236}">
                <a16:creationId xmlns:a16="http://schemas.microsoft.com/office/drawing/2014/main" id="{A3F74DFC-9DD3-4727-A250-900AD7AC94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7051" y="7304138"/>
            <a:ext cx="3845677" cy="121630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B4F3668-16C9-4111-8732-093B30E0DE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1687" y="3411108"/>
            <a:ext cx="2921841" cy="3350001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4180535-DD04-4AB3-BDB5-C704D610E71F}"/>
              </a:ext>
            </a:extLst>
          </p:cNvPr>
          <p:cNvCxnSpPr/>
          <p:nvPr/>
        </p:nvCxnSpPr>
        <p:spPr>
          <a:xfrm flipV="1">
            <a:off x="2777298" y="2826425"/>
            <a:ext cx="600902" cy="9073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Picture 19">
            <a:extLst>
              <a:ext uri="{FF2B5EF4-FFF2-40B4-BE49-F238E27FC236}">
                <a16:creationId xmlns:a16="http://schemas.microsoft.com/office/drawing/2014/main" id="{448A9B99-D31A-4CC0-82AD-E7F1ADEEC4A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07840" y="3434749"/>
            <a:ext cx="4867094" cy="4060393"/>
          </a:xfrm>
          <a:prstGeom prst="rect">
            <a:avLst/>
          </a:prstGeom>
        </p:spPr>
      </p:pic>
      <p:sp>
        <p:nvSpPr>
          <p:cNvPr id="54" name="object 15">
            <a:extLst>
              <a:ext uri="{FF2B5EF4-FFF2-40B4-BE49-F238E27FC236}">
                <a16:creationId xmlns:a16="http://schemas.microsoft.com/office/drawing/2014/main" id="{8646E698-6D29-406B-82E7-C5C3EFB57F83}"/>
              </a:ext>
            </a:extLst>
          </p:cNvPr>
          <p:cNvSpPr txBox="1"/>
          <p:nvPr/>
        </p:nvSpPr>
        <p:spPr>
          <a:xfrm>
            <a:off x="9887164" y="6699964"/>
            <a:ext cx="2307376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Arial MT"/>
                <a:cs typeface="Arial MT"/>
              </a:rPr>
              <a:t>No</a:t>
            </a:r>
            <a:r>
              <a:rPr sz="2400" spc="-35" dirty="0">
                <a:latin typeface="Arial MT"/>
                <a:cs typeface="Arial MT"/>
              </a:rPr>
              <a:t> </a:t>
            </a:r>
            <a:r>
              <a:rPr lang="en-US" sz="2400" spc="-25" dirty="0">
                <a:latin typeface="Arial MT"/>
                <a:cs typeface="Arial MT"/>
              </a:rPr>
              <a:t>slope errors</a:t>
            </a:r>
            <a:endParaRPr sz="2400" dirty="0">
              <a:latin typeface="Arial MT"/>
              <a:cs typeface="Arial MT"/>
            </a:endParaRPr>
          </a:p>
        </p:txBody>
      </p:sp>
      <p:sp>
        <p:nvSpPr>
          <p:cNvPr id="56" name="object 16">
            <a:extLst>
              <a:ext uri="{FF2B5EF4-FFF2-40B4-BE49-F238E27FC236}">
                <a16:creationId xmlns:a16="http://schemas.microsoft.com/office/drawing/2014/main" id="{14E485BA-F906-4DDD-AA9A-B6BDE0700419}"/>
              </a:ext>
            </a:extLst>
          </p:cNvPr>
          <p:cNvSpPr/>
          <p:nvPr/>
        </p:nvSpPr>
        <p:spPr>
          <a:xfrm>
            <a:off x="8960356" y="5463761"/>
            <a:ext cx="3489960" cy="1003300"/>
          </a:xfrm>
          <a:custGeom>
            <a:avLst/>
            <a:gdLst/>
            <a:ahLst/>
            <a:cxnLst/>
            <a:rect l="l" t="t" r="r" b="b"/>
            <a:pathLst>
              <a:path w="3489959" h="1003300">
                <a:moveTo>
                  <a:pt x="3416853" y="0"/>
                </a:moveTo>
                <a:lnTo>
                  <a:pt x="0" y="561839"/>
                </a:lnTo>
                <a:lnTo>
                  <a:pt x="72563" y="1003141"/>
                </a:lnTo>
                <a:lnTo>
                  <a:pt x="3489418" y="441302"/>
                </a:lnTo>
                <a:lnTo>
                  <a:pt x="341685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7" name="object 17">
            <a:extLst>
              <a:ext uri="{FF2B5EF4-FFF2-40B4-BE49-F238E27FC236}">
                <a16:creationId xmlns:a16="http://schemas.microsoft.com/office/drawing/2014/main" id="{7A22E02E-E37E-413F-9A54-7BA431280FE2}"/>
              </a:ext>
            </a:extLst>
          </p:cNvPr>
          <p:cNvSpPr txBox="1"/>
          <p:nvPr/>
        </p:nvSpPr>
        <p:spPr>
          <a:xfrm rot="21060000">
            <a:off x="9072250" y="5800692"/>
            <a:ext cx="3144174" cy="35496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795"/>
              </a:lnSpc>
            </a:pPr>
            <a:r>
              <a:rPr sz="2400" spc="-10" dirty="0">
                <a:solidFill>
                  <a:srgbClr val="FFFC79"/>
                </a:solidFill>
                <a:latin typeface="Arial MT"/>
                <a:cs typeface="Arial MT"/>
              </a:rPr>
              <a:t>Forg</a:t>
            </a:r>
            <a:r>
              <a:rPr sz="3600" spc="-15" baseline="1157" dirty="0">
                <a:solidFill>
                  <a:srgbClr val="FFFC79"/>
                </a:solidFill>
                <a:latin typeface="Arial MT"/>
                <a:cs typeface="Arial MT"/>
              </a:rPr>
              <a:t>iveness</a:t>
            </a:r>
            <a:r>
              <a:rPr sz="3600" spc="-209" baseline="1157" dirty="0">
                <a:solidFill>
                  <a:srgbClr val="FFFC79"/>
                </a:solidFill>
                <a:latin typeface="Arial MT"/>
                <a:cs typeface="Arial MT"/>
              </a:rPr>
              <a:t> </a:t>
            </a:r>
            <a:r>
              <a:rPr sz="3600" baseline="2314" dirty="0">
                <a:solidFill>
                  <a:srgbClr val="FFFC79"/>
                </a:solidFill>
                <a:latin typeface="Arial MT"/>
                <a:cs typeface="Arial MT"/>
              </a:rPr>
              <a:t>Factor:</a:t>
            </a:r>
            <a:r>
              <a:rPr sz="3600" spc="-209" baseline="2314" dirty="0">
                <a:solidFill>
                  <a:srgbClr val="FFFC79"/>
                </a:solidFill>
                <a:latin typeface="Arial MT"/>
                <a:cs typeface="Arial MT"/>
              </a:rPr>
              <a:t> </a:t>
            </a:r>
            <a:r>
              <a:rPr sz="3600" spc="-37" baseline="3472" dirty="0">
                <a:solidFill>
                  <a:srgbClr val="FFFC79"/>
                </a:solidFill>
                <a:latin typeface="Arial MT"/>
                <a:cs typeface="Arial MT"/>
              </a:rPr>
              <a:t>×</a:t>
            </a:r>
            <a:r>
              <a:rPr sz="3600" i="1" spc="-37" baseline="3472" dirty="0">
                <a:solidFill>
                  <a:srgbClr val="FFFC79"/>
                </a:solidFill>
                <a:latin typeface="Arial"/>
                <a:cs typeface="Arial"/>
              </a:rPr>
              <a:t>θ</a:t>
            </a:r>
            <a:endParaRPr sz="3600" baseline="3472">
              <a:latin typeface="Arial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A1184A-465C-47A0-B968-A3A4B6B0EFD6}"/>
              </a:ext>
            </a:extLst>
          </p:cNvPr>
          <p:cNvSpPr txBox="1"/>
          <p:nvPr/>
        </p:nvSpPr>
        <p:spPr>
          <a:xfrm>
            <a:off x="9887164" y="3850651"/>
            <a:ext cx="24923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latin typeface="Arial MT"/>
                <a:cs typeface="Arial MT"/>
              </a:rPr>
              <a:t>With</a:t>
            </a:r>
            <a:r>
              <a:rPr lang="en-GB" sz="2400" spc="-50" dirty="0">
                <a:latin typeface="Arial MT"/>
                <a:cs typeface="Arial MT"/>
              </a:rPr>
              <a:t> </a:t>
            </a:r>
            <a:r>
              <a:rPr lang="en-GB" sz="2400" dirty="0">
                <a:latin typeface="Arial MT"/>
                <a:cs typeface="Arial MT"/>
              </a:rPr>
              <a:t>slope</a:t>
            </a:r>
            <a:r>
              <a:rPr lang="en-GB" sz="2400" spc="-45" dirty="0">
                <a:latin typeface="Arial MT"/>
                <a:cs typeface="Arial MT"/>
              </a:rPr>
              <a:t> </a:t>
            </a:r>
            <a:r>
              <a:rPr lang="en-GB" sz="2400" spc="-10" dirty="0">
                <a:latin typeface="Arial MT"/>
                <a:cs typeface="Arial MT"/>
              </a:rPr>
              <a:t>errors</a:t>
            </a:r>
            <a:endParaRPr lang="en-GB" sz="2400" dirty="0">
              <a:latin typeface="Arial MT"/>
              <a:cs typeface="Arial MT"/>
            </a:endParaRPr>
          </a:p>
        </p:txBody>
      </p:sp>
    </p:spTree>
    <p:extLst>
      <p:ext uri="{BB962C8B-B14F-4D97-AF65-F5344CB8AC3E}">
        <p14:creationId xmlns:p14="http://schemas.microsoft.com/office/powerpoint/2010/main" val="379202110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>
            <a:extLst>
              <a:ext uri="{FF2B5EF4-FFF2-40B4-BE49-F238E27FC236}">
                <a16:creationId xmlns:a16="http://schemas.microsoft.com/office/drawing/2014/main" id="{FD8E8A96-B0C9-45A3-AAF6-9815326FB7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785" y="1343660"/>
            <a:ext cx="11732558" cy="148276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16CBCF95-736E-40F6-9AEF-3F403407A6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0950" y="3898900"/>
            <a:ext cx="5466217" cy="4439414"/>
          </a:xfrm>
          <a:prstGeom prst="rect">
            <a:avLst/>
          </a:prstGeom>
        </p:spPr>
      </p:pic>
      <p:pic>
        <p:nvPicPr>
          <p:cNvPr id="2" name="object 2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726754" y="0"/>
            <a:ext cx="5278045" cy="203200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01625">
              <a:lnSpc>
                <a:spcPct val="100000"/>
              </a:lnSpc>
              <a:spcBef>
                <a:spcPts val="100"/>
              </a:spcBef>
            </a:pPr>
            <a:r>
              <a:rPr dirty="0"/>
              <a:t>Collimated</a:t>
            </a:r>
            <a:r>
              <a:rPr spc="-85" dirty="0"/>
              <a:t> </a:t>
            </a:r>
            <a:r>
              <a:rPr dirty="0"/>
              <a:t>PGM,</a:t>
            </a:r>
            <a:r>
              <a:rPr spc="-145" dirty="0"/>
              <a:t> </a:t>
            </a:r>
            <a:r>
              <a:rPr dirty="0">
                <a:solidFill>
                  <a:srgbClr val="FF2600"/>
                </a:solidFill>
              </a:rPr>
              <a:t>TM,</a:t>
            </a:r>
            <a:r>
              <a:rPr spc="-85" dirty="0">
                <a:solidFill>
                  <a:srgbClr val="FF2600"/>
                </a:solidFill>
              </a:rPr>
              <a:t> </a:t>
            </a:r>
            <a:r>
              <a:rPr dirty="0">
                <a:solidFill>
                  <a:srgbClr val="FF2600"/>
                </a:solidFill>
              </a:rPr>
              <a:t>CM:</a:t>
            </a:r>
            <a:r>
              <a:rPr spc="-85" dirty="0">
                <a:solidFill>
                  <a:srgbClr val="FF2600"/>
                </a:solidFill>
              </a:rPr>
              <a:t> </a:t>
            </a:r>
            <a:r>
              <a:rPr dirty="0">
                <a:solidFill>
                  <a:srgbClr val="FF2600"/>
                </a:solidFill>
              </a:rPr>
              <a:t>horizontal</a:t>
            </a:r>
            <a:r>
              <a:rPr spc="-85" dirty="0">
                <a:solidFill>
                  <a:srgbClr val="FF2600"/>
                </a:solidFill>
              </a:rPr>
              <a:t> </a:t>
            </a:r>
            <a:r>
              <a:rPr dirty="0">
                <a:solidFill>
                  <a:srgbClr val="FF2600"/>
                </a:solidFill>
              </a:rPr>
              <a:t>plane</a:t>
            </a:r>
            <a:r>
              <a:rPr dirty="0"/>
              <a:t>;</a:t>
            </a:r>
            <a:r>
              <a:rPr spc="-90" dirty="0"/>
              <a:t> </a:t>
            </a:r>
            <a:r>
              <a:rPr spc="-25" dirty="0"/>
              <a:t>c=5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2481133" y="2634696"/>
            <a:ext cx="6768641" cy="5347229"/>
            <a:chOff x="2480816" y="2587748"/>
            <a:chExt cx="6768641" cy="5347229"/>
          </a:xfrm>
        </p:grpSpPr>
        <p:sp>
          <p:nvSpPr>
            <p:cNvPr id="7" name="object 7"/>
            <p:cNvSpPr/>
            <p:nvPr/>
          </p:nvSpPr>
          <p:spPr>
            <a:xfrm>
              <a:off x="2480816" y="2688852"/>
              <a:ext cx="568960" cy="1391920"/>
            </a:xfrm>
            <a:custGeom>
              <a:avLst/>
              <a:gdLst/>
              <a:ahLst/>
              <a:cxnLst/>
              <a:rect l="l" t="t" r="r" b="b"/>
              <a:pathLst>
                <a:path w="568960" h="1391920">
                  <a:moveTo>
                    <a:pt x="0" y="1391610"/>
                  </a:moveTo>
                  <a:lnTo>
                    <a:pt x="563855" y="11756"/>
                  </a:lnTo>
                  <a:lnTo>
                    <a:pt x="568659" y="0"/>
                  </a:lnTo>
                </a:path>
              </a:pathLst>
            </a:custGeom>
            <a:ln w="25400">
              <a:solidFill>
                <a:srgbClr val="FF26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2988242" y="2587748"/>
              <a:ext cx="113030" cy="136525"/>
            </a:xfrm>
            <a:custGeom>
              <a:avLst/>
              <a:gdLst/>
              <a:ahLst/>
              <a:cxnLst/>
              <a:rect l="l" t="t" r="r" b="b"/>
              <a:pathLst>
                <a:path w="113030" h="136525">
                  <a:moveTo>
                    <a:pt x="102548" y="0"/>
                  </a:moveTo>
                  <a:lnTo>
                    <a:pt x="0" y="89801"/>
                  </a:lnTo>
                  <a:lnTo>
                    <a:pt x="112861" y="135920"/>
                  </a:lnTo>
                  <a:lnTo>
                    <a:pt x="102548" y="0"/>
                  </a:lnTo>
                  <a:close/>
                </a:path>
              </a:pathLst>
            </a:custGeom>
            <a:solidFill>
              <a:srgbClr val="FF2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7596552" y="6282072"/>
              <a:ext cx="1652905" cy="1652905"/>
            </a:xfrm>
            <a:custGeom>
              <a:avLst/>
              <a:gdLst/>
              <a:ahLst/>
              <a:cxnLst/>
              <a:rect l="l" t="t" r="r" b="b"/>
              <a:pathLst>
                <a:path w="1652904" h="1652904">
                  <a:moveTo>
                    <a:pt x="1652535" y="1652535"/>
                  </a:moveTo>
                  <a:lnTo>
                    <a:pt x="8980" y="8980"/>
                  </a:lnTo>
                  <a:lnTo>
                    <a:pt x="0" y="0"/>
                  </a:lnTo>
                </a:path>
              </a:pathLst>
            </a:custGeom>
            <a:ln w="25400">
              <a:solidFill>
                <a:srgbClr val="FF26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7519322" y="6204842"/>
              <a:ext cx="129539" cy="129539"/>
            </a:xfrm>
            <a:custGeom>
              <a:avLst/>
              <a:gdLst/>
              <a:ahLst/>
              <a:cxnLst/>
              <a:rect l="l" t="t" r="r" b="b"/>
              <a:pathLst>
                <a:path w="129540" h="129539">
                  <a:moveTo>
                    <a:pt x="0" y="0"/>
                  </a:moveTo>
                  <a:lnTo>
                    <a:pt x="43105" y="129316"/>
                  </a:lnTo>
                  <a:lnTo>
                    <a:pt x="129315" y="4310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2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9527858" y="5702300"/>
            <a:ext cx="2512059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400" dirty="0">
                <a:latin typeface="Arial MT"/>
                <a:cs typeface="Arial MT"/>
              </a:rPr>
              <a:t>No</a:t>
            </a:r>
            <a:r>
              <a:rPr sz="2400" spc="-65" dirty="0">
                <a:latin typeface="Arial MT"/>
                <a:cs typeface="Arial MT"/>
              </a:rPr>
              <a:t> </a:t>
            </a:r>
            <a:r>
              <a:rPr sz="2400" dirty="0">
                <a:latin typeface="Arial MT"/>
                <a:cs typeface="Arial MT"/>
              </a:rPr>
              <a:t>slope</a:t>
            </a:r>
            <a:r>
              <a:rPr sz="2400" spc="-60" dirty="0">
                <a:latin typeface="Arial MT"/>
                <a:cs typeface="Arial MT"/>
              </a:rPr>
              <a:t> </a:t>
            </a:r>
            <a:r>
              <a:rPr sz="2400" spc="-10" dirty="0">
                <a:latin typeface="Arial MT"/>
                <a:cs typeface="Arial MT"/>
              </a:rPr>
              <a:t>errors</a:t>
            </a:r>
            <a:endParaRPr sz="2400" dirty="0">
              <a:latin typeface="Arial MT"/>
              <a:cs typeface="Arial MT"/>
            </a:endParaRPr>
          </a:p>
        </p:txBody>
      </p:sp>
      <p:sp>
        <p:nvSpPr>
          <p:cNvPr id="17" name="object 17"/>
          <p:cNvSpPr txBox="1">
            <a:spLocks noGrp="1"/>
          </p:cNvSpPr>
          <p:nvPr>
            <p:ph type="ftr" sz="quarter" idx="5"/>
          </p:nvPr>
        </p:nvSpPr>
        <p:spPr>
          <a:xfrm>
            <a:off x="1468511" y="9347057"/>
            <a:ext cx="6002020" cy="273684"/>
          </a:xfrm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pc="-10" dirty="0"/>
              <a:t>Software</a:t>
            </a:r>
            <a:r>
              <a:rPr spc="-50" dirty="0"/>
              <a:t> </a:t>
            </a:r>
            <a:r>
              <a:rPr dirty="0"/>
              <a:t>for</a:t>
            </a:r>
            <a:r>
              <a:rPr spc="-45" dirty="0"/>
              <a:t> </a:t>
            </a:r>
            <a:r>
              <a:rPr dirty="0"/>
              <a:t>Optical</a:t>
            </a:r>
            <a:r>
              <a:rPr spc="-45" dirty="0"/>
              <a:t> </a:t>
            </a:r>
            <a:r>
              <a:rPr dirty="0"/>
              <a:t>Simulations,</a:t>
            </a:r>
            <a:r>
              <a:rPr spc="-45" dirty="0"/>
              <a:t> </a:t>
            </a:r>
            <a:r>
              <a:rPr spc="-20" dirty="0"/>
              <a:t>Trieste,</a:t>
            </a:r>
            <a:r>
              <a:rPr spc="-45" dirty="0"/>
              <a:t> </a:t>
            </a:r>
            <a:r>
              <a:rPr dirty="0"/>
              <a:t>October</a:t>
            </a:r>
            <a:r>
              <a:rPr spc="-45" dirty="0"/>
              <a:t> </a:t>
            </a:r>
            <a:r>
              <a:rPr dirty="0"/>
              <a:t>2016.</a:t>
            </a:r>
            <a:r>
              <a:rPr spc="-45" dirty="0"/>
              <a:t> </a:t>
            </a:r>
            <a:r>
              <a:rPr dirty="0"/>
              <a:t>Ruben</a:t>
            </a:r>
            <a:r>
              <a:rPr spc="-45" dirty="0"/>
              <a:t> </a:t>
            </a:r>
            <a:r>
              <a:rPr spc="-10" dirty="0"/>
              <a:t>Reininger</a:t>
            </a:r>
          </a:p>
        </p:txBody>
      </p:sp>
      <p:sp>
        <p:nvSpPr>
          <p:cNvPr id="18" name="object 1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25" dirty="0"/>
              <a:t>36</a:t>
            </a:fld>
            <a:endParaRPr spc="-25" dirty="0"/>
          </a:p>
        </p:txBody>
      </p:sp>
      <p:sp>
        <p:nvSpPr>
          <p:cNvPr id="19" name="object 19"/>
          <p:cNvSpPr txBox="1"/>
          <p:nvPr/>
        </p:nvSpPr>
        <p:spPr>
          <a:xfrm>
            <a:off x="1069339" y="9384967"/>
            <a:ext cx="72390" cy="211454"/>
          </a:xfrm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sz="1200" spc="-50" dirty="0">
                <a:solidFill>
                  <a:srgbClr val="275D90"/>
                </a:solidFill>
                <a:latin typeface="Calibri"/>
                <a:cs typeface="Calibri"/>
              </a:rPr>
              <a:t>-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9334500" y="7569200"/>
            <a:ext cx="2713355" cy="85851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3279"/>
              </a:lnSpc>
              <a:spcBef>
                <a:spcPts val="100"/>
              </a:spcBef>
            </a:pPr>
            <a:r>
              <a:rPr sz="2800" spc="-10" dirty="0">
                <a:solidFill>
                  <a:srgbClr val="FF2600"/>
                </a:solidFill>
                <a:latin typeface="Arial MT"/>
                <a:cs typeface="Arial MT"/>
              </a:rPr>
              <a:t>5.8/(5/2)=2.32</a:t>
            </a:r>
            <a:endParaRPr sz="2800">
              <a:latin typeface="Arial MT"/>
              <a:cs typeface="Arial MT"/>
            </a:endParaRPr>
          </a:p>
          <a:p>
            <a:pPr marL="12700">
              <a:lnSpc>
                <a:spcPts val="3279"/>
              </a:lnSpc>
            </a:pPr>
            <a:r>
              <a:rPr sz="2800" dirty="0">
                <a:solidFill>
                  <a:srgbClr val="FF2600"/>
                </a:solidFill>
                <a:latin typeface="Arial MT"/>
                <a:cs typeface="Arial MT"/>
              </a:rPr>
              <a:t>Astigmatic</a:t>
            </a:r>
            <a:r>
              <a:rPr sz="2800" spc="-90" dirty="0">
                <a:solidFill>
                  <a:srgbClr val="FF2600"/>
                </a:solidFill>
                <a:latin typeface="Arial MT"/>
                <a:cs typeface="Arial MT"/>
              </a:rPr>
              <a:t> </a:t>
            </a:r>
            <a:r>
              <a:rPr sz="2800" spc="-20" dirty="0">
                <a:solidFill>
                  <a:srgbClr val="FF2600"/>
                </a:solidFill>
                <a:latin typeface="Arial MT"/>
                <a:cs typeface="Arial MT"/>
              </a:rPr>
              <a:t>Coma</a:t>
            </a:r>
            <a:endParaRPr sz="2800">
              <a:latin typeface="Arial MT"/>
              <a:cs typeface="Arial MT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6591300" y="3060700"/>
            <a:ext cx="5072380" cy="11658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i="1" dirty="0">
                <a:latin typeface="Arial"/>
                <a:cs typeface="Arial"/>
              </a:rPr>
              <a:t>α</a:t>
            </a:r>
            <a:r>
              <a:rPr sz="2400" dirty="0">
                <a:latin typeface="Arial MT"/>
                <a:cs typeface="Arial MT"/>
              </a:rPr>
              <a:t>=89.5°,</a:t>
            </a:r>
            <a:r>
              <a:rPr sz="2400" spc="-90" dirty="0">
                <a:latin typeface="Arial MT"/>
                <a:cs typeface="Arial MT"/>
              </a:rPr>
              <a:t> </a:t>
            </a:r>
            <a:r>
              <a:rPr sz="2400" i="1" spc="-10" dirty="0">
                <a:latin typeface="Arial"/>
                <a:cs typeface="Arial"/>
              </a:rPr>
              <a:t>β</a:t>
            </a:r>
            <a:r>
              <a:rPr sz="2400" spc="-10" dirty="0">
                <a:latin typeface="Arial MT"/>
                <a:cs typeface="Arial MT"/>
              </a:rPr>
              <a:t>=87.4°</a:t>
            </a:r>
            <a:endParaRPr sz="24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459"/>
              </a:spcBef>
            </a:pPr>
            <a:endParaRPr sz="2400" dirty="0">
              <a:latin typeface="Arial MT"/>
              <a:cs typeface="Arial MT"/>
            </a:endParaRPr>
          </a:p>
          <a:p>
            <a:pPr marL="2755900">
              <a:lnSpc>
                <a:spcPct val="100000"/>
              </a:lnSpc>
            </a:pPr>
            <a:r>
              <a:rPr sz="2400" dirty="0">
                <a:latin typeface="Arial MT"/>
                <a:cs typeface="Arial MT"/>
              </a:rPr>
              <a:t>With</a:t>
            </a:r>
            <a:r>
              <a:rPr sz="2400" spc="-50" dirty="0">
                <a:latin typeface="Arial MT"/>
                <a:cs typeface="Arial MT"/>
              </a:rPr>
              <a:t> </a:t>
            </a:r>
            <a:r>
              <a:rPr sz="2400" dirty="0">
                <a:latin typeface="Arial MT"/>
                <a:cs typeface="Arial MT"/>
              </a:rPr>
              <a:t>slope</a:t>
            </a:r>
            <a:r>
              <a:rPr sz="2400" spc="-45" dirty="0">
                <a:latin typeface="Arial MT"/>
                <a:cs typeface="Arial MT"/>
              </a:rPr>
              <a:t> </a:t>
            </a:r>
            <a:r>
              <a:rPr sz="2400" spc="-10" dirty="0">
                <a:latin typeface="Arial MT"/>
                <a:cs typeface="Arial MT"/>
              </a:rPr>
              <a:t>errors</a:t>
            </a:r>
            <a:endParaRPr sz="2400" dirty="0">
              <a:latin typeface="Arial MT"/>
              <a:cs typeface="Arial MT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FDA7B26-749D-4EAB-8F6E-2B6B58943203}"/>
              </a:ext>
            </a:extLst>
          </p:cNvPr>
          <p:cNvSpPr/>
          <p:nvPr/>
        </p:nvSpPr>
        <p:spPr>
          <a:xfrm>
            <a:off x="19065" y="18782"/>
            <a:ext cx="38266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05_CollimatedPGM1000eVc5.ows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69A3EED0-F91B-461D-96C3-2AFE1624C3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0221" y="6237499"/>
            <a:ext cx="2426365" cy="854354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4738E8CC-7EA9-4A09-B502-0E3F512D10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16674" y="4541289"/>
            <a:ext cx="2616464" cy="835303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C651413F-3E16-43FF-9430-7A94ABBD467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8802" y="4226560"/>
            <a:ext cx="2786359" cy="3188195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726754" y="0"/>
            <a:ext cx="5278045" cy="215900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365625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FVLSPGM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2476500" y="1143000"/>
            <a:ext cx="845756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Arial MT"/>
                <a:cs typeface="Arial MT"/>
              </a:rPr>
              <a:t>Focusing</a:t>
            </a:r>
            <a:r>
              <a:rPr sz="2400" spc="-80" dirty="0">
                <a:latin typeface="Arial MT"/>
                <a:cs typeface="Arial MT"/>
              </a:rPr>
              <a:t> </a:t>
            </a:r>
            <a:r>
              <a:rPr sz="2400" spc="-20" dirty="0">
                <a:latin typeface="Arial MT"/>
                <a:cs typeface="Arial MT"/>
              </a:rPr>
              <a:t>Variable</a:t>
            </a:r>
            <a:r>
              <a:rPr sz="2400" spc="-80" dirty="0">
                <a:latin typeface="Arial MT"/>
                <a:cs typeface="Arial MT"/>
              </a:rPr>
              <a:t> </a:t>
            </a:r>
            <a:r>
              <a:rPr sz="2400" dirty="0">
                <a:latin typeface="Arial MT"/>
                <a:cs typeface="Arial MT"/>
              </a:rPr>
              <a:t>Line</a:t>
            </a:r>
            <a:r>
              <a:rPr sz="2400" spc="-80" dirty="0">
                <a:latin typeface="Arial MT"/>
                <a:cs typeface="Arial MT"/>
              </a:rPr>
              <a:t> </a:t>
            </a:r>
            <a:r>
              <a:rPr sz="2400" dirty="0">
                <a:latin typeface="Arial MT"/>
                <a:cs typeface="Arial MT"/>
              </a:rPr>
              <a:t>Spacing</a:t>
            </a:r>
            <a:r>
              <a:rPr sz="2400" spc="-75" dirty="0">
                <a:latin typeface="Arial MT"/>
                <a:cs typeface="Arial MT"/>
              </a:rPr>
              <a:t> </a:t>
            </a:r>
            <a:r>
              <a:rPr sz="2400" dirty="0">
                <a:latin typeface="Arial MT"/>
                <a:cs typeface="Arial MT"/>
              </a:rPr>
              <a:t>Plane</a:t>
            </a:r>
            <a:r>
              <a:rPr sz="2400" spc="-80" dirty="0">
                <a:latin typeface="Arial MT"/>
                <a:cs typeface="Arial MT"/>
              </a:rPr>
              <a:t> </a:t>
            </a:r>
            <a:r>
              <a:rPr sz="2400" dirty="0">
                <a:latin typeface="Arial MT"/>
                <a:cs typeface="Arial MT"/>
              </a:rPr>
              <a:t>Grating</a:t>
            </a:r>
            <a:r>
              <a:rPr sz="2400" spc="-80" dirty="0">
                <a:latin typeface="Arial MT"/>
                <a:cs typeface="Arial MT"/>
              </a:rPr>
              <a:t> </a:t>
            </a:r>
            <a:r>
              <a:rPr sz="2400" spc="-10" dirty="0">
                <a:latin typeface="Arial MT"/>
                <a:cs typeface="Arial MT"/>
              </a:rPr>
              <a:t>Monochromator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48" name="object 4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pc="-10" dirty="0"/>
              <a:t>Software</a:t>
            </a:r>
            <a:r>
              <a:rPr spc="-50" dirty="0"/>
              <a:t> </a:t>
            </a:r>
            <a:r>
              <a:rPr dirty="0"/>
              <a:t>for</a:t>
            </a:r>
            <a:r>
              <a:rPr spc="-45" dirty="0"/>
              <a:t> </a:t>
            </a:r>
            <a:r>
              <a:rPr dirty="0"/>
              <a:t>Optical</a:t>
            </a:r>
            <a:r>
              <a:rPr spc="-45" dirty="0"/>
              <a:t> </a:t>
            </a:r>
            <a:r>
              <a:rPr dirty="0"/>
              <a:t>Simulations,</a:t>
            </a:r>
            <a:r>
              <a:rPr spc="-45" dirty="0"/>
              <a:t> </a:t>
            </a:r>
            <a:r>
              <a:rPr spc="-20" dirty="0"/>
              <a:t>Trieste,</a:t>
            </a:r>
            <a:r>
              <a:rPr spc="-45" dirty="0"/>
              <a:t> </a:t>
            </a:r>
            <a:r>
              <a:rPr dirty="0"/>
              <a:t>October</a:t>
            </a:r>
            <a:r>
              <a:rPr spc="-45" dirty="0"/>
              <a:t> </a:t>
            </a:r>
            <a:r>
              <a:rPr dirty="0"/>
              <a:t>2016.</a:t>
            </a:r>
            <a:r>
              <a:rPr spc="-45" dirty="0"/>
              <a:t> </a:t>
            </a:r>
            <a:r>
              <a:rPr dirty="0"/>
              <a:t>Ruben</a:t>
            </a:r>
            <a:r>
              <a:rPr spc="-45" dirty="0"/>
              <a:t> </a:t>
            </a:r>
            <a:r>
              <a:rPr spc="-10" dirty="0"/>
              <a:t>Reininger</a:t>
            </a:r>
          </a:p>
        </p:txBody>
      </p:sp>
      <p:sp>
        <p:nvSpPr>
          <p:cNvPr id="49" name="object 4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25" dirty="0"/>
              <a:t>37</a:t>
            </a:fld>
            <a:endParaRPr spc="-25" dirty="0"/>
          </a:p>
        </p:txBody>
      </p:sp>
      <p:sp>
        <p:nvSpPr>
          <p:cNvPr id="50" name="object 50"/>
          <p:cNvSpPr txBox="1"/>
          <p:nvPr/>
        </p:nvSpPr>
        <p:spPr>
          <a:xfrm>
            <a:off x="1069339" y="9384967"/>
            <a:ext cx="72390" cy="211454"/>
          </a:xfrm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sz="1200" spc="-50" dirty="0">
                <a:solidFill>
                  <a:srgbClr val="275D90"/>
                </a:solidFill>
                <a:latin typeface="Calibri"/>
                <a:cs typeface="Calibri"/>
              </a:rPr>
              <a:t>-</a:t>
            </a:r>
            <a:endParaRPr sz="1200">
              <a:latin typeface="Calibri"/>
              <a:cs typeface="Calibri"/>
            </a:endParaRP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CBAA2B61-906C-415C-A846-FC369229B7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097" y="1797961"/>
            <a:ext cx="10192657" cy="752630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7037755-ADA0-407A-82B7-E0C3421D5E30}"/>
              </a:ext>
            </a:extLst>
          </p:cNvPr>
          <p:cNvSpPr txBox="1"/>
          <p:nvPr/>
        </p:nvSpPr>
        <p:spPr>
          <a:xfrm>
            <a:off x="4870970" y="5059180"/>
            <a:ext cx="261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</a:t>
            </a:r>
            <a:endParaRPr lang="en-GB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726754" y="0"/>
            <a:ext cx="5278045" cy="203200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365625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FVLSPGM</a:t>
            </a: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39140" y="2433027"/>
            <a:ext cx="337542" cy="303787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96339" y="3548446"/>
            <a:ext cx="281285" cy="253156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96339" y="4059720"/>
            <a:ext cx="281285" cy="253156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96339" y="4586714"/>
            <a:ext cx="281285" cy="253156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96339" y="5113708"/>
            <a:ext cx="281285" cy="253156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96339" y="5640701"/>
            <a:ext cx="281285" cy="253156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900654" y="2357319"/>
            <a:ext cx="11967210" cy="3591368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50800" marR="43180" indent="152400">
              <a:lnSpc>
                <a:spcPts val="4200"/>
              </a:lnSpc>
              <a:spcBef>
                <a:spcPts val="340"/>
              </a:spcBef>
            </a:pPr>
            <a:r>
              <a:rPr sz="3600" dirty="0">
                <a:solidFill>
                  <a:srgbClr val="424242"/>
                </a:solidFill>
                <a:latin typeface="Times New Roman"/>
                <a:cs typeface="Times New Roman"/>
              </a:rPr>
              <a:t>The</a:t>
            </a:r>
            <a:r>
              <a:rPr sz="3600" spc="-65" dirty="0">
                <a:solidFill>
                  <a:srgbClr val="424242"/>
                </a:solidFill>
                <a:latin typeface="Times New Roman"/>
                <a:cs typeface="Times New Roman"/>
              </a:rPr>
              <a:t> </a:t>
            </a:r>
            <a:r>
              <a:rPr sz="3600" dirty="0">
                <a:solidFill>
                  <a:srgbClr val="424242"/>
                </a:solidFill>
                <a:latin typeface="Times New Roman"/>
                <a:cs typeface="Times New Roman"/>
              </a:rPr>
              <a:t>defocus</a:t>
            </a:r>
            <a:r>
              <a:rPr sz="3600" spc="-60" dirty="0">
                <a:solidFill>
                  <a:srgbClr val="424242"/>
                </a:solidFill>
                <a:latin typeface="Times New Roman"/>
                <a:cs typeface="Times New Roman"/>
              </a:rPr>
              <a:t> </a:t>
            </a:r>
            <a:r>
              <a:rPr sz="3600" dirty="0">
                <a:solidFill>
                  <a:srgbClr val="424242"/>
                </a:solidFill>
                <a:latin typeface="Times New Roman"/>
                <a:cs typeface="Times New Roman"/>
              </a:rPr>
              <a:t>equation</a:t>
            </a:r>
            <a:r>
              <a:rPr sz="3600" spc="-60" dirty="0">
                <a:solidFill>
                  <a:srgbClr val="424242"/>
                </a:solidFill>
                <a:latin typeface="Times New Roman"/>
                <a:cs typeface="Times New Roman"/>
              </a:rPr>
              <a:t> </a:t>
            </a:r>
            <a:r>
              <a:rPr sz="3600" dirty="0">
                <a:solidFill>
                  <a:srgbClr val="424242"/>
                </a:solidFill>
                <a:latin typeface="Times New Roman"/>
                <a:cs typeface="Times New Roman"/>
              </a:rPr>
              <a:t>can</a:t>
            </a:r>
            <a:r>
              <a:rPr sz="3600" spc="-55" dirty="0">
                <a:solidFill>
                  <a:srgbClr val="424242"/>
                </a:solidFill>
                <a:latin typeface="Times New Roman"/>
                <a:cs typeface="Times New Roman"/>
              </a:rPr>
              <a:t> </a:t>
            </a:r>
            <a:r>
              <a:rPr sz="3600" dirty="0">
                <a:solidFill>
                  <a:srgbClr val="424242"/>
                </a:solidFill>
                <a:latin typeface="Times New Roman"/>
                <a:cs typeface="Times New Roman"/>
              </a:rPr>
              <a:t>be</a:t>
            </a:r>
            <a:r>
              <a:rPr sz="3600" spc="-65" dirty="0">
                <a:solidFill>
                  <a:srgbClr val="424242"/>
                </a:solidFill>
                <a:latin typeface="Times New Roman"/>
                <a:cs typeface="Times New Roman"/>
              </a:rPr>
              <a:t> </a:t>
            </a:r>
            <a:r>
              <a:rPr sz="3600" dirty="0">
                <a:solidFill>
                  <a:srgbClr val="424242"/>
                </a:solidFill>
                <a:latin typeface="Times New Roman"/>
                <a:cs typeface="Times New Roman"/>
              </a:rPr>
              <a:t>solved</a:t>
            </a:r>
            <a:r>
              <a:rPr sz="3600" spc="-60" dirty="0">
                <a:solidFill>
                  <a:srgbClr val="424242"/>
                </a:solidFill>
                <a:latin typeface="Times New Roman"/>
                <a:cs typeface="Times New Roman"/>
              </a:rPr>
              <a:t> </a:t>
            </a:r>
            <a:r>
              <a:rPr sz="3600" dirty="0">
                <a:solidFill>
                  <a:srgbClr val="424242"/>
                </a:solidFill>
                <a:latin typeface="Times New Roman"/>
                <a:cs typeface="Times New Roman"/>
              </a:rPr>
              <a:t>for</a:t>
            </a:r>
            <a:r>
              <a:rPr sz="3600" spc="-60" dirty="0">
                <a:solidFill>
                  <a:srgbClr val="424242"/>
                </a:solidFill>
                <a:latin typeface="Times New Roman"/>
                <a:cs typeface="Times New Roman"/>
              </a:rPr>
              <a:t> </a:t>
            </a:r>
            <a:r>
              <a:rPr sz="3600" dirty="0">
                <a:solidFill>
                  <a:srgbClr val="424242"/>
                </a:solidFill>
                <a:latin typeface="Times New Roman"/>
                <a:cs typeface="Times New Roman"/>
              </a:rPr>
              <a:t>all</a:t>
            </a:r>
            <a:r>
              <a:rPr sz="3600" spc="-60" dirty="0">
                <a:solidFill>
                  <a:srgbClr val="424242"/>
                </a:solidFill>
                <a:latin typeface="Times New Roman"/>
                <a:cs typeface="Times New Roman"/>
              </a:rPr>
              <a:t> </a:t>
            </a:r>
            <a:r>
              <a:rPr sz="3600" dirty="0">
                <a:solidFill>
                  <a:srgbClr val="424242"/>
                </a:solidFill>
                <a:latin typeface="Times New Roman"/>
                <a:cs typeface="Times New Roman"/>
              </a:rPr>
              <a:t>wavelengths</a:t>
            </a:r>
            <a:r>
              <a:rPr sz="3600" spc="-60" dirty="0">
                <a:solidFill>
                  <a:srgbClr val="424242"/>
                </a:solidFill>
                <a:latin typeface="Times New Roman"/>
                <a:cs typeface="Times New Roman"/>
              </a:rPr>
              <a:t> </a:t>
            </a:r>
            <a:r>
              <a:rPr sz="3600" spc="-25" dirty="0">
                <a:solidFill>
                  <a:srgbClr val="424242"/>
                </a:solidFill>
                <a:latin typeface="Times New Roman"/>
                <a:cs typeface="Times New Roman"/>
              </a:rPr>
              <a:t>by </a:t>
            </a:r>
            <a:r>
              <a:rPr sz="3600" dirty="0">
                <a:solidFill>
                  <a:srgbClr val="424242"/>
                </a:solidFill>
                <a:latin typeface="Times New Roman"/>
                <a:cs typeface="Times New Roman"/>
              </a:rPr>
              <a:t>illuminating</a:t>
            </a:r>
            <a:r>
              <a:rPr sz="3600" spc="-55" dirty="0">
                <a:solidFill>
                  <a:srgbClr val="424242"/>
                </a:solidFill>
                <a:latin typeface="Times New Roman"/>
                <a:cs typeface="Times New Roman"/>
              </a:rPr>
              <a:t> </a:t>
            </a:r>
            <a:r>
              <a:rPr sz="3600" dirty="0">
                <a:solidFill>
                  <a:srgbClr val="424242"/>
                </a:solidFill>
                <a:latin typeface="Times New Roman"/>
                <a:cs typeface="Times New Roman"/>
              </a:rPr>
              <a:t>the</a:t>
            </a:r>
            <a:r>
              <a:rPr sz="3600" spc="-55" dirty="0">
                <a:solidFill>
                  <a:srgbClr val="424242"/>
                </a:solidFill>
                <a:latin typeface="Times New Roman"/>
                <a:cs typeface="Times New Roman"/>
              </a:rPr>
              <a:t> </a:t>
            </a:r>
            <a:r>
              <a:rPr sz="3600" dirty="0">
                <a:solidFill>
                  <a:srgbClr val="424242"/>
                </a:solidFill>
                <a:latin typeface="Times New Roman"/>
                <a:cs typeface="Times New Roman"/>
              </a:rPr>
              <a:t>grating</a:t>
            </a:r>
            <a:r>
              <a:rPr sz="3600" spc="-50" dirty="0">
                <a:solidFill>
                  <a:srgbClr val="424242"/>
                </a:solidFill>
                <a:latin typeface="Times New Roman"/>
                <a:cs typeface="Times New Roman"/>
              </a:rPr>
              <a:t> </a:t>
            </a:r>
            <a:r>
              <a:rPr sz="3600" dirty="0">
                <a:solidFill>
                  <a:srgbClr val="424242"/>
                </a:solidFill>
                <a:latin typeface="Times New Roman"/>
                <a:cs typeface="Times New Roman"/>
              </a:rPr>
              <a:t>at</a:t>
            </a:r>
            <a:r>
              <a:rPr sz="3600" spc="-60" dirty="0">
                <a:solidFill>
                  <a:srgbClr val="424242"/>
                </a:solidFill>
                <a:latin typeface="Times New Roman"/>
                <a:cs typeface="Times New Roman"/>
              </a:rPr>
              <a:t> </a:t>
            </a:r>
            <a:r>
              <a:rPr sz="3600" dirty="0">
                <a:solidFill>
                  <a:srgbClr val="424242"/>
                </a:solidFill>
                <a:latin typeface="Times New Roman"/>
                <a:cs typeface="Times New Roman"/>
              </a:rPr>
              <a:t>the</a:t>
            </a:r>
            <a:r>
              <a:rPr sz="3600" spc="-55" dirty="0">
                <a:solidFill>
                  <a:srgbClr val="424242"/>
                </a:solidFill>
                <a:latin typeface="Times New Roman"/>
                <a:cs typeface="Times New Roman"/>
              </a:rPr>
              <a:t> </a:t>
            </a:r>
            <a:r>
              <a:rPr sz="3600" dirty="0">
                <a:solidFill>
                  <a:srgbClr val="424242"/>
                </a:solidFill>
                <a:latin typeface="Times New Roman"/>
                <a:cs typeface="Times New Roman"/>
              </a:rPr>
              <a:t>correct</a:t>
            </a:r>
            <a:r>
              <a:rPr sz="3600" spc="-55" dirty="0">
                <a:solidFill>
                  <a:srgbClr val="424242"/>
                </a:solidFill>
                <a:latin typeface="Times New Roman"/>
                <a:cs typeface="Times New Roman"/>
              </a:rPr>
              <a:t> </a:t>
            </a:r>
            <a:r>
              <a:rPr sz="3600" dirty="0">
                <a:solidFill>
                  <a:srgbClr val="424242"/>
                </a:solidFill>
                <a:latin typeface="Times New Roman"/>
                <a:cs typeface="Times New Roman"/>
              </a:rPr>
              <a:t>angle</a:t>
            </a:r>
            <a:r>
              <a:rPr sz="3600" spc="-55" dirty="0">
                <a:solidFill>
                  <a:srgbClr val="424242"/>
                </a:solidFill>
                <a:latin typeface="Times New Roman"/>
                <a:cs typeface="Times New Roman"/>
              </a:rPr>
              <a:t> </a:t>
            </a:r>
            <a:r>
              <a:rPr sz="3600" dirty="0">
                <a:solidFill>
                  <a:srgbClr val="424242"/>
                </a:solidFill>
                <a:latin typeface="Times New Roman"/>
                <a:cs typeface="Times New Roman"/>
              </a:rPr>
              <a:t>of</a:t>
            </a:r>
            <a:r>
              <a:rPr sz="3600" spc="-55" dirty="0">
                <a:solidFill>
                  <a:srgbClr val="424242"/>
                </a:solidFill>
                <a:latin typeface="Times New Roman"/>
                <a:cs typeface="Times New Roman"/>
              </a:rPr>
              <a:t> </a:t>
            </a:r>
            <a:r>
              <a:rPr sz="3600" spc="-10" dirty="0">
                <a:solidFill>
                  <a:srgbClr val="424242"/>
                </a:solidFill>
                <a:latin typeface="Times New Roman"/>
                <a:cs typeface="Times New Roman"/>
              </a:rPr>
              <a:t>incidence.</a:t>
            </a:r>
            <a:endParaRPr sz="3600" dirty="0">
              <a:latin typeface="Times New Roman"/>
              <a:cs typeface="Times New Roman"/>
            </a:endParaRPr>
          </a:p>
          <a:p>
            <a:pPr marL="876300">
              <a:lnSpc>
                <a:spcPct val="100000"/>
              </a:lnSpc>
              <a:spcBef>
                <a:spcPts val="260"/>
              </a:spcBef>
            </a:pPr>
            <a:r>
              <a:rPr sz="3000" i="1" dirty="0">
                <a:latin typeface="Times New Roman"/>
                <a:cs typeface="Times New Roman"/>
              </a:rPr>
              <a:t>c</a:t>
            </a:r>
            <a:r>
              <a:rPr sz="3000" i="1" spc="-30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is</a:t>
            </a:r>
            <a:r>
              <a:rPr sz="3000" spc="-25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not</a:t>
            </a:r>
            <a:r>
              <a:rPr sz="3000" spc="-30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a</a:t>
            </a:r>
            <a:r>
              <a:rPr sz="3000" spc="-30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free</a:t>
            </a:r>
            <a:r>
              <a:rPr sz="3000" spc="-35" dirty="0">
                <a:latin typeface="Times New Roman"/>
                <a:cs typeface="Times New Roman"/>
              </a:rPr>
              <a:t> </a:t>
            </a:r>
            <a:r>
              <a:rPr sz="3000" spc="-10" dirty="0">
                <a:latin typeface="Times New Roman"/>
                <a:cs typeface="Times New Roman"/>
              </a:rPr>
              <a:t>parameter.</a:t>
            </a:r>
            <a:endParaRPr sz="3000" dirty="0">
              <a:latin typeface="Times New Roman"/>
              <a:cs typeface="Times New Roman"/>
            </a:endParaRPr>
          </a:p>
          <a:p>
            <a:pPr marL="876300">
              <a:lnSpc>
                <a:spcPct val="100000"/>
              </a:lnSpc>
              <a:spcBef>
                <a:spcPts val="500"/>
              </a:spcBef>
            </a:pPr>
            <a:r>
              <a:rPr lang="en-GB" sz="2400" dirty="0">
                <a:latin typeface="Times New Roman"/>
                <a:cs typeface="Times New Roman"/>
                <a:hlinkClick r:id="rId4"/>
              </a:rPr>
              <a:t>https://doi.org/10.1016/j.nima.2004.09.007</a:t>
            </a:r>
            <a:r>
              <a:rPr lang="en-GB" sz="240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R. </a:t>
            </a:r>
            <a:r>
              <a:rPr sz="2000" dirty="0" err="1">
                <a:latin typeface="Times New Roman"/>
                <a:cs typeface="Times New Roman"/>
              </a:rPr>
              <a:t>R</a:t>
            </a:r>
            <a:r>
              <a:rPr lang="en-US" sz="2000" dirty="0" err="1">
                <a:latin typeface="Times New Roman"/>
                <a:cs typeface="Times New Roman"/>
              </a:rPr>
              <a:t>eininger</a:t>
            </a:r>
            <a:r>
              <a:rPr sz="2000" dirty="0">
                <a:latin typeface="Times New Roman"/>
                <a:cs typeface="Times New Roman"/>
              </a:rPr>
              <a:t> </a:t>
            </a:r>
            <a:r>
              <a:rPr sz="2000" spc="-30" dirty="0">
                <a:latin typeface="Times New Roman"/>
                <a:cs typeface="Times New Roman"/>
              </a:rPr>
              <a:t>&amp;</a:t>
            </a:r>
            <a:r>
              <a:rPr sz="2000" spc="-17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A. R. B. C</a:t>
            </a:r>
            <a:r>
              <a:rPr lang="en-US" sz="2000" dirty="0">
                <a:latin typeface="Times New Roman"/>
                <a:cs typeface="Times New Roman"/>
              </a:rPr>
              <a:t>astro</a:t>
            </a:r>
            <a:r>
              <a:rPr sz="2000" dirty="0">
                <a:latin typeface="Times New Roman"/>
                <a:cs typeface="Times New Roman"/>
              </a:rPr>
              <a:t>, NIM</a:t>
            </a:r>
            <a:r>
              <a:rPr sz="2000" spc="-17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A</a:t>
            </a:r>
            <a:r>
              <a:rPr sz="2000" spc="-17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538, 760</a:t>
            </a:r>
            <a:r>
              <a:rPr lang="en-GB" sz="2000" dirty="0">
                <a:latin typeface="Times New Roman"/>
                <a:cs typeface="Times New Roman"/>
              </a:rPr>
              <a:t> </a:t>
            </a:r>
            <a:r>
              <a:rPr lang="en-GB" sz="2000" spc="-10" dirty="0">
                <a:latin typeface="Times New Roman"/>
                <a:cs typeface="Times New Roman"/>
              </a:rPr>
              <a:t>(2005)</a:t>
            </a:r>
            <a:r>
              <a:rPr lang="en-US" sz="2400" spc="-10" dirty="0">
                <a:latin typeface="Times New Roman"/>
                <a:cs typeface="Times New Roman"/>
              </a:rPr>
              <a:t>  </a:t>
            </a:r>
            <a:endParaRPr sz="2400" dirty="0">
              <a:latin typeface="Times New Roman"/>
              <a:cs typeface="Times New Roman"/>
            </a:endParaRPr>
          </a:p>
          <a:p>
            <a:pPr marL="876300">
              <a:lnSpc>
                <a:spcPct val="100000"/>
              </a:lnSpc>
              <a:spcBef>
                <a:spcPts val="400"/>
              </a:spcBef>
              <a:tabLst>
                <a:tab pos="3210560" algn="l"/>
              </a:tabLst>
            </a:pPr>
            <a:r>
              <a:rPr sz="3000" i="1" dirty="0">
                <a:latin typeface="Times New Roman"/>
                <a:cs typeface="Times New Roman"/>
              </a:rPr>
              <a:t>c</a:t>
            </a:r>
            <a:r>
              <a:rPr sz="3000" dirty="0">
                <a:latin typeface="Times New Roman"/>
                <a:cs typeface="Times New Roman"/>
              </a:rPr>
              <a:t>=2</a:t>
            </a:r>
            <a:r>
              <a:rPr sz="3000" spc="-15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at</a:t>
            </a:r>
            <a:r>
              <a:rPr sz="3000" spc="-20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600</a:t>
            </a:r>
            <a:r>
              <a:rPr sz="3000" spc="-15" dirty="0">
                <a:latin typeface="Times New Roman"/>
                <a:cs typeface="Times New Roman"/>
              </a:rPr>
              <a:t> </a:t>
            </a:r>
            <a:r>
              <a:rPr sz="3000" spc="-25" dirty="0">
                <a:latin typeface="Times New Roman"/>
                <a:cs typeface="Times New Roman"/>
              </a:rPr>
              <a:t>eV</a:t>
            </a:r>
            <a:r>
              <a:rPr sz="3000" dirty="0">
                <a:latin typeface="Times New Roman"/>
                <a:cs typeface="Times New Roman"/>
              </a:rPr>
              <a:t>	</a:t>
            </a:r>
            <a:r>
              <a:rPr sz="3000" dirty="0">
                <a:latin typeface="Symbol"/>
                <a:cs typeface="Symbol"/>
              </a:rPr>
              <a:t></a:t>
            </a:r>
            <a:r>
              <a:rPr sz="3000" spc="55" dirty="0">
                <a:latin typeface="Times New Roman"/>
                <a:cs typeface="Times New Roman"/>
              </a:rPr>
              <a:t> </a:t>
            </a:r>
            <a:r>
              <a:rPr sz="3000" i="1" spc="-10" dirty="0">
                <a:latin typeface="Times New Roman"/>
                <a:cs typeface="Times New Roman"/>
              </a:rPr>
              <a:t>b</a:t>
            </a:r>
            <a:r>
              <a:rPr sz="3000" spc="-10" dirty="0">
                <a:latin typeface="Times New Roman"/>
                <a:cs typeface="Times New Roman"/>
              </a:rPr>
              <a:t>2=1.44×10</a:t>
            </a:r>
            <a:r>
              <a:rPr sz="3000" spc="-15" baseline="25000" dirty="0">
                <a:latin typeface="Times New Roman"/>
                <a:cs typeface="Times New Roman"/>
              </a:rPr>
              <a:t>-</a:t>
            </a:r>
            <a:r>
              <a:rPr sz="3000" baseline="25000" dirty="0">
                <a:latin typeface="Times New Roman"/>
                <a:cs typeface="Times New Roman"/>
              </a:rPr>
              <a:t>4</a:t>
            </a:r>
            <a:r>
              <a:rPr sz="3000" spc="60" baseline="25000" dirty="0">
                <a:latin typeface="Times New Roman"/>
                <a:cs typeface="Times New Roman"/>
              </a:rPr>
              <a:t> </a:t>
            </a:r>
            <a:r>
              <a:rPr sz="3000" spc="-25" dirty="0">
                <a:latin typeface="Times New Roman"/>
                <a:cs typeface="Times New Roman"/>
              </a:rPr>
              <a:t>mm</a:t>
            </a:r>
            <a:r>
              <a:rPr sz="3000" spc="-37" baseline="25000" dirty="0">
                <a:latin typeface="Times New Roman"/>
                <a:cs typeface="Times New Roman"/>
              </a:rPr>
              <a:t>-</a:t>
            </a:r>
            <a:r>
              <a:rPr sz="3000" spc="-75" baseline="25000" dirty="0">
                <a:latin typeface="Times New Roman"/>
                <a:cs typeface="Times New Roman"/>
              </a:rPr>
              <a:t>1</a:t>
            </a:r>
            <a:endParaRPr sz="3000" baseline="25000" dirty="0">
              <a:latin typeface="Times New Roman"/>
              <a:cs typeface="Times New Roman"/>
            </a:endParaRPr>
          </a:p>
          <a:p>
            <a:pPr marL="876300" marR="3362960">
              <a:lnSpc>
                <a:spcPct val="111100"/>
              </a:lnSpc>
              <a:spcBef>
                <a:spcPts val="300"/>
              </a:spcBef>
              <a:tabLst>
                <a:tab pos="4392295" algn="l"/>
              </a:tabLst>
            </a:pPr>
            <a:r>
              <a:rPr sz="3000" dirty="0">
                <a:latin typeface="Times New Roman"/>
                <a:cs typeface="Times New Roman"/>
              </a:rPr>
              <a:t>Solving</a:t>
            </a:r>
            <a:r>
              <a:rPr sz="3000" spc="-70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coma</a:t>
            </a:r>
            <a:r>
              <a:rPr sz="3000" spc="-70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at</a:t>
            </a:r>
            <a:r>
              <a:rPr sz="3000" spc="-70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one</a:t>
            </a:r>
            <a:r>
              <a:rPr sz="3000" spc="-70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wavelength</a:t>
            </a:r>
            <a:r>
              <a:rPr sz="3000" spc="-65" dirty="0">
                <a:latin typeface="Times New Roman"/>
                <a:cs typeface="Times New Roman"/>
              </a:rPr>
              <a:t> </a:t>
            </a:r>
            <a:r>
              <a:rPr sz="3000" spc="-10" dirty="0">
                <a:latin typeface="Times New Roman"/>
                <a:cs typeface="Times New Roman"/>
              </a:rPr>
              <a:t>enough </a:t>
            </a:r>
            <a:r>
              <a:rPr sz="3000" dirty="0">
                <a:latin typeface="Times New Roman"/>
                <a:cs typeface="Times New Roman"/>
              </a:rPr>
              <a:t>Coma</a:t>
            </a:r>
            <a:r>
              <a:rPr sz="3000" spc="-50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zero</a:t>
            </a:r>
            <a:r>
              <a:rPr sz="3000" spc="-40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at</a:t>
            </a:r>
            <a:r>
              <a:rPr sz="3000" spc="-45" dirty="0">
                <a:latin typeface="Times New Roman"/>
                <a:cs typeface="Times New Roman"/>
              </a:rPr>
              <a:t> </a:t>
            </a:r>
            <a:r>
              <a:rPr sz="3000" dirty="0">
                <a:latin typeface="Times New Roman"/>
                <a:cs typeface="Times New Roman"/>
              </a:rPr>
              <a:t>600</a:t>
            </a:r>
            <a:r>
              <a:rPr sz="3000" spc="-45" dirty="0">
                <a:latin typeface="Times New Roman"/>
                <a:cs typeface="Times New Roman"/>
              </a:rPr>
              <a:t> </a:t>
            </a:r>
            <a:r>
              <a:rPr sz="3000" spc="-35" dirty="0">
                <a:latin typeface="Times New Roman"/>
                <a:cs typeface="Times New Roman"/>
              </a:rPr>
              <a:t>eV</a:t>
            </a:r>
            <a:r>
              <a:rPr sz="3000" dirty="0">
                <a:latin typeface="Times New Roman"/>
                <a:cs typeface="Times New Roman"/>
              </a:rPr>
              <a:t>	</a:t>
            </a:r>
            <a:r>
              <a:rPr sz="3000" dirty="0">
                <a:latin typeface="Symbol"/>
                <a:cs typeface="Symbol"/>
              </a:rPr>
              <a:t></a:t>
            </a:r>
            <a:r>
              <a:rPr sz="3000" spc="50" dirty="0">
                <a:latin typeface="Times New Roman"/>
                <a:cs typeface="Times New Roman"/>
              </a:rPr>
              <a:t> </a:t>
            </a:r>
            <a:r>
              <a:rPr sz="3000" i="1" spc="-10" dirty="0">
                <a:latin typeface="Times New Roman"/>
                <a:cs typeface="Times New Roman"/>
              </a:rPr>
              <a:t>b3</a:t>
            </a:r>
            <a:r>
              <a:rPr sz="3000" spc="-10" dirty="0">
                <a:latin typeface="Times New Roman"/>
                <a:cs typeface="Times New Roman"/>
              </a:rPr>
              <a:t>=1.3×10</a:t>
            </a:r>
            <a:r>
              <a:rPr sz="3000" spc="-15" baseline="25000" dirty="0">
                <a:latin typeface="Times New Roman"/>
                <a:cs typeface="Times New Roman"/>
              </a:rPr>
              <a:t>-</a:t>
            </a:r>
            <a:r>
              <a:rPr sz="3000" baseline="25000" dirty="0">
                <a:latin typeface="Times New Roman"/>
                <a:cs typeface="Times New Roman"/>
              </a:rPr>
              <a:t>8</a:t>
            </a:r>
            <a:r>
              <a:rPr sz="3000" spc="52" baseline="25000" dirty="0">
                <a:latin typeface="Times New Roman"/>
                <a:cs typeface="Times New Roman"/>
              </a:rPr>
              <a:t> </a:t>
            </a:r>
            <a:r>
              <a:rPr sz="3000" spc="-25" dirty="0">
                <a:latin typeface="Times New Roman"/>
                <a:cs typeface="Times New Roman"/>
              </a:rPr>
              <a:t>mm</a:t>
            </a:r>
            <a:r>
              <a:rPr sz="3000" spc="-37" baseline="25000" dirty="0">
                <a:latin typeface="Times New Roman"/>
                <a:cs typeface="Times New Roman"/>
              </a:rPr>
              <a:t>-</a:t>
            </a:r>
            <a:r>
              <a:rPr sz="3000" spc="-75" baseline="25000" dirty="0">
                <a:latin typeface="Times New Roman"/>
                <a:cs typeface="Times New Roman"/>
              </a:rPr>
              <a:t>2</a:t>
            </a:r>
            <a:endParaRPr sz="3000" baseline="25000" dirty="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pc="-10" dirty="0"/>
              <a:t>Software</a:t>
            </a:r>
            <a:r>
              <a:rPr spc="-50" dirty="0"/>
              <a:t> </a:t>
            </a:r>
            <a:r>
              <a:rPr dirty="0"/>
              <a:t>for</a:t>
            </a:r>
            <a:r>
              <a:rPr spc="-45" dirty="0"/>
              <a:t> </a:t>
            </a:r>
            <a:r>
              <a:rPr dirty="0"/>
              <a:t>Optical</a:t>
            </a:r>
            <a:r>
              <a:rPr spc="-45" dirty="0"/>
              <a:t> </a:t>
            </a:r>
            <a:r>
              <a:rPr dirty="0"/>
              <a:t>Simulations,</a:t>
            </a:r>
            <a:r>
              <a:rPr spc="-45" dirty="0"/>
              <a:t> </a:t>
            </a:r>
            <a:r>
              <a:rPr spc="-20" dirty="0"/>
              <a:t>Trieste,</a:t>
            </a:r>
            <a:r>
              <a:rPr spc="-45" dirty="0"/>
              <a:t> </a:t>
            </a:r>
            <a:r>
              <a:rPr dirty="0"/>
              <a:t>October</a:t>
            </a:r>
            <a:r>
              <a:rPr spc="-45" dirty="0"/>
              <a:t> </a:t>
            </a:r>
            <a:r>
              <a:rPr dirty="0"/>
              <a:t>2016.</a:t>
            </a:r>
            <a:r>
              <a:rPr spc="-45" dirty="0"/>
              <a:t> </a:t>
            </a:r>
            <a:r>
              <a:rPr dirty="0"/>
              <a:t>Ruben</a:t>
            </a:r>
            <a:r>
              <a:rPr spc="-45" dirty="0"/>
              <a:t> </a:t>
            </a:r>
            <a:r>
              <a:rPr spc="-10" dirty="0"/>
              <a:t>Reininger</a:t>
            </a:r>
          </a:p>
        </p:txBody>
      </p:sp>
      <p:sp>
        <p:nvSpPr>
          <p:cNvPr id="12" name="object 1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25" dirty="0"/>
              <a:t>38</a:t>
            </a:fld>
            <a:endParaRPr spc="-25" dirty="0"/>
          </a:p>
        </p:txBody>
      </p:sp>
      <p:sp>
        <p:nvSpPr>
          <p:cNvPr id="13" name="object 13"/>
          <p:cNvSpPr txBox="1"/>
          <p:nvPr/>
        </p:nvSpPr>
        <p:spPr>
          <a:xfrm>
            <a:off x="1069339" y="9384967"/>
            <a:ext cx="72390" cy="211454"/>
          </a:xfrm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sz="1200" spc="-50" dirty="0">
                <a:solidFill>
                  <a:srgbClr val="275D90"/>
                </a:solidFill>
                <a:latin typeface="Calibri"/>
                <a:cs typeface="Calibri"/>
              </a:rPr>
              <a:t>-</a:t>
            </a:r>
            <a:endParaRPr sz="12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Picture 35">
            <a:extLst>
              <a:ext uri="{FF2B5EF4-FFF2-40B4-BE49-F238E27FC236}">
                <a16:creationId xmlns:a16="http://schemas.microsoft.com/office/drawing/2014/main" id="{64DC2FAA-CA93-43FD-B5DA-0CDF291B24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8168" y="1291801"/>
            <a:ext cx="9347200" cy="3800680"/>
          </a:xfrm>
          <a:prstGeom prst="rect">
            <a:avLst/>
          </a:prstGeom>
        </p:spPr>
      </p:pic>
      <p:pic>
        <p:nvPicPr>
          <p:cNvPr id="2" name="object 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726754" y="0"/>
            <a:ext cx="5278045" cy="215900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365625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FVLSPGM</a:t>
            </a:r>
          </a:p>
        </p:txBody>
      </p:sp>
      <p:sp>
        <p:nvSpPr>
          <p:cNvPr id="12" name="object 12"/>
          <p:cNvSpPr/>
          <p:nvPr/>
        </p:nvSpPr>
        <p:spPr>
          <a:xfrm>
            <a:off x="4586898" y="893067"/>
            <a:ext cx="680720" cy="447675"/>
          </a:xfrm>
          <a:custGeom>
            <a:avLst/>
            <a:gdLst/>
            <a:ahLst/>
            <a:cxnLst/>
            <a:rect l="l" t="t" r="r" b="b"/>
            <a:pathLst>
              <a:path w="680720" h="447675">
                <a:moveTo>
                  <a:pt x="0" y="0"/>
                </a:moveTo>
                <a:lnTo>
                  <a:pt x="680198" y="0"/>
                </a:lnTo>
                <a:lnTo>
                  <a:pt x="680198" y="447227"/>
                </a:lnTo>
                <a:lnTo>
                  <a:pt x="0" y="44722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4468874" y="1264586"/>
            <a:ext cx="1172848" cy="3821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400" dirty="0">
                <a:latin typeface="Arial MT"/>
                <a:cs typeface="Arial MT"/>
              </a:rPr>
              <a:t>30</a:t>
            </a:r>
            <a:r>
              <a:rPr sz="2400" spc="-15" dirty="0">
                <a:latin typeface="Arial MT"/>
                <a:cs typeface="Arial MT"/>
              </a:rPr>
              <a:t> </a:t>
            </a:r>
            <a:r>
              <a:rPr sz="2400" spc="-50" dirty="0">
                <a:latin typeface="Arial MT"/>
                <a:cs typeface="Arial MT"/>
              </a:rPr>
              <a:t>m</a:t>
            </a:r>
            <a:endParaRPr sz="2400" dirty="0">
              <a:latin typeface="Arial MT"/>
              <a:cs typeface="Arial MT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6021774" y="893067"/>
            <a:ext cx="2045970" cy="447675"/>
            <a:chOff x="6021774" y="893067"/>
            <a:chExt cx="2045970" cy="447675"/>
          </a:xfrm>
        </p:grpSpPr>
        <p:sp>
          <p:nvSpPr>
            <p:cNvPr id="15" name="object 15"/>
            <p:cNvSpPr/>
            <p:nvPr/>
          </p:nvSpPr>
          <p:spPr>
            <a:xfrm>
              <a:off x="6170364" y="1116681"/>
              <a:ext cx="1748789" cy="0"/>
            </a:xfrm>
            <a:custGeom>
              <a:avLst/>
              <a:gdLst/>
              <a:ahLst/>
              <a:cxnLst/>
              <a:rect l="l" t="t" r="r" b="b"/>
              <a:pathLst>
                <a:path w="1748790">
                  <a:moveTo>
                    <a:pt x="0" y="0"/>
                  </a:moveTo>
                  <a:lnTo>
                    <a:pt x="649441" y="0"/>
                  </a:lnTo>
                </a:path>
                <a:path w="1748790">
                  <a:moveTo>
                    <a:pt x="1583838" y="0"/>
                  </a:moveTo>
                  <a:lnTo>
                    <a:pt x="1748580" y="0"/>
                  </a:lnTo>
                </a:path>
              </a:pathLst>
            </a:custGeom>
            <a:ln w="38100">
              <a:solidFill>
                <a:srgbClr val="91919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6021768" y="1032865"/>
              <a:ext cx="2045970" cy="167640"/>
            </a:xfrm>
            <a:custGeom>
              <a:avLst/>
              <a:gdLst/>
              <a:ahLst/>
              <a:cxnLst/>
              <a:rect l="l" t="t" r="r" b="b"/>
              <a:pathLst>
                <a:path w="2045970" h="167640">
                  <a:moveTo>
                    <a:pt x="167640" y="0"/>
                  </a:moveTo>
                  <a:lnTo>
                    <a:pt x="0" y="83820"/>
                  </a:lnTo>
                  <a:lnTo>
                    <a:pt x="167640" y="167640"/>
                  </a:lnTo>
                  <a:lnTo>
                    <a:pt x="167640" y="0"/>
                  </a:lnTo>
                  <a:close/>
                </a:path>
                <a:path w="2045970" h="167640">
                  <a:moveTo>
                    <a:pt x="2045754" y="83820"/>
                  </a:moveTo>
                  <a:lnTo>
                    <a:pt x="1878114" y="0"/>
                  </a:lnTo>
                  <a:lnTo>
                    <a:pt x="1878114" y="167640"/>
                  </a:lnTo>
                  <a:lnTo>
                    <a:pt x="2045754" y="83820"/>
                  </a:lnTo>
                  <a:close/>
                </a:path>
              </a:pathLst>
            </a:custGeom>
            <a:solidFill>
              <a:srgbClr val="91919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6819805" y="893067"/>
              <a:ext cx="934719" cy="447675"/>
            </a:xfrm>
            <a:custGeom>
              <a:avLst/>
              <a:gdLst/>
              <a:ahLst/>
              <a:cxnLst/>
              <a:rect l="l" t="t" r="r" b="b"/>
              <a:pathLst>
                <a:path w="934720" h="447675">
                  <a:moveTo>
                    <a:pt x="0" y="0"/>
                  </a:moveTo>
                  <a:lnTo>
                    <a:pt x="934397" y="0"/>
                  </a:lnTo>
                  <a:lnTo>
                    <a:pt x="934397" y="447227"/>
                  </a:lnTo>
                  <a:lnTo>
                    <a:pt x="0" y="4472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6921500" y="901700"/>
            <a:ext cx="7880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Arial MT"/>
                <a:cs typeface="Arial MT"/>
              </a:rPr>
              <a:t>0.3</a:t>
            </a:r>
            <a:r>
              <a:rPr sz="2400" spc="-35" dirty="0">
                <a:latin typeface="Arial MT"/>
                <a:cs typeface="Arial MT"/>
              </a:rPr>
              <a:t> </a:t>
            </a:r>
            <a:r>
              <a:rPr sz="2400" spc="-50" dirty="0">
                <a:latin typeface="Arial MT"/>
                <a:cs typeface="Arial MT"/>
              </a:rPr>
              <a:t>m</a:t>
            </a:r>
            <a:endParaRPr sz="2400" dirty="0">
              <a:latin typeface="Arial MT"/>
              <a:cs typeface="Arial MT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8618220" y="1310390"/>
            <a:ext cx="7035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Arial MT"/>
                <a:cs typeface="Arial MT"/>
              </a:rPr>
              <a:t>10</a:t>
            </a:r>
            <a:r>
              <a:rPr sz="2400" spc="-30" dirty="0">
                <a:latin typeface="Arial MT"/>
                <a:cs typeface="Arial MT"/>
              </a:rPr>
              <a:t> </a:t>
            </a:r>
            <a:r>
              <a:rPr sz="2400" spc="-50" dirty="0">
                <a:latin typeface="Arial MT"/>
                <a:cs typeface="Arial MT"/>
              </a:rPr>
              <a:t>m</a:t>
            </a:r>
            <a:endParaRPr sz="2400" dirty="0">
              <a:latin typeface="Arial MT"/>
              <a:cs typeface="Arial MT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10410468" y="1749025"/>
            <a:ext cx="12795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Arial MT"/>
                <a:cs typeface="Arial MT"/>
              </a:rPr>
              <a:t>Slit</a:t>
            </a:r>
            <a:r>
              <a:rPr sz="2400" spc="-40" dirty="0">
                <a:latin typeface="Arial MT"/>
                <a:cs typeface="Arial MT"/>
              </a:rPr>
              <a:t> </a:t>
            </a:r>
            <a:r>
              <a:rPr sz="2400" spc="-10" dirty="0">
                <a:latin typeface="Arial MT"/>
                <a:cs typeface="Arial MT"/>
              </a:rPr>
              <a:t>plane</a:t>
            </a:r>
            <a:endParaRPr sz="2400" dirty="0">
              <a:latin typeface="Arial MT"/>
              <a:cs typeface="Arial MT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3556000" y="2910840"/>
            <a:ext cx="741045" cy="746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40"/>
              </a:lnSpc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88.5°</a:t>
            </a:r>
            <a:endParaRPr sz="2400">
              <a:latin typeface="Arial MT"/>
              <a:cs typeface="Arial MT"/>
            </a:endParaRPr>
          </a:p>
          <a:p>
            <a:pPr marL="177800">
              <a:lnSpc>
                <a:spcPts val="2840"/>
              </a:lnSpc>
            </a:pPr>
            <a:r>
              <a:rPr sz="2400" spc="-20" dirty="0">
                <a:latin typeface="Arial MT"/>
                <a:cs typeface="Arial MT"/>
              </a:rPr>
              <a:t>left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3" name="object 3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pc="-10" dirty="0"/>
              <a:t>Software</a:t>
            </a:r>
            <a:r>
              <a:rPr spc="-50" dirty="0"/>
              <a:t> </a:t>
            </a:r>
            <a:r>
              <a:rPr dirty="0"/>
              <a:t>for</a:t>
            </a:r>
            <a:r>
              <a:rPr spc="-45" dirty="0"/>
              <a:t> </a:t>
            </a:r>
            <a:r>
              <a:rPr dirty="0"/>
              <a:t>Optical</a:t>
            </a:r>
            <a:r>
              <a:rPr spc="-45" dirty="0"/>
              <a:t> </a:t>
            </a:r>
            <a:r>
              <a:rPr dirty="0"/>
              <a:t>Simulations,</a:t>
            </a:r>
            <a:r>
              <a:rPr spc="-45" dirty="0"/>
              <a:t> </a:t>
            </a:r>
            <a:r>
              <a:rPr spc="-20" dirty="0"/>
              <a:t>Trieste,</a:t>
            </a:r>
            <a:r>
              <a:rPr spc="-45" dirty="0"/>
              <a:t> </a:t>
            </a:r>
            <a:r>
              <a:rPr dirty="0"/>
              <a:t>October</a:t>
            </a:r>
            <a:r>
              <a:rPr spc="-45" dirty="0"/>
              <a:t> </a:t>
            </a:r>
            <a:r>
              <a:rPr dirty="0"/>
              <a:t>2016.</a:t>
            </a:r>
            <a:r>
              <a:rPr spc="-45" dirty="0"/>
              <a:t> </a:t>
            </a:r>
            <a:r>
              <a:rPr dirty="0"/>
              <a:t>Ruben</a:t>
            </a:r>
            <a:r>
              <a:rPr spc="-45" dirty="0"/>
              <a:t> </a:t>
            </a:r>
            <a:r>
              <a:rPr spc="-10" dirty="0"/>
              <a:t>Reininger</a:t>
            </a:r>
          </a:p>
        </p:txBody>
      </p:sp>
      <p:sp>
        <p:nvSpPr>
          <p:cNvPr id="34" name="object 3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25" dirty="0"/>
              <a:t>39</a:t>
            </a:fld>
            <a:endParaRPr spc="-25" dirty="0"/>
          </a:p>
        </p:txBody>
      </p:sp>
      <p:sp>
        <p:nvSpPr>
          <p:cNvPr id="35" name="object 35"/>
          <p:cNvSpPr txBox="1"/>
          <p:nvPr/>
        </p:nvSpPr>
        <p:spPr>
          <a:xfrm>
            <a:off x="1069339" y="9384967"/>
            <a:ext cx="72390" cy="211454"/>
          </a:xfrm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sz="1200" spc="-50" dirty="0">
                <a:solidFill>
                  <a:srgbClr val="275D90"/>
                </a:solidFill>
                <a:latin typeface="Calibri"/>
                <a:cs typeface="Calibri"/>
              </a:rPr>
              <a:t>-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5549900" y="3063240"/>
            <a:ext cx="754380" cy="746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40"/>
              </a:lnSpc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87.8°</a:t>
            </a:r>
            <a:endParaRPr sz="2400" dirty="0">
              <a:latin typeface="Arial MT"/>
              <a:cs typeface="Arial MT"/>
            </a:endParaRPr>
          </a:p>
          <a:p>
            <a:pPr marL="12700">
              <a:lnSpc>
                <a:spcPts val="2840"/>
              </a:lnSpc>
            </a:pPr>
            <a:r>
              <a:rPr sz="2400" spc="-20" dirty="0">
                <a:latin typeface="Arial MT"/>
                <a:cs typeface="Arial MT"/>
              </a:rPr>
              <a:t>down</a:t>
            </a:r>
            <a:endParaRPr sz="2400" dirty="0">
              <a:latin typeface="Arial MT"/>
              <a:cs typeface="Arial MT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6946900" y="3139440"/>
            <a:ext cx="2329180" cy="746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ts val="2840"/>
              </a:lnSpc>
              <a:spcBef>
                <a:spcPts val="100"/>
              </a:spcBef>
            </a:pPr>
            <a:r>
              <a:rPr sz="2400" i="1" dirty="0">
                <a:latin typeface="Arial"/>
                <a:cs typeface="Arial"/>
              </a:rPr>
              <a:t>α</a:t>
            </a:r>
            <a:r>
              <a:rPr sz="2400" dirty="0">
                <a:latin typeface="Arial MT"/>
                <a:cs typeface="Arial MT"/>
              </a:rPr>
              <a:t>=88.5°,</a:t>
            </a:r>
            <a:r>
              <a:rPr sz="2400" spc="-90" dirty="0">
                <a:latin typeface="Arial MT"/>
                <a:cs typeface="Arial MT"/>
              </a:rPr>
              <a:t> </a:t>
            </a:r>
            <a:r>
              <a:rPr sz="2400" i="1" spc="-10" dirty="0">
                <a:latin typeface="Arial"/>
                <a:cs typeface="Arial"/>
              </a:rPr>
              <a:t>β</a:t>
            </a:r>
            <a:r>
              <a:rPr sz="2400" spc="-10" dirty="0">
                <a:latin typeface="Arial MT"/>
                <a:cs typeface="Arial MT"/>
              </a:rPr>
              <a:t>=87.1°</a:t>
            </a:r>
            <a:endParaRPr sz="2400" dirty="0">
              <a:latin typeface="Arial MT"/>
              <a:cs typeface="Arial MT"/>
            </a:endParaRPr>
          </a:p>
          <a:p>
            <a:pPr marR="635" algn="ctr">
              <a:lnSpc>
                <a:spcPts val="2840"/>
              </a:lnSpc>
            </a:pPr>
            <a:r>
              <a:rPr sz="2400" spc="-25" dirty="0">
                <a:latin typeface="Arial MT"/>
                <a:cs typeface="Arial MT"/>
              </a:rPr>
              <a:t>up</a:t>
            </a:r>
            <a:endParaRPr sz="2400" dirty="0">
              <a:latin typeface="Arial MT"/>
              <a:cs typeface="Arial MT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10350500" y="2910840"/>
            <a:ext cx="2211070" cy="746760"/>
          </a:xfrm>
          <a:prstGeom prst="rect">
            <a:avLst/>
          </a:prstGeom>
        </p:spPr>
        <p:txBody>
          <a:bodyPr vert="horz" wrap="square" lIns="0" tIns="33020" rIns="0" bIns="0" rtlCol="0">
            <a:spAutoFit/>
          </a:bodyPr>
          <a:lstStyle/>
          <a:p>
            <a:pPr marL="12700" marR="5080">
              <a:lnSpc>
                <a:spcPts val="2800"/>
              </a:lnSpc>
              <a:spcBef>
                <a:spcPts val="260"/>
              </a:spcBef>
            </a:pPr>
            <a:r>
              <a:rPr sz="2400" dirty="0">
                <a:latin typeface="Arial MT"/>
                <a:cs typeface="Arial MT"/>
              </a:rPr>
              <a:t>Horizontal</a:t>
            </a:r>
            <a:r>
              <a:rPr sz="2400" spc="-120" dirty="0">
                <a:latin typeface="Arial MT"/>
                <a:cs typeface="Arial MT"/>
              </a:rPr>
              <a:t> </a:t>
            </a:r>
            <a:r>
              <a:rPr sz="2400" spc="-10" dirty="0">
                <a:latin typeface="Arial MT"/>
                <a:cs typeface="Arial MT"/>
              </a:rPr>
              <a:t>focus </a:t>
            </a:r>
            <a:r>
              <a:rPr sz="2400" dirty="0">
                <a:latin typeface="Arial MT"/>
                <a:cs typeface="Arial MT"/>
              </a:rPr>
              <a:t>after</a:t>
            </a:r>
            <a:r>
              <a:rPr sz="2400" spc="-50" dirty="0">
                <a:latin typeface="Arial MT"/>
                <a:cs typeface="Arial MT"/>
              </a:rPr>
              <a:t> </a:t>
            </a:r>
            <a:r>
              <a:rPr sz="2400" spc="-20" dirty="0">
                <a:latin typeface="Arial MT"/>
                <a:cs typeface="Arial MT"/>
              </a:rPr>
              <a:t>slit</a:t>
            </a:r>
            <a:endParaRPr sz="2400">
              <a:latin typeface="Arial MT"/>
              <a:cs typeface="Arial M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3A96917-19B0-494D-9461-DFADCE589FC5}"/>
              </a:ext>
            </a:extLst>
          </p:cNvPr>
          <p:cNvCxnSpPr>
            <a:cxnSpLocks/>
          </p:cNvCxnSpPr>
          <p:nvPr/>
        </p:nvCxnSpPr>
        <p:spPr>
          <a:xfrm>
            <a:off x="5267618" y="1497686"/>
            <a:ext cx="2800120" cy="36121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FF25B038-A5F2-4F62-B30D-3A817859BC24}"/>
              </a:ext>
            </a:extLst>
          </p:cNvPr>
          <p:cNvCxnSpPr>
            <a:cxnSpLocks/>
          </p:cNvCxnSpPr>
          <p:nvPr/>
        </p:nvCxnSpPr>
        <p:spPr>
          <a:xfrm flipH="1" flipV="1">
            <a:off x="1820057" y="1447800"/>
            <a:ext cx="2548743" cy="15889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0E643E90-2103-4781-B121-0182F051F47D}"/>
              </a:ext>
            </a:extLst>
          </p:cNvPr>
          <p:cNvCxnSpPr>
            <a:cxnSpLocks/>
          </p:cNvCxnSpPr>
          <p:nvPr/>
        </p:nvCxnSpPr>
        <p:spPr>
          <a:xfrm>
            <a:off x="9413383" y="1559505"/>
            <a:ext cx="482905" cy="579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BB406A2A-8CE9-4B4B-8C0A-9F3535E909BB}"/>
              </a:ext>
            </a:extLst>
          </p:cNvPr>
          <p:cNvCxnSpPr>
            <a:cxnSpLocks/>
          </p:cNvCxnSpPr>
          <p:nvPr/>
        </p:nvCxnSpPr>
        <p:spPr>
          <a:xfrm flipH="1">
            <a:off x="8111490" y="1548811"/>
            <a:ext cx="448310" cy="0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4" name="Picture 63">
            <a:extLst>
              <a:ext uri="{FF2B5EF4-FFF2-40B4-BE49-F238E27FC236}">
                <a16:creationId xmlns:a16="http://schemas.microsoft.com/office/drawing/2014/main" id="{07FF7CBE-E712-4116-A2E4-EB806809C7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8039" y="5084726"/>
            <a:ext cx="4373070" cy="3883465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82AE5FE5-85CA-41FC-853B-9D2C9ABAE6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25218" y="6246743"/>
            <a:ext cx="3684172" cy="921043"/>
          </a:xfrm>
          <a:prstGeom prst="rect">
            <a:avLst/>
          </a:prstGeom>
        </p:spPr>
      </p:pic>
      <p:sp>
        <p:nvSpPr>
          <p:cNvPr id="66" name="Rectangle 65">
            <a:extLst>
              <a:ext uri="{FF2B5EF4-FFF2-40B4-BE49-F238E27FC236}">
                <a16:creationId xmlns:a16="http://schemas.microsoft.com/office/drawing/2014/main" id="{94B22CB7-1FDB-4833-8C8D-F0B28C395760}"/>
              </a:ext>
            </a:extLst>
          </p:cNvPr>
          <p:cNvSpPr/>
          <p:nvPr/>
        </p:nvSpPr>
        <p:spPr>
          <a:xfrm>
            <a:off x="19065" y="18782"/>
            <a:ext cx="475001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06_FVLSPGM1000eVc2M2WithWithout.ows</a:t>
            </a:r>
          </a:p>
        </p:txBody>
      </p:sp>
      <p:sp>
        <p:nvSpPr>
          <p:cNvPr id="67" name="object 32">
            <a:extLst>
              <a:ext uri="{FF2B5EF4-FFF2-40B4-BE49-F238E27FC236}">
                <a16:creationId xmlns:a16="http://schemas.microsoft.com/office/drawing/2014/main" id="{5D0386A3-7EAA-4F95-8F2E-8F808D236C66}"/>
              </a:ext>
            </a:extLst>
          </p:cNvPr>
          <p:cNvSpPr txBox="1"/>
          <p:nvPr/>
        </p:nvSpPr>
        <p:spPr>
          <a:xfrm rot="21060000">
            <a:off x="3126062" y="1971739"/>
            <a:ext cx="1974388" cy="304800"/>
          </a:xfrm>
          <a:prstGeom prst="rect">
            <a:avLst/>
          </a:prstGeom>
          <a:solidFill>
            <a:srgbClr val="FFFF00"/>
          </a:solidFill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2400"/>
              </a:lnSpc>
            </a:pPr>
            <a:r>
              <a:rPr sz="2400" spc="-30" dirty="0">
                <a:solidFill>
                  <a:srgbClr val="FF2600"/>
                </a:solidFill>
                <a:latin typeface="Arial MT"/>
                <a:cs typeface="Arial MT"/>
              </a:rPr>
              <a:t>Hea</a:t>
            </a:r>
            <a:r>
              <a:rPr sz="3600" spc="-44" baseline="1157" dirty="0">
                <a:solidFill>
                  <a:srgbClr val="FF2600"/>
                </a:solidFill>
                <a:latin typeface="Arial MT"/>
                <a:cs typeface="Arial MT"/>
              </a:rPr>
              <a:t>t</a:t>
            </a:r>
            <a:r>
              <a:rPr sz="3600" spc="-202" baseline="1157" dirty="0">
                <a:solidFill>
                  <a:srgbClr val="FF2600"/>
                </a:solidFill>
                <a:latin typeface="Arial MT"/>
                <a:cs typeface="Arial MT"/>
              </a:rPr>
              <a:t> </a:t>
            </a:r>
            <a:r>
              <a:rPr sz="3600" spc="-15" baseline="1157" dirty="0">
                <a:solidFill>
                  <a:srgbClr val="FF2600"/>
                </a:solidFill>
                <a:latin typeface="Arial MT"/>
                <a:cs typeface="Arial MT"/>
              </a:rPr>
              <a:t>Absorb</a:t>
            </a:r>
            <a:r>
              <a:rPr sz="3600" spc="-15" baseline="2314" dirty="0">
                <a:solidFill>
                  <a:srgbClr val="FF2600"/>
                </a:solidFill>
                <a:latin typeface="Arial MT"/>
                <a:cs typeface="Arial MT"/>
              </a:rPr>
              <a:t>er</a:t>
            </a:r>
            <a:endParaRPr sz="3600" baseline="2314" dirty="0">
              <a:latin typeface="Arial MT"/>
              <a:cs typeface="Arial MT"/>
            </a:endParaRPr>
          </a:p>
        </p:txBody>
      </p:sp>
    </p:spTree>
    <p:extLst>
      <p:ext uri="{BB962C8B-B14F-4D97-AF65-F5344CB8AC3E}">
        <p14:creationId xmlns:p14="http://schemas.microsoft.com/office/powerpoint/2010/main" val="208424005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6D97EDC7-EE03-4E6F-9890-0835598532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5133" y="1002464"/>
            <a:ext cx="9347200" cy="3800680"/>
          </a:xfrm>
          <a:prstGeom prst="rect">
            <a:avLst/>
          </a:prstGeom>
        </p:spPr>
      </p:pic>
      <p:pic>
        <p:nvPicPr>
          <p:cNvPr id="2" name="object 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726754" y="0"/>
            <a:ext cx="5278045" cy="215900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676525">
              <a:lnSpc>
                <a:spcPct val="100000"/>
              </a:lnSpc>
              <a:spcBef>
                <a:spcPts val="100"/>
              </a:spcBef>
            </a:pPr>
            <a:r>
              <a:rPr dirty="0"/>
              <a:t>FVLSPGM</a:t>
            </a:r>
            <a:r>
              <a:rPr spc="-70" dirty="0"/>
              <a:t> </a:t>
            </a:r>
            <a:r>
              <a:rPr dirty="0"/>
              <a:t>with</a:t>
            </a:r>
            <a:r>
              <a:rPr spc="-75" dirty="0"/>
              <a:t> </a:t>
            </a:r>
            <a:r>
              <a:rPr dirty="0"/>
              <a:t>Heat</a:t>
            </a:r>
            <a:r>
              <a:rPr spc="-70" dirty="0"/>
              <a:t> </a:t>
            </a:r>
            <a:r>
              <a:rPr spc="-20" dirty="0"/>
              <a:t>Load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9766300" y="1295400"/>
            <a:ext cx="12795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Arial MT"/>
                <a:cs typeface="Arial MT"/>
              </a:rPr>
              <a:t>Slit</a:t>
            </a:r>
            <a:r>
              <a:rPr sz="2400" spc="-40" dirty="0">
                <a:latin typeface="Arial MT"/>
                <a:cs typeface="Arial MT"/>
              </a:rPr>
              <a:t> </a:t>
            </a:r>
            <a:r>
              <a:rPr sz="2400" spc="-10" dirty="0">
                <a:latin typeface="Arial MT"/>
                <a:cs typeface="Arial MT"/>
              </a:rPr>
              <a:t>plane</a:t>
            </a:r>
            <a:endParaRPr sz="2400">
              <a:latin typeface="Arial MT"/>
              <a:cs typeface="Arial MT"/>
            </a:endParaRPr>
          </a:p>
        </p:txBody>
      </p:sp>
      <p:pic>
        <p:nvPicPr>
          <p:cNvPr id="12" name="object 12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908300" y="8331200"/>
            <a:ext cx="3807858" cy="1003300"/>
          </a:xfrm>
          <a:prstGeom prst="rect">
            <a:avLst/>
          </a:prstGeom>
        </p:spPr>
      </p:pic>
      <p:sp>
        <p:nvSpPr>
          <p:cNvPr id="13" name="object 13"/>
          <p:cNvSpPr txBox="1"/>
          <p:nvPr/>
        </p:nvSpPr>
        <p:spPr>
          <a:xfrm>
            <a:off x="4749800" y="7747000"/>
            <a:ext cx="10591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Without</a:t>
            </a:r>
            <a:endParaRPr sz="2400">
              <a:latin typeface="Arial MT"/>
              <a:cs typeface="Arial MT"/>
            </a:endParaRPr>
          </a:p>
        </p:txBody>
      </p:sp>
      <p:pic>
        <p:nvPicPr>
          <p:cNvPr id="14" name="object 14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867234" y="8369300"/>
            <a:ext cx="3804065" cy="939800"/>
          </a:xfrm>
          <a:prstGeom prst="rect">
            <a:avLst/>
          </a:prstGeom>
        </p:spPr>
      </p:pic>
      <p:sp>
        <p:nvSpPr>
          <p:cNvPr id="15" name="object 15"/>
          <p:cNvSpPr txBox="1"/>
          <p:nvPr/>
        </p:nvSpPr>
        <p:spPr>
          <a:xfrm>
            <a:off x="9118600" y="7772400"/>
            <a:ext cx="6350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With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6" name="object 1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pc="-10" dirty="0"/>
              <a:t>Software</a:t>
            </a:r>
            <a:r>
              <a:rPr spc="-50" dirty="0"/>
              <a:t> </a:t>
            </a:r>
            <a:r>
              <a:rPr dirty="0"/>
              <a:t>for</a:t>
            </a:r>
            <a:r>
              <a:rPr spc="-45" dirty="0"/>
              <a:t> </a:t>
            </a:r>
            <a:r>
              <a:rPr dirty="0"/>
              <a:t>Optical</a:t>
            </a:r>
            <a:r>
              <a:rPr spc="-45" dirty="0"/>
              <a:t> </a:t>
            </a:r>
            <a:r>
              <a:rPr dirty="0"/>
              <a:t>Simulations,</a:t>
            </a:r>
            <a:r>
              <a:rPr spc="-45" dirty="0"/>
              <a:t> </a:t>
            </a:r>
            <a:r>
              <a:rPr spc="-20" dirty="0"/>
              <a:t>Trieste,</a:t>
            </a:r>
            <a:r>
              <a:rPr spc="-45" dirty="0"/>
              <a:t> </a:t>
            </a:r>
            <a:r>
              <a:rPr dirty="0"/>
              <a:t>October</a:t>
            </a:r>
            <a:r>
              <a:rPr spc="-45" dirty="0"/>
              <a:t> </a:t>
            </a:r>
            <a:r>
              <a:rPr dirty="0"/>
              <a:t>2016.</a:t>
            </a:r>
            <a:r>
              <a:rPr spc="-45" dirty="0"/>
              <a:t> </a:t>
            </a:r>
            <a:r>
              <a:rPr dirty="0"/>
              <a:t>Ruben</a:t>
            </a:r>
            <a:r>
              <a:rPr spc="-45" dirty="0"/>
              <a:t> </a:t>
            </a:r>
            <a:r>
              <a:rPr spc="-10" dirty="0"/>
              <a:t>Reininger</a:t>
            </a:r>
          </a:p>
        </p:txBody>
      </p:sp>
      <p:sp>
        <p:nvSpPr>
          <p:cNvPr id="17" name="object 1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25" dirty="0"/>
              <a:t>40</a:t>
            </a:fld>
            <a:endParaRPr spc="-25" dirty="0"/>
          </a:p>
        </p:txBody>
      </p:sp>
      <p:sp>
        <p:nvSpPr>
          <p:cNvPr id="18" name="object 18"/>
          <p:cNvSpPr txBox="1"/>
          <p:nvPr/>
        </p:nvSpPr>
        <p:spPr>
          <a:xfrm>
            <a:off x="1069339" y="9384967"/>
            <a:ext cx="72390" cy="211454"/>
          </a:xfrm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sz="1200" spc="-50" dirty="0">
                <a:solidFill>
                  <a:srgbClr val="275D90"/>
                </a:solidFill>
                <a:latin typeface="Calibri"/>
                <a:cs typeface="Calibri"/>
              </a:rPr>
              <a:t>-</a:t>
            </a:r>
            <a:endParaRPr sz="1200">
              <a:latin typeface="Calibri"/>
              <a:cs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F1922B2-18DD-484E-849C-3663B7AE33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0415" y="3092695"/>
            <a:ext cx="5031369" cy="452301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E2809E2-CB0E-4BCE-A21D-7A0C3ABBB73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3184" y="4804393"/>
            <a:ext cx="3379157" cy="3631542"/>
          </a:xfrm>
          <a:prstGeom prst="rect">
            <a:avLst/>
          </a:prstGeom>
        </p:spPr>
      </p:pic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D9CF9FA-E497-4F42-AA5E-CBFD8DB21064}"/>
              </a:ext>
            </a:extLst>
          </p:cNvPr>
          <p:cNvCxnSpPr/>
          <p:nvPr/>
        </p:nvCxnSpPr>
        <p:spPr>
          <a:xfrm flipV="1">
            <a:off x="4216400" y="2667000"/>
            <a:ext cx="1447800" cy="39531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993C6D0F-34C5-48EB-9F95-14636B267B04}"/>
              </a:ext>
            </a:extLst>
          </p:cNvPr>
          <p:cNvSpPr/>
          <p:nvPr/>
        </p:nvSpPr>
        <p:spPr>
          <a:xfrm>
            <a:off x="19065" y="18782"/>
            <a:ext cx="475001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06_FVLSPGM1000eVc2M2WithWithout.ows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726754" y="0"/>
            <a:ext cx="5278045" cy="203200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16781" y="2374900"/>
            <a:ext cx="5195219" cy="4521200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42925">
              <a:lnSpc>
                <a:spcPct val="100000"/>
              </a:lnSpc>
              <a:spcBef>
                <a:spcPts val="100"/>
              </a:spcBef>
            </a:pPr>
            <a:r>
              <a:rPr dirty="0"/>
              <a:t>Deformation:</a:t>
            </a:r>
            <a:r>
              <a:rPr spc="-35" dirty="0"/>
              <a:t> </a:t>
            </a:r>
            <a:r>
              <a:rPr dirty="0"/>
              <a:t>Heat</a:t>
            </a:r>
            <a:r>
              <a:rPr spc="-30" dirty="0"/>
              <a:t> </a:t>
            </a:r>
            <a:r>
              <a:rPr dirty="0"/>
              <a:t>load</a:t>
            </a:r>
            <a:r>
              <a:rPr spc="-35" dirty="0"/>
              <a:t> </a:t>
            </a:r>
            <a:r>
              <a:rPr dirty="0"/>
              <a:t>absorbed</a:t>
            </a:r>
            <a:r>
              <a:rPr spc="-30" dirty="0"/>
              <a:t> </a:t>
            </a:r>
            <a:r>
              <a:rPr dirty="0"/>
              <a:t>on</a:t>
            </a:r>
            <a:r>
              <a:rPr spc="-30" dirty="0"/>
              <a:t> </a:t>
            </a:r>
            <a:r>
              <a:rPr dirty="0"/>
              <a:t>PM,</a:t>
            </a:r>
            <a:r>
              <a:rPr spc="-35" dirty="0"/>
              <a:t> </a:t>
            </a:r>
            <a:r>
              <a:rPr spc="-25" dirty="0"/>
              <a:t>c=2</a:t>
            </a:r>
          </a:p>
        </p:txBody>
      </p:sp>
      <p:grpSp>
        <p:nvGrpSpPr>
          <p:cNvPr id="5" name="object 5"/>
          <p:cNvGrpSpPr/>
          <p:nvPr/>
        </p:nvGrpSpPr>
        <p:grpSpPr>
          <a:xfrm>
            <a:off x="6846001" y="3254321"/>
            <a:ext cx="4813300" cy="3022600"/>
            <a:chOff x="6846001" y="3254321"/>
            <a:chExt cx="4813300" cy="3022600"/>
          </a:xfrm>
        </p:grpSpPr>
        <p:sp>
          <p:nvSpPr>
            <p:cNvPr id="6" name="object 6"/>
            <p:cNvSpPr/>
            <p:nvPr/>
          </p:nvSpPr>
          <p:spPr>
            <a:xfrm>
              <a:off x="6854574" y="3271199"/>
              <a:ext cx="154940" cy="2988945"/>
            </a:xfrm>
            <a:custGeom>
              <a:avLst/>
              <a:gdLst/>
              <a:ahLst/>
              <a:cxnLst/>
              <a:rect l="l" t="t" r="r" b="b"/>
              <a:pathLst>
                <a:path w="154940" h="2988945">
                  <a:moveTo>
                    <a:pt x="7274" y="0"/>
                  </a:moveTo>
                  <a:lnTo>
                    <a:pt x="7274" y="2988591"/>
                  </a:lnTo>
                </a:path>
                <a:path w="154940" h="2988945">
                  <a:moveTo>
                    <a:pt x="0" y="86165"/>
                  </a:moveTo>
                  <a:lnTo>
                    <a:pt x="154637" y="86165"/>
                  </a:lnTo>
                </a:path>
                <a:path w="154940" h="2988945">
                  <a:moveTo>
                    <a:pt x="0" y="596929"/>
                  </a:moveTo>
                  <a:lnTo>
                    <a:pt x="154637" y="596929"/>
                  </a:lnTo>
                </a:path>
                <a:path w="154940" h="2988945">
                  <a:moveTo>
                    <a:pt x="0" y="1107693"/>
                  </a:moveTo>
                  <a:lnTo>
                    <a:pt x="154637" y="1107693"/>
                  </a:lnTo>
                </a:path>
                <a:path w="154940" h="2988945">
                  <a:moveTo>
                    <a:pt x="0" y="1618457"/>
                  </a:moveTo>
                  <a:lnTo>
                    <a:pt x="154637" y="1618457"/>
                  </a:lnTo>
                </a:path>
                <a:path w="154940" h="2988945">
                  <a:moveTo>
                    <a:pt x="0" y="2129221"/>
                  </a:moveTo>
                  <a:lnTo>
                    <a:pt x="154637" y="2129221"/>
                  </a:lnTo>
                </a:path>
                <a:path w="154940" h="2988945">
                  <a:moveTo>
                    <a:pt x="0" y="2637908"/>
                  </a:moveTo>
                  <a:lnTo>
                    <a:pt x="154637" y="2637908"/>
                  </a:lnTo>
                </a:path>
              </a:pathLst>
            </a:custGeom>
            <a:ln w="16618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6861848" y="3262894"/>
              <a:ext cx="4789170" cy="3005455"/>
            </a:xfrm>
            <a:custGeom>
              <a:avLst/>
              <a:gdLst/>
              <a:ahLst/>
              <a:cxnLst/>
              <a:rect l="l" t="t" r="r" b="b"/>
              <a:pathLst>
                <a:path w="4789170" h="3005454">
                  <a:moveTo>
                    <a:pt x="1039" y="2997104"/>
                  </a:moveTo>
                  <a:lnTo>
                    <a:pt x="4788553" y="2997104"/>
                  </a:lnTo>
                </a:path>
                <a:path w="4789170" h="3005454">
                  <a:moveTo>
                    <a:pt x="1039" y="7266"/>
                  </a:moveTo>
                  <a:lnTo>
                    <a:pt x="4788553" y="7266"/>
                  </a:lnTo>
                </a:path>
                <a:path w="4789170" h="3005454">
                  <a:moveTo>
                    <a:pt x="0" y="0"/>
                  </a:moveTo>
                  <a:lnTo>
                    <a:pt x="0" y="83881"/>
                  </a:lnTo>
                </a:path>
                <a:path w="4789170" h="3005454">
                  <a:moveTo>
                    <a:pt x="0" y="3005201"/>
                  </a:moveTo>
                  <a:lnTo>
                    <a:pt x="0" y="2921320"/>
                  </a:lnTo>
                </a:path>
                <a:path w="4789170" h="3005454">
                  <a:moveTo>
                    <a:pt x="170433" y="0"/>
                  </a:moveTo>
                  <a:lnTo>
                    <a:pt x="170433" y="83881"/>
                  </a:lnTo>
                </a:path>
                <a:path w="4789170" h="3005454">
                  <a:moveTo>
                    <a:pt x="170433" y="3005201"/>
                  </a:moveTo>
                  <a:lnTo>
                    <a:pt x="170433" y="2921320"/>
                  </a:lnTo>
                </a:path>
                <a:path w="4789170" h="3005454">
                  <a:moveTo>
                    <a:pt x="342945" y="0"/>
                  </a:moveTo>
                  <a:lnTo>
                    <a:pt x="342945" y="154474"/>
                  </a:lnTo>
                </a:path>
                <a:path w="4789170" h="3005454">
                  <a:moveTo>
                    <a:pt x="342945" y="3005201"/>
                  </a:moveTo>
                  <a:lnTo>
                    <a:pt x="342945" y="2850726"/>
                  </a:lnTo>
                </a:path>
                <a:path w="4789170" h="3005454">
                  <a:moveTo>
                    <a:pt x="513378" y="0"/>
                  </a:moveTo>
                  <a:lnTo>
                    <a:pt x="513378" y="83881"/>
                  </a:lnTo>
                </a:path>
                <a:path w="4789170" h="3005454">
                  <a:moveTo>
                    <a:pt x="513378" y="3005201"/>
                  </a:moveTo>
                  <a:lnTo>
                    <a:pt x="513378" y="2921320"/>
                  </a:lnTo>
                </a:path>
                <a:path w="4789170" h="3005454">
                  <a:moveTo>
                    <a:pt x="683811" y="0"/>
                  </a:moveTo>
                  <a:lnTo>
                    <a:pt x="683811" y="83881"/>
                  </a:lnTo>
                </a:path>
                <a:path w="4789170" h="3005454">
                  <a:moveTo>
                    <a:pt x="683811" y="3005201"/>
                  </a:moveTo>
                  <a:lnTo>
                    <a:pt x="683811" y="2921320"/>
                  </a:lnTo>
                </a:path>
                <a:path w="4789170" h="3005454">
                  <a:moveTo>
                    <a:pt x="854245" y="0"/>
                  </a:moveTo>
                  <a:lnTo>
                    <a:pt x="854245" y="83881"/>
                  </a:lnTo>
                </a:path>
                <a:path w="4789170" h="3005454">
                  <a:moveTo>
                    <a:pt x="854245" y="3005201"/>
                  </a:moveTo>
                  <a:lnTo>
                    <a:pt x="854245" y="2921320"/>
                  </a:lnTo>
                </a:path>
                <a:path w="4789170" h="3005454">
                  <a:moveTo>
                    <a:pt x="1026756" y="0"/>
                  </a:moveTo>
                  <a:lnTo>
                    <a:pt x="1026756" y="154474"/>
                  </a:lnTo>
                </a:path>
                <a:path w="4789170" h="3005454">
                  <a:moveTo>
                    <a:pt x="1026756" y="3005201"/>
                  </a:moveTo>
                  <a:lnTo>
                    <a:pt x="1026756" y="2850726"/>
                  </a:lnTo>
                </a:path>
                <a:path w="4789170" h="3005454">
                  <a:moveTo>
                    <a:pt x="1197190" y="0"/>
                  </a:moveTo>
                  <a:lnTo>
                    <a:pt x="1197190" y="83881"/>
                  </a:lnTo>
                </a:path>
                <a:path w="4789170" h="3005454">
                  <a:moveTo>
                    <a:pt x="1197190" y="3005201"/>
                  </a:moveTo>
                  <a:lnTo>
                    <a:pt x="1197190" y="2921320"/>
                  </a:lnTo>
                </a:path>
                <a:path w="4789170" h="3005454">
                  <a:moveTo>
                    <a:pt x="1367623" y="0"/>
                  </a:moveTo>
                  <a:lnTo>
                    <a:pt x="1367623" y="83881"/>
                  </a:lnTo>
                </a:path>
                <a:path w="4789170" h="3005454">
                  <a:moveTo>
                    <a:pt x="1367623" y="3005201"/>
                  </a:moveTo>
                  <a:lnTo>
                    <a:pt x="1367623" y="2921320"/>
                  </a:lnTo>
                </a:path>
                <a:path w="4789170" h="3005454">
                  <a:moveTo>
                    <a:pt x="1540135" y="0"/>
                  </a:moveTo>
                  <a:lnTo>
                    <a:pt x="1540135" y="83881"/>
                  </a:lnTo>
                </a:path>
                <a:path w="4789170" h="3005454">
                  <a:moveTo>
                    <a:pt x="1540135" y="3005201"/>
                  </a:moveTo>
                  <a:lnTo>
                    <a:pt x="1540135" y="2921320"/>
                  </a:lnTo>
                </a:path>
                <a:path w="4789170" h="3005454">
                  <a:moveTo>
                    <a:pt x="1710568" y="0"/>
                  </a:moveTo>
                  <a:lnTo>
                    <a:pt x="1710568" y="154474"/>
                  </a:lnTo>
                </a:path>
                <a:path w="4789170" h="3005454">
                  <a:moveTo>
                    <a:pt x="1710568" y="3005201"/>
                  </a:moveTo>
                  <a:lnTo>
                    <a:pt x="1710568" y="2850726"/>
                  </a:lnTo>
                </a:path>
                <a:path w="4789170" h="3005454">
                  <a:moveTo>
                    <a:pt x="1881002" y="0"/>
                  </a:moveTo>
                  <a:lnTo>
                    <a:pt x="1881002" y="83881"/>
                  </a:lnTo>
                </a:path>
                <a:path w="4789170" h="3005454">
                  <a:moveTo>
                    <a:pt x="1881002" y="3005201"/>
                  </a:moveTo>
                  <a:lnTo>
                    <a:pt x="1881002" y="2921320"/>
                  </a:lnTo>
                </a:path>
                <a:path w="4789170" h="3005454">
                  <a:moveTo>
                    <a:pt x="2051435" y="0"/>
                  </a:moveTo>
                  <a:lnTo>
                    <a:pt x="2051435" y="83881"/>
                  </a:lnTo>
                </a:path>
                <a:path w="4789170" h="3005454">
                  <a:moveTo>
                    <a:pt x="2051435" y="3005201"/>
                  </a:moveTo>
                  <a:lnTo>
                    <a:pt x="2051435" y="2921320"/>
                  </a:lnTo>
                </a:path>
                <a:path w="4789170" h="3005454">
                  <a:moveTo>
                    <a:pt x="2223947" y="0"/>
                  </a:moveTo>
                  <a:lnTo>
                    <a:pt x="2223947" y="83881"/>
                  </a:lnTo>
                </a:path>
                <a:path w="4789170" h="3005454">
                  <a:moveTo>
                    <a:pt x="2223947" y="3005201"/>
                  </a:moveTo>
                  <a:lnTo>
                    <a:pt x="2223947" y="2921320"/>
                  </a:lnTo>
                </a:path>
                <a:path w="4789170" h="3005454">
                  <a:moveTo>
                    <a:pt x="2394380" y="0"/>
                  </a:moveTo>
                  <a:lnTo>
                    <a:pt x="2394380" y="154474"/>
                  </a:lnTo>
                </a:path>
                <a:path w="4789170" h="3005454">
                  <a:moveTo>
                    <a:pt x="2394380" y="3005201"/>
                  </a:moveTo>
                  <a:lnTo>
                    <a:pt x="2394380" y="2850726"/>
                  </a:lnTo>
                </a:path>
                <a:path w="4789170" h="3005454">
                  <a:moveTo>
                    <a:pt x="2564813" y="0"/>
                  </a:moveTo>
                  <a:lnTo>
                    <a:pt x="2564813" y="83881"/>
                  </a:lnTo>
                </a:path>
                <a:path w="4789170" h="3005454">
                  <a:moveTo>
                    <a:pt x="2564813" y="3005201"/>
                  </a:moveTo>
                  <a:lnTo>
                    <a:pt x="2564813" y="2921320"/>
                  </a:lnTo>
                </a:path>
                <a:path w="4789170" h="3005454">
                  <a:moveTo>
                    <a:pt x="2737325" y="0"/>
                  </a:moveTo>
                  <a:lnTo>
                    <a:pt x="2737325" y="83881"/>
                  </a:lnTo>
                </a:path>
                <a:path w="4789170" h="3005454">
                  <a:moveTo>
                    <a:pt x="2737325" y="3005201"/>
                  </a:moveTo>
                  <a:lnTo>
                    <a:pt x="2737325" y="2921320"/>
                  </a:lnTo>
                </a:path>
                <a:path w="4789170" h="3005454">
                  <a:moveTo>
                    <a:pt x="2907759" y="0"/>
                  </a:moveTo>
                  <a:lnTo>
                    <a:pt x="2907759" y="83881"/>
                  </a:lnTo>
                </a:path>
                <a:path w="4789170" h="3005454">
                  <a:moveTo>
                    <a:pt x="2907759" y="3005201"/>
                  </a:moveTo>
                  <a:lnTo>
                    <a:pt x="2907759" y="2921320"/>
                  </a:lnTo>
                </a:path>
                <a:path w="4789170" h="3005454">
                  <a:moveTo>
                    <a:pt x="3078192" y="0"/>
                  </a:moveTo>
                  <a:lnTo>
                    <a:pt x="3078192" y="154474"/>
                  </a:lnTo>
                </a:path>
                <a:path w="4789170" h="3005454">
                  <a:moveTo>
                    <a:pt x="3078192" y="3005201"/>
                  </a:moveTo>
                  <a:lnTo>
                    <a:pt x="3078192" y="2850726"/>
                  </a:lnTo>
                </a:path>
                <a:path w="4789170" h="3005454">
                  <a:moveTo>
                    <a:pt x="3248625" y="0"/>
                  </a:moveTo>
                  <a:lnTo>
                    <a:pt x="3248625" y="83881"/>
                  </a:lnTo>
                </a:path>
                <a:path w="4789170" h="3005454">
                  <a:moveTo>
                    <a:pt x="3248625" y="3005201"/>
                  </a:moveTo>
                  <a:lnTo>
                    <a:pt x="3248625" y="2921320"/>
                  </a:lnTo>
                </a:path>
                <a:path w="4789170" h="3005454">
                  <a:moveTo>
                    <a:pt x="3421137" y="0"/>
                  </a:moveTo>
                  <a:lnTo>
                    <a:pt x="3421137" y="83881"/>
                  </a:lnTo>
                </a:path>
                <a:path w="4789170" h="3005454">
                  <a:moveTo>
                    <a:pt x="3421137" y="3005201"/>
                  </a:moveTo>
                  <a:lnTo>
                    <a:pt x="3421137" y="2921320"/>
                  </a:lnTo>
                </a:path>
                <a:path w="4789170" h="3005454">
                  <a:moveTo>
                    <a:pt x="3591570" y="0"/>
                  </a:moveTo>
                  <a:lnTo>
                    <a:pt x="3591570" y="83881"/>
                  </a:lnTo>
                </a:path>
                <a:path w="4789170" h="3005454">
                  <a:moveTo>
                    <a:pt x="3591570" y="3005201"/>
                  </a:moveTo>
                  <a:lnTo>
                    <a:pt x="3591570" y="2921320"/>
                  </a:lnTo>
                </a:path>
                <a:path w="4789170" h="3005454">
                  <a:moveTo>
                    <a:pt x="3762004" y="0"/>
                  </a:moveTo>
                  <a:lnTo>
                    <a:pt x="3762004" y="154474"/>
                  </a:lnTo>
                </a:path>
                <a:path w="4789170" h="3005454">
                  <a:moveTo>
                    <a:pt x="3762004" y="3005201"/>
                  </a:moveTo>
                  <a:lnTo>
                    <a:pt x="3762004" y="2850726"/>
                  </a:lnTo>
                </a:path>
                <a:path w="4789170" h="3005454">
                  <a:moveTo>
                    <a:pt x="3934516" y="0"/>
                  </a:moveTo>
                  <a:lnTo>
                    <a:pt x="3934516" y="83881"/>
                  </a:lnTo>
                </a:path>
                <a:path w="4789170" h="3005454">
                  <a:moveTo>
                    <a:pt x="3934516" y="3005201"/>
                  </a:moveTo>
                  <a:lnTo>
                    <a:pt x="3934516" y="2921320"/>
                  </a:lnTo>
                </a:path>
                <a:path w="4789170" h="3005454">
                  <a:moveTo>
                    <a:pt x="4104949" y="0"/>
                  </a:moveTo>
                  <a:lnTo>
                    <a:pt x="4104949" y="83881"/>
                  </a:lnTo>
                </a:path>
                <a:path w="4789170" h="3005454">
                  <a:moveTo>
                    <a:pt x="4104949" y="3005201"/>
                  </a:moveTo>
                  <a:lnTo>
                    <a:pt x="4104949" y="2921320"/>
                  </a:lnTo>
                </a:path>
                <a:path w="4789170" h="3005454">
                  <a:moveTo>
                    <a:pt x="4275382" y="0"/>
                  </a:moveTo>
                  <a:lnTo>
                    <a:pt x="4275382" y="83881"/>
                  </a:lnTo>
                </a:path>
                <a:path w="4789170" h="3005454">
                  <a:moveTo>
                    <a:pt x="4275382" y="3005201"/>
                  </a:moveTo>
                  <a:lnTo>
                    <a:pt x="4275382" y="2921320"/>
                  </a:lnTo>
                </a:path>
                <a:path w="4789170" h="3005454">
                  <a:moveTo>
                    <a:pt x="4445816" y="0"/>
                  </a:moveTo>
                  <a:lnTo>
                    <a:pt x="4445816" y="154474"/>
                  </a:lnTo>
                </a:path>
                <a:path w="4789170" h="3005454">
                  <a:moveTo>
                    <a:pt x="4445816" y="3005201"/>
                  </a:moveTo>
                  <a:lnTo>
                    <a:pt x="4445816" y="2850726"/>
                  </a:lnTo>
                </a:path>
                <a:path w="4789170" h="3005454">
                  <a:moveTo>
                    <a:pt x="4618327" y="0"/>
                  </a:moveTo>
                  <a:lnTo>
                    <a:pt x="4618327" y="83881"/>
                  </a:lnTo>
                </a:path>
                <a:path w="4789170" h="3005454">
                  <a:moveTo>
                    <a:pt x="4618327" y="3005201"/>
                  </a:moveTo>
                  <a:lnTo>
                    <a:pt x="4618327" y="2921320"/>
                  </a:lnTo>
                </a:path>
                <a:path w="4789170" h="3005454">
                  <a:moveTo>
                    <a:pt x="4788761" y="0"/>
                  </a:moveTo>
                  <a:lnTo>
                    <a:pt x="4788761" y="83881"/>
                  </a:lnTo>
                </a:path>
                <a:path w="4789170" h="3005454">
                  <a:moveTo>
                    <a:pt x="4788761" y="3005201"/>
                  </a:moveTo>
                  <a:lnTo>
                    <a:pt x="4788761" y="2921320"/>
                  </a:lnTo>
                </a:path>
              </a:pathLst>
            </a:custGeom>
            <a:ln w="1661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6384613" y="3212821"/>
            <a:ext cx="414020" cy="26479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550" spc="-20" dirty="0">
                <a:solidFill>
                  <a:srgbClr val="FF0000"/>
                </a:solidFill>
                <a:latin typeface="Arial MT"/>
                <a:cs typeface="Arial MT"/>
              </a:rPr>
              <a:t>0.40</a:t>
            </a:r>
            <a:endParaRPr sz="155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384613" y="3723585"/>
            <a:ext cx="414020" cy="26479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550" spc="-20" dirty="0">
                <a:solidFill>
                  <a:srgbClr val="FF0000"/>
                </a:solidFill>
                <a:latin typeface="Arial MT"/>
                <a:cs typeface="Arial MT"/>
              </a:rPr>
              <a:t>0.35</a:t>
            </a:r>
            <a:endParaRPr sz="155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384613" y="4234349"/>
            <a:ext cx="414020" cy="26479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550" spc="-20" dirty="0">
                <a:solidFill>
                  <a:srgbClr val="FF0000"/>
                </a:solidFill>
                <a:latin typeface="Arial MT"/>
                <a:cs typeface="Arial MT"/>
              </a:rPr>
              <a:t>0.30</a:t>
            </a:r>
            <a:endParaRPr sz="155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6384613" y="4745114"/>
            <a:ext cx="414020" cy="26479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550" spc="-20" dirty="0">
                <a:solidFill>
                  <a:srgbClr val="FF0000"/>
                </a:solidFill>
                <a:latin typeface="Arial MT"/>
                <a:cs typeface="Arial MT"/>
              </a:rPr>
              <a:t>0.25</a:t>
            </a:r>
            <a:endParaRPr sz="155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6384613" y="5255877"/>
            <a:ext cx="414020" cy="26479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550" spc="-20" dirty="0">
                <a:solidFill>
                  <a:srgbClr val="FF0000"/>
                </a:solidFill>
                <a:latin typeface="Arial MT"/>
                <a:cs typeface="Arial MT"/>
              </a:rPr>
              <a:t>0.20</a:t>
            </a:r>
            <a:endParaRPr sz="155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6384613" y="5764565"/>
            <a:ext cx="414020" cy="26479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550" spc="-20" dirty="0">
                <a:solidFill>
                  <a:srgbClr val="FF0000"/>
                </a:solidFill>
                <a:latin typeface="Arial MT"/>
                <a:cs typeface="Arial MT"/>
              </a:rPr>
              <a:t>0.15</a:t>
            </a:r>
            <a:endParaRPr sz="1550">
              <a:latin typeface="Arial MT"/>
              <a:cs typeface="Arial MT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5728072" y="3650418"/>
            <a:ext cx="323215" cy="2231390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>
              <a:lnSpc>
                <a:spcPts val="2415"/>
              </a:lnSpc>
            </a:pPr>
            <a:r>
              <a:rPr sz="2100" b="1" dirty="0">
                <a:solidFill>
                  <a:srgbClr val="FF0000"/>
                </a:solidFill>
                <a:latin typeface="Arial"/>
                <a:cs typeface="Arial"/>
              </a:rPr>
              <a:t>Deformation</a:t>
            </a:r>
            <a:r>
              <a:rPr sz="2100" b="1" spc="-114" dirty="0">
                <a:solidFill>
                  <a:srgbClr val="FF0000"/>
                </a:solidFill>
                <a:latin typeface="Arial"/>
                <a:cs typeface="Arial"/>
              </a:rPr>
              <a:t> </a:t>
            </a:r>
            <a:r>
              <a:rPr sz="2100" b="1" spc="-20" dirty="0">
                <a:solidFill>
                  <a:srgbClr val="FF0000"/>
                </a:solidFill>
                <a:latin typeface="Arial"/>
                <a:cs typeface="Arial"/>
              </a:rPr>
              <a:t>(µm)</a:t>
            </a:r>
            <a:endParaRPr sz="21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7049719" y="6218544"/>
            <a:ext cx="3447415" cy="808355"/>
          </a:xfrm>
          <a:prstGeom prst="rect">
            <a:avLst/>
          </a:prstGeom>
        </p:spPr>
        <p:txBody>
          <a:bodyPr vert="horz" wrap="square" lIns="0" tIns="1111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875"/>
              </a:spcBef>
              <a:tabLst>
                <a:tab pos="695960" algn="l"/>
                <a:tab pos="1379855" algn="l"/>
                <a:tab pos="2153285" algn="l"/>
                <a:tab pos="2780665" algn="l"/>
              </a:tabLst>
            </a:pPr>
            <a:r>
              <a:rPr sz="1550" dirty="0">
                <a:latin typeface="Arial MT"/>
                <a:cs typeface="Arial MT"/>
              </a:rPr>
              <a:t>-</a:t>
            </a:r>
            <a:r>
              <a:rPr sz="1550" spc="-25" dirty="0">
                <a:latin typeface="Arial MT"/>
                <a:cs typeface="Arial MT"/>
              </a:rPr>
              <a:t>60</a:t>
            </a:r>
            <a:r>
              <a:rPr sz="1550" dirty="0">
                <a:latin typeface="Arial MT"/>
                <a:cs typeface="Arial MT"/>
              </a:rPr>
              <a:t>	-</a:t>
            </a:r>
            <a:r>
              <a:rPr sz="1550" spc="-25" dirty="0">
                <a:latin typeface="Arial MT"/>
                <a:cs typeface="Arial MT"/>
              </a:rPr>
              <a:t>40</a:t>
            </a:r>
            <a:r>
              <a:rPr sz="1550" dirty="0">
                <a:latin typeface="Arial MT"/>
                <a:cs typeface="Arial MT"/>
              </a:rPr>
              <a:t>	-</a:t>
            </a:r>
            <a:r>
              <a:rPr sz="1550" spc="-25" dirty="0">
                <a:latin typeface="Arial MT"/>
                <a:cs typeface="Arial MT"/>
              </a:rPr>
              <a:t>20</a:t>
            </a:r>
            <a:r>
              <a:rPr sz="1550" dirty="0">
                <a:latin typeface="Arial MT"/>
                <a:cs typeface="Arial MT"/>
              </a:rPr>
              <a:t>	</a:t>
            </a:r>
            <a:r>
              <a:rPr sz="1550" spc="-50" dirty="0">
                <a:latin typeface="Arial MT"/>
                <a:cs typeface="Arial MT"/>
              </a:rPr>
              <a:t>0</a:t>
            </a:r>
            <a:r>
              <a:rPr sz="1550" dirty="0">
                <a:latin typeface="Arial MT"/>
                <a:cs typeface="Arial MT"/>
              </a:rPr>
              <a:t>	</a:t>
            </a:r>
            <a:r>
              <a:rPr sz="1550" spc="-25" dirty="0">
                <a:latin typeface="Arial MT"/>
                <a:cs typeface="Arial MT"/>
              </a:rPr>
              <a:t>20</a:t>
            </a:r>
            <a:endParaRPr sz="1550">
              <a:latin typeface="Arial MT"/>
              <a:cs typeface="Arial MT"/>
            </a:endParaRPr>
          </a:p>
          <a:p>
            <a:pPr marL="981075">
              <a:lnSpc>
                <a:spcPct val="100000"/>
              </a:lnSpc>
              <a:spcBef>
                <a:spcPts val="1010"/>
              </a:spcBef>
            </a:pPr>
            <a:r>
              <a:rPr sz="2100" b="1" dirty="0">
                <a:latin typeface="Arial"/>
                <a:cs typeface="Arial"/>
              </a:rPr>
              <a:t>Mirror</a:t>
            </a:r>
            <a:r>
              <a:rPr sz="2100" b="1" spc="-65" dirty="0">
                <a:latin typeface="Arial"/>
                <a:cs typeface="Arial"/>
              </a:rPr>
              <a:t> </a:t>
            </a:r>
            <a:r>
              <a:rPr sz="2100" b="1" dirty="0">
                <a:latin typeface="Arial"/>
                <a:cs typeface="Arial"/>
              </a:rPr>
              <a:t>Length</a:t>
            </a:r>
            <a:r>
              <a:rPr sz="2100" b="1" spc="-65" dirty="0">
                <a:latin typeface="Arial"/>
                <a:cs typeface="Arial"/>
              </a:rPr>
              <a:t> </a:t>
            </a:r>
            <a:r>
              <a:rPr sz="2100" b="1" spc="-20" dirty="0">
                <a:latin typeface="Arial"/>
                <a:cs typeface="Arial"/>
              </a:rPr>
              <a:t>(mm)</a:t>
            </a:r>
            <a:endParaRPr sz="2100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0502034" y="6314779"/>
            <a:ext cx="247650" cy="26479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550" spc="-25" dirty="0">
                <a:latin typeface="Arial MT"/>
                <a:cs typeface="Arial MT"/>
              </a:rPr>
              <a:t>40</a:t>
            </a:r>
            <a:endParaRPr sz="1550">
              <a:latin typeface="Arial MT"/>
              <a:cs typeface="Arial MT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1185845" y="6314779"/>
            <a:ext cx="247650" cy="26479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550" spc="-25" dirty="0">
                <a:latin typeface="Arial MT"/>
                <a:cs typeface="Arial MT"/>
              </a:rPr>
              <a:t>60</a:t>
            </a:r>
            <a:endParaRPr sz="1550">
              <a:latin typeface="Arial MT"/>
              <a:cs typeface="Arial MT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6854580" y="3262891"/>
            <a:ext cx="4805680" cy="3006725"/>
            <a:chOff x="6854580" y="3262891"/>
            <a:chExt cx="4805680" cy="3006725"/>
          </a:xfrm>
        </p:grpSpPr>
        <p:sp>
          <p:nvSpPr>
            <p:cNvPr id="19" name="object 19"/>
            <p:cNvSpPr/>
            <p:nvPr/>
          </p:nvSpPr>
          <p:spPr>
            <a:xfrm>
              <a:off x="11504078" y="3271199"/>
              <a:ext cx="154940" cy="2988945"/>
            </a:xfrm>
            <a:custGeom>
              <a:avLst/>
              <a:gdLst/>
              <a:ahLst/>
              <a:cxnLst/>
              <a:rect l="l" t="t" r="r" b="b"/>
              <a:pathLst>
                <a:path w="154940" h="2988945">
                  <a:moveTo>
                    <a:pt x="146531" y="0"/>
                  </a:moveTo>
                  <a:lnTo>
                    <a:pt x="146531" y="2988591"/>
                  </a:lnTo>
                </a:path>
                <a:path w="154940" h="2988945">
                  <a:moveTo>
                    <a:pt x="154637" y="2895366"/>
                  </a:moveTo>
                  <a:lnTo>
                    <a:pt x="0" y="2895366"/>
                  </a:lnTo>
                </a:path>
                <a:path w="154940" h="2988945">
                  <a:moveTo>
                    <a:pt x="154637" y="2428204"/>
                  </a:moveTo>
                  <a:lnTo>
                    <a:pt x="0" y="2428204"/>
                  </a:lnTo>
                </a:path>
                <a:path w="154940" h="2988945">
                  <a:moveTo>
                    <a:pt x="154637" y="1961042"/>
                  </a:moveTo>
                  <a:lnTo>
                    <a:pt x="0" y="1961042"/>
                  </a:lnTo>
                </a:path>
                <a:path w="154940" h="2988945">
                  <a:moveTo>
                    <a:pt x="154637" y="1493880"/>
                  </a:moveTo>
                  <a:lnTo>
                    <a:pt x="0" y="1493880"/>
                  </a:lnTo>
                </a:path>
                <a:path w="154940" h="2988945">
                  <a:moveTo>
                    <a:pt x="154637" y="1026718"/>
                  </a:moveTo>
                  <a:lnTo>
                    <a:pt x="0" y="1026718"/>
                  </a:lnTo>
                </a:path>
                <a:path w="154940" h="2988945">
                  <a:moveTo>
                    <a:pt x="154637" y="559556"/>
                  </a:moveTo>
                  <a:lnTo>
                    <a:pt x="0" y="559556"/>
                  </a:lnTo>
                </a:path>
                <a:path w="154940" h="2988945">
                  <a:moveTo>
                    <a:pt x="154637" y="92394"/>
                  </a:moveTo>
                  <a:lnTo>
                    <a:pt x="0" y="92394"/>
                  </a:lnTo>
                </a:path>
              </a:pathLst>
            </a:custGeom>
            <a:ln w="1661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6862887" y="3271199"/>
              <a:ext cx="4789170" cy="2990215"/>
            </a:xfrm>
            <a:custGeom>
              <a:avLst/>
              <a:gdLst/>
              <a:ahLst/>
              <a:cxnLst/>
              <a:rect l="l" t="t" r="r" b="b"/>
              <a:pathLst>
                <a:path w="4789170" h="2990215">
                  <a:moveTo>
                    <a:pt x="0" y="2290132"/>
                  </a:moveTo>
                  <a:lnTo>
                    <a:pt x="41569" y="2248606"/>
                  </a:lnTo>
                  <a:lnTo>
                    <a:pt x="81059" y="2205005"/>
                  </a:lnTo>
                  <a:lnTo>
                    <a:pt x="122628" y="2151021"/>
                  </a:lnTo>
                  <a:lnTo>
                    <a:pt x="162119" y="2088733"/>
                  </a:lnTo>
                  <a:lnTo>
                    <a:pt x="203688" y="2018140"/>
                  </a:lnTo>
                  <a:lnTo>
                    <a:pt x="243179" y="1935089"/>
                  </a:lnTo>
                  <a:lnTo>
                    <a:pt x="284748" y="1833351"/>
                  </a:lnTo>
                  <a:lnTo>
                    <a:pt x="324239" y="1717080"/>
                  </a:lnTo>
                  <a:lnTo>
                    <a:pt x="365808" y="1580046"/>
                  </a:lnTo>
                  <a:lnTo>
                    <a:pt x="405298" y="1407715"/>
                  </a:lnTo>
                  <a:lnTo>
                    <a:pt x="446867" y="1233307"/>
                  </a:lnTo>
                  <a:lnTo>
                    <a:pt x="486358" y="1063053"/>
                  </a:lnTo>
                  <a:lnTo>
                    <a:pt x="527927" y="921866"/>
                  </a:lnTo>
                  <a:lnTo>
                    <a:pt x="567418" y="803518"/>
                  </a:lnTo>
                  <a:lnTo>
                    <a:pt x="608987" y="699705"/>
                  </a:lnTo>
                  <a:lnTo>
                    <a:pt x="648478" y="614577"/>
                  </a:lnTo>
                  <a:lnTo>
                    <a:pt x="690047" y="541908"/>
                  </a:lnTo>
                  <a:lnTo>
                    <a:pt x="729537" y="477543"/>
                  </a:lnTo>
                  <a:lnTo>
                    <a:pt x="771106" y="421484"/>
                  </a:lnTo>
                  <a:lnTo>
                    <a:pt x="812676" y="375805"/>
                  </a:lnTo>
                  <a:lnTo>
                    <a:pt x="852166" y="332204"/>
                  </a:lnTo>
                  <a:lnTo>
                    <a:pt x="893735" y="294831"/>
                  </a:lnTo>
                  <a:lnTo>
                    <a:pt x="933226" y="261610"/>
                  </a:lnTo>
                  <a:lnTo>
                    <a:pt x="974795" y="232542"/>
                  </a:lnTo>
                  <a:lnTo>
                    <a:pt x="1014286" y="205551"/>
                  </a:lnTo>
                  <a:lnTo>
                    <a:pt x="1055855" y="180636"/>
                  </a:lnTo>
                  <a:lnTo>
                    <a:pt x="1095345" y="159873"/>
                  </a:lnTo>
                  <a:lnTo>
                    <a:pt x="1136915" y="141186"/>
                  </a:lnTo>
                  <a:lnTo>
                    <a:pt x="1176405" y="122500"/>
                  </a:lnTo>
                  <a:lnTo>
                    <a:pt x="1217974" y="107966"/>
                  </a:lnTo>
                  <a:lnTo>
                    <a:pt x="1257465" y="93432"/>
                  </a:lnTo>
                  <a:lnTo>
                    <a:pt x="1299034" y="78898"/>
                  </a:lnTo>
                  <a:lnTo>
                    <a:pt x="1338525" y="68517"/>
                  </a:lnTo>
                  <a:lnTo>
                    <a:pt x="1380094" y="58135"/>
                  </a:lnTo>
                  <a:lnTo>
                    <a:pt x="1419585" y="47754"/>
                  </a:lnTo>
                  <a:lnTo>
                    <a:pt x="1461154" y="39449"/>
                  </a:lnTo>
                  <a:lnTo>
                    <a:pt x="1500644" y="33220"/>
                  </a:lnTo>
                  <a:lnTo>
                    <a:pt x="1542213" y="24915"/>
                  </a:lnTo>
                  <a:lnTo>
                    <a:pt x="1581704" y="18686"/>
                  </a:lnTo>
                  <a:lnTo>
                    <a:pt x="1623273" y="14533"/>
                  </a:lnTo>
                  <a:lnTo>
                    <a:pt x="1664842" y="10381"/>
                  </a:lnTo>
                  <a:lnTo>
                    <a:pt x="1704333" y="6228"/>
                  </a:lnTo>
                  <a:lnTo>
                    <a:pt x="1745902" y="4152"/>
                  </a:lnTo>
                  <a:lnTo>
                    <a:pt x="1785393" y="2076"/>
                  </a:lnTo>
                  <a:lnTo>
                    <a:pt x="1826962" y="2076"/>
                  </a:lnTo>
                  <a:lnTo>
                    <a:pt x="1866452" y="0"/>
                  </a:lnTo>
                  <a:lnTo>
                    <a:pt x="1908022" y="0"/>
                  </a:lnTo>
                  <a:lnTo>
                    <a:pt x="1947512" y="0"/>
                  </a:lnTo>
                  <a:lnTo>
                    <a:pt x="1989081" y="0"/>
                  </a:lnTo>
                  <a:lnTo>
                    <a:pt x="2028572" y="2076"/>
                  </a:lnTo>
                  <a:lnTo>
                    <a:pt x="2070141" y="4152"/>
                  </a:lnTo>
                  <a:lnTo>
                    <a:pt x="2109632" y="6228"/>
                  </a:lnTo>
                  <a:lnTo>
                    <a:pt x="2151201" y="10381"/>
                  </a:lnTo>
                  <a:lnTo>
                    <a:pt x="2190691" y="14533"/>
                  </a:lnTo>
                  <a:lnTo>
                    <a:pt x="2232261" y="18686"/>
                  </a:lnTo>
                  <a:lnTo>
                    <a:pt x="2271751" y="22839"/>
                  </a:lnTo>
                  <a:lnTo>
                    <a:pt x="2313320" y="26991"/>
                  </a:lnTo>
                  <a:lnTo>
                    <a:pt x="2352811" y="33220"/>
                  </a:lnTo>
                  <a:lnTo>
                    <a:pt x="2394380" y="37372"/>
                  </a:lnTo>
                  <a:lnTo>
                    <a:pt x="2435949" y="43601"/>
                  </a:lnTo>
                  <a:lnTo>
                    <a:pt x="2475440" y="51906"/>
                  </a:lnTo>
                  <a:lnTo>
                    <a:pt x="2517009" y="58135"/>
                  </a:lnTo>
                  <a:lnTo>
                    <a:pt x="2556500" y="66440"/>
                  </a:lnTo>
                  <a:lnTo>
                    <a:pt x="2598069" y="74745"/>
                  </a:lnTo>
                  <a:lnTo>
                    <a:pt x="2637559" y="83051"/>
                  </a:lnTo>
                  <a:lnTo>
                    <a:pt x="2679128" y="91356"/>
                  </a:lnTo>
                  <a:lnTo>
                    <a:pt x="2718619" y="101737"/>
                  </a:lnTo>
                  <a:lnTo>
                    <a:pt x="2760188" y="112118"/>
                  </a:lnTo>
                  <a:lnTo>
                    <a:pt x="2799679" y="122500"/>
                  </a:lnTo>
                  <a:lnTo>
                    <a:pt x="2841248" y="132881"/>
                  </a:lnTo>
                  <a:lnTo>
                    <a:pt x="2880739" y="145339"/>
                  </a:lnTo>
                  <a:lnTo>
                    <a:pt x="2922308" y="157796"/>
                  </a:lnTo>
                  <a:lnTo>
                    <a:pt x="2961798" y="170254"/>
                  </a:lnTo>
                  <a:lnTo>
                    <a:pt x="3003368" y="182712"/>
                  </a:lnTo>
                  <a:lnTo>
                    <a:pt x="3042858" y="197246"/>
                  </a:lnTo>
                  <a:lnTo>
                    <a:pt x="3084427" y="211780"/>
                  </a:lnTo>
                  <a:lnTo>
                    <a:pt x="3123918" y="228390"/>
                  </a:lnTo>
                  <a:lnTo>
                    <a:pt x="3165487" y="245000"/>
                  </a:lnTo>
                  <a:lnTo>
                    <a:pt x="3207056" y="259534"/>
                  </a:lnTo>
                  <a:lnTo>
                    <a:pt x="3246547" y="278220"/>
                  </a:lnTo>
                  <a:lnTo>
                    <a:pt x="3288116" y="296907"/>
                  </a:lnTo>
                  <a:lnTo>
                    <a:pt x="3327607" y="315593"/>
                  </a:lnTo>
                  <a:lnTo>
                    <a:pt x="3369176" y="336356"/>
                  </a:lnTo>
                  <a:lnTo>
                    <a:pt x="3408666" y="359195"/>
                  </a:lnTo>
                  <a:lnTo>
                    <a:pt x="3450235" y="382034"/>
                  </a:lnTo>
                  <a:lnTo>
                    <a:pt x="3489726" y="404873"/>
                  </a:lnTo>
                  <a:lnTo>
                    <a:pt x="3531295" y="429789"/>
                  </a:lnTo>
                  <a:lnTo>
                    <a:pt x="3570786" y="456780"/>
                  </a:lnTo>
                  <a:lnTo>
                    <a:pt x="3612355" y="483772"/>
                  </a:lnTo>
                  <a:lnTo>
                    <a:pt x="3651846" y="512840"/>
                  </a:lnTo>
                  <a:lnTo>
                    <a:pt x="3693415" y="546060"/>
                  </a:lnTo>
                  <a:lnTo>
                    <a:pt x="3732905" y="577204"/>
                  </a:lnTo>
                  <a:lnTo>
                    <a:pt x="3774474" y="614577"/>
                  </a:lnTo>
                  <a:lnTo>
                    <a:pt x="3813965" y="654026"/>
                  </a:lnTo>
                  <a:lnTo>
                    <a:pt x="3855534" y="693476"/>
                  </a:lnTo>
                  <a:lnTo>
                    <a:pt x="3895025" y="739154"/>
                  </a:lnTo>
                  <a:lnTo>
                    <a:pt x="3936594" y="788984"/>
                  </a:lnTo>
                  <a:lnTo>
                    <a:pt x="3976085" y="842968"/>
                  </a:lnTo>
                  <a:lnTo>
                    <a:pt x="4017654" y="901103"/>
                  </a:lnTo>
                  <a:lnTo>
                    <a:pt x="4059223" y="969620"/>
                  </a:lnTo>
                  <a:lnTo>
                    <a:pt x="4098714" y="1046443"/>
                  </a:lnTo>
                  <a:lnTo>
                    <a:pt x="4140283" y="1129494"/>
                  </a:lnTo>
                  <a:lnTo>
                    <a:pt x="4179773" y="1227079"/>
                  </a:lnTo>
                  <a:lnTo>
                    <a:pt x="4221342" y="1343350"/>
                  </a:lnTo>
                  <a:lnTo>
                    <a:pt x="4260833" y="1472079"/>
                  </a:lnTo>
                  <a:lnTo>
                    <a:pt x="4302402" y="1623647"/>
                  </a:lnTo>
                  <a:lnTo>
                    <a:pt x="4341893" y="1806360"/>
                  </a:lnTo>
                  <a:lnTo>
                    <a:pt x="4383462" y="1991148"/>
                  </a:lnTo>
                  <a:lnTo>
                    <a:pt x="4422953" y="2175937"/>
                  </a:lnTo>
                  <a:lnTo>
                    <a:pt x="4464522" y="2323352"/>
                  </a:lnTo>
                  <a:lnTo>
                    <a:pt x="4504012" y="2452081"/>
                  </a:lnTo>
                  <a:lnTo>
                    <a:pt x="4545581" y="2566277"/>
                  </a:lnTo>
                  <a:lnTo>
                    <a:pt x="4585072" y="2659709"/>
                  </a:lnTo>
                  <a:lnTo>
                    <a:pt x="4626641" y="2740684"/>
                  </a:lnTo>
                  <a:lnTo>
                    <a:pt x="4666132" y="2815430"/>
                  </a:lnTo>
                  <a:lnTo>
                    <a:pt x="4707701" y="2879794"/>
                  </a:lnTo>
                  <a:lnTo>
                    <a:pt x="4747192" y="2937930"/>
                  </a:lnTo>
                  <a:lnTo>
                    <a:pt x="4788761" y="2989837"/>
                  </a:lnTo>
                </a:path>
              </a:pathLst>
            </a:custGeom>
            <a:ln w="16615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6862887" y="3426919"/>
              <a:ext cx="4789170" cy="2767965"/>
            </a:xfrm>
            <a:custGeom>
              <a:avLst/>
              <a:gdLst/>
              <a:ahLst/>
              <a:cxnLst/>
              <a:rect l="l" t="t" r="r" b="b"/>
              <a:pathLst>
                <a:path w="4789170" h="2767965">
                  <a:moveTo>
                    <a:pt x="0" y="1021527"/>
                  </a:moveTo>
                  <a:lnTo>
                    <a:pt x="41569" y="1004917"/>
                  </a:lnTo>
                  <a:lnTo>
                    <a:pt x="81059" y="959239"/>
                  </a:lnTo>
                  <a:lnTo>
                    <a:pt x="122628" y="892798"/>
                  </a:lnTo>
                  <a:lnTo>
                    <a:pt x="162119" y="828434"/>
                  </a:lnTo>
                  <a:lnTo>
                    <a:pt x="203688" y="749535"/>
                  </a:lnTo>
                  <a:lnTo>
                    <a:pt x="243179" y="629111"/>
                  </a:lnTo>
                  <a:lnTo>
                    <a:pt x="284748" y="492077"/>
                  </a:lnTo>
                  <a:lnTo>
                    <a:pt x="324239" y="361272"/>
                  </a:lnTo>
                  <a:lnTo>
                    <a:pt x="365808" y="149491"/>
                  </a:lnTo>
                  <a:lnTo>
                    <a:pt x="405298" y="0"/>
                  </a:lnTo>
                  <a:lnTo>
                    <a:pt x="446867" y="6228"/>
                  </a:lnTo>
                  <a:lnTo>
                    <a:pt x="486358" y="139110"/>
                  </a:lnTo>
                  <a:lnTo>
                    <a:pt x="527927" y="342585"/>
                  </a:lnTo>
                  <a:lnTo>
                    <a:pt x="567418" y="485848"/>
                  </a:lnTo>
                  <a:lnTo>
                    <a:pt x="608987" y="606272"/>
                  </a:lnTo>
                  <a:lnTo>
                    <a:pt x="648478" y="728772"/>
                  </a:lnTo>
                  <a:lnTo>
                    <a:pt x="690047" y="815976"/>
                  </a:lnTo>
                  <a:lnTo>
                    <a:pt x="729537" y="872035"/>
                  </a:lnTo>
                  <a:lnTo>
                    <a:pt x="771106" y="942629"/>
                  </a:lnTo>
                  <a:lnTo>
                    <a:pt x="812676" y="998688"/>
                  </a:lnTo>
                  <a:lnTo>
                    <a:pt x="852166" y="1027756"/>
                  </a:lnTo>
                  <a:lnTo>
                    <a:pt x="893735" y="1065129"/>
                  </a:lnTo>
                  <a:lnTo>
                    <a:pt x="933226" y="1100426"/>
                  </a:lnTo>
                  <a:lnTo>
                    <a:pt x="974795" y="1121189"/>
                  </a:lnTo>
                  <a:lnTo>
                    <a:pt x="1014286" y="1141951"/>
                  </a:lnTo>
                  <a:lnTo>
                    <a:pt x="1055855" y="1164790"/>
                  </a:lnTo>
                  <a:lnTo>
                    <a:pt x="1095345" y="1183477"/>
                  </a:lnTo>
                  <a:lnTo>
                    <a:pt x="1136915" y="1191782"/>
                  </a:lnTo>
                  <a:lnTo>
                    <a:pt x="1176405" y="1210468"/>
                  </a:lnTo>
                  <a:lnTo>
                    <a:pt x="1217974" y="1227079"/>
                  </a:lnTo>
                  <a:lnTo>
                    <a:pt x="1257465" y="1231231"/>
                  </a:lnTo>
                  <a:lnTo>
                    <a:pt x="1299034" y="1243689"/>
                  </a:lnTo>
                  <a:lnTo>
                    <a:pt x="1338525" y="1256147"/>
                  </a:lnTo>
                  <a:lnTo>
                    <a:pt x="1380094" y="1262375"/>
                  </a:lnTo>
                  <a:lnTo>
                    <a:pt x="1419585" y="1268604"/>
                  </a:lnTo>
                  <a:lnTo>
                    <a:pt x="1461154" y="1278986"/>
                  </a:lnTo>
                  <a:lnTo>
                    <a:pt x="1500644" y="1287291"/>
                  </a:lnTo>
                  <a:lnTo>
                    <a:pt x="1542213" y="1289367"/>
                  </a:lnTo>
                  <a:lnTo>
                    <a:pt x="1581704" y="1297672"/>
                  </a:lnTo>
                  <a:lnTo>
                    <a:pt x="1623273" y="1308053"/>
                  </a:lnTo>
                  <a:lnTo>
                    <a:pt x="1664842" y="1308053"/>
                  </a:lnTo>
                  <a:lnTo>
                    <a:pt x="1704333" y="1314282"/>
                  </a:lnTo>
                  <a:lnTo>
                    <a:pt x="1745902" y="1322587"/>
                  </a:lnTo>
                  <a:lnTo>
                    <a:pt x="1785393" y="1324664"/>
                  </a:lnTo>
                  <a:lnTo>
                    <a:pt x="1826962" y="1328816"/>
                  </a:lnTo>
                  <a:lnTo>
                    <a:pt x="1866452" y="1337121"/>
                  </a:lnTo>
                  <a:lnTo>
                    <a:pt x="1908022" y="1341274"/>
                  </a:lnTo>
                  <a:lnTo>
                    <a:pt x="1947512" y="1341274"/>
                  </a:lnTo>
                  <a:lnTo>
                    <a:pt x="1989081" y="1347503"/>
                  </a:lnTo>
                  <a:lnTo>
                    <a:pt x="2028572" y="1355808"/>
                  </a:lnTo>
                  <a:lnTo>
                    <a:pt x="2070141" y="1355808"/>
                  </a:lnTo>
                  <a:lnTo>
                    <a:pt x="2109632" y="1359960"/>
                  </a:lnTo>
                  <a:lnTo>
                    <a:pt x="2151201" y="1366189"/>
                  </a:lnTo>
                  <a:lnTo>
                    <a:pt x="2190691" y="1368265"/>
                  </a:lnTo>
                  <a:lnTo>
                    <a:pt x="2232261" y="1370342"/>
                  </a:lnTo>
                  <a:lnTo>
                    <a:pt x="2271751" y="1376571"/>
                  </a:lnTo>
                  <a:lnTo>
                    <a:pt x="2313320" y="1380723"/>
                  </a:lnTo>
                  <a:lnTo>
                    <a:pt x="2352811" y="1378647"/>
                  </a:lnTo>
                  <a:lnTo>
                    <a:pt x="2394380" y="1384876"/>
                  </a:lnTo>
                  <a:lnTo>
                    <a:pt x="2435949" y="1393181"/>
                  </a:lnTo>
                  <a:lnTo>
                    <a:pt x="2475440" y="1391104"/>
                  </a:lnTo>
                  <a:lnTo>
                    <a:pt x="2517009" y="1395257"/>
                  </a:lnTo>
                  <a:lnTo>
                    <a:pt x="2556500" y="1401486"/>
                  </a:lnTo>
                  <a:lnTo>
                    <a:pt x="2598069" y="1403562"/>
                  </a:lnTo>
                  <a:lnTo>
                    <a:pt x="2637559" y="1405638"/>
                  </a:lnTo>
                  <a:lnTo>
                    <a:pt x="2679128" y="1411867"/>
                  </a:lnTo>
                  <a:lnTo>
                    <a:pt x="2718619" y="1416020"/>
                  </a:lnTo>
                  <a:lnTo>
                    <a:pt x="2760188" y="1416020"/>
                  </a:lnTo>
                  <a:lnTo>
                    <a:pt x="2799679" y="1422249"/>
                  </a:lnTo>
                  <a:lnTo>
                    <a:pt x="2841248" y="1430554"/>
                  </a:lnTo>
                  <a:lnTo>
                    <a:pt x="2880739" y="1430554"/>
                  </a:lnTo>
                  <a:lnTo>
                    <a:pt x="2922308" y="1434706"/>
                  </a:lnTo>
                  <a:lnTo>
                    <a:pt x="2961798" y="1443011"/>
                  </a:lnTo>
                  <a:lnTo>
                    <a:pt x="3003368" y="1445088"/>
                  </a:lnTo>
                  <a:lnTo>
                    <a:pt x="3042858" y="1449240"/>
                  </a:lnTo>
                  <a:lnTo>
                    <a:pt x="3084427" y="1457545"/>
                  </a:lnTo>
                  <a:lnTo>
                    <a:pt x="3123918" y="1461698"/>
                  </a:lnTo>
                  <a:lnTo>
                    <a:pt x="3165487" y="1463774"/>
                  </a:lnTo>
                  <a:lnTo>
                    <a:pt x="3207056" y="1472079"/>
                  </a:lnTo>
                  <a:lnTo>
                    <a:pt x="3246547" y="1482461"/>
                  </a:lnTo>
                  <a:lnTo>
                    <a:pt x="3288116" y="1484537"/>
                  </a:lnTo>
                  <a:lnTo>
                    <a:pt x="3327607" y="1492842"/>
                  </a:lnTo>
                  <a:lnTo>
                    <a:pt x="3369176" y="1503223"/>
                  </a:lnTo>
                  <a:lnTo>
                    <a:pt x="3408666" y="1509452"/>
                  </a:lnTo>
                  <a:lnTo>
                    <a:pt x="3450235" y="1515681"/>
                  </a:lnTo>
                  <a:lnTo>
                    <a:pt x="3489726" y="1528139"/>
                  </a:lnTo>
                  <a:lnTo>
                    <a:pt x="3531295" y="1538520"/>
                  </a:lnTo>
                  <a:lnTo>
                    <a:pt x="3570786" y="1544749"/>
                  </a:lnTo>
                  <a:lnTo>
                    <a:pt x="3612355" y="1561359"/>
                  </a:lnTo>
                  <a:lnTo>
                    <a:pt x="3651846" y="1577969"/>
                  </a:lnTo>
                  <a:lnTo>
                    <a:pt x="3693415" y="1588351"/>
                  </a:lnTo>
                  <a:lnTo>
                    <a:pt x="3732905" y="1604961"/>
                  </a:lnTo>
                  <a:lnTo>
                    <a:pt x="3774474" y="1629876"/>
                  </a:lnTo>
                  <a:lnTo>
                    <a:pt x="3813965" y="1648563"/>
                  </a:lnTo>
                  <a:lnTo>
                    <a:pt x="3855534" y="1669325"/>
                  </a:lnTo>
                  <a:lnTo>
                    <a:pt x="3895025" y="1704622"/>
                  </a:lnTo>
                  <a:lnTo>
                    <a:pt x="3936594" y="1741995"/>
                  </a:lnTo>
                  <a:lnTo>
                    <a:pt x="3976085" y="1771063"/>
                  </a:lnTo>
                  <a:lnTo>
                    <a:pt x="4017654" y="1827122"/>
                  </a:lnTo>
                  <a:lnTo>
                    <a:pt x="4059223" y="1895640"/>
                  </a:lnTo>
                  <a:lnTo>
                    <a:pt x="4098714" y="1951699"/>
                  </a:lnTo>
                  <a:lnTo>
                    <a:pt x="4140283" y="2040979"/>
                  </a:lnTo>
                  <a:lnTo>
                    <a:pt x="4179773" y="2161403"/>
                  </a:lnTo>
                  <a:lnTo>
                    <a:pt x="4221342" y="2281827"/>
                  </a:lnTo>
                  <a:lnTo>
                    <a:pt x="4260833" y="2425090"/>
                  </a:lnTo>
                  <a:lnTo>
                    <a:pt x="4302402" y="2626489"/>
                  </a:lnTo>
                  <a:lnTo>
                    <a:pt x="4341893" y="2759370"/>
                  </a:lnTo>
                  <a:lnTo>
                    <a:pt x="4383462" y="2767675"/>
                  </a:lnTo>
                  <a:lnTo>
                    <a:pt x="4422953" y="2618184"/>
                  </a:lnTo>
                  <a:lnTo>
                    <a:pt x="4464522" y="2406403"/>
                  </a:lnTo>
                  <a:lnTo>
                    <a:pt x="4504012" y="2273522"/>
                  </a:lnTo>
                  <a:lnTo>
                    <a:pt x="4545581" y="2136488"/>
                  </a:lnTo>
                  <a:lnTo>
                    <a:pt x="4585072" y="2016064"/>
                  </a:lnTo>
                  <a:lnTo>
                    <a:pt x="4626641" y="1939241"/>
                  </a:lnTo>
                  <a:lnTo>
                    <a:pt x="4666132" y="1872800"/>
                  </a:lnTo>
                  <a:lnTo>
                    <a:pt x="4707701" y="1808436"/>
                  </a:lnTo>
                  <a:lnTo>
                    <a:pt x="4747192" y="1760682"/>
                  </a:lnTo>
                  <a:lnTo>
                    <a:pt x="4788761" y="1746148"/>
                  </a:lnTo>
                </a:path>
              </a:pathLst>
            </a:custGeom>
            <a:ln w="1661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8283511" y="4897961"/>
              <a:ext cx="1355725" cy="342900"/>
            </a:xfrm>
            <a:custGeom>
              <a:avLst/>
              <a:gdLst/>
              <a:ahLst/>
              <a:cxnLst/>
              <a:rect l="l" t="t" r="r" b="b"/>
              <a:pathLst>
                <a:path w="1355725" h="342900">
                  <a:moveTo>
                    <a:pt x="1355153" y="0"/>
                  </a:moveTo>
                  <a:lnTo>
                    <a:pt x="0" y="0"/>
                  </a:lnTo>
                  <a:lnTo>
                    <a:pt x="0" y="342586"/>
                  </a:lnTo>
                  <a:lnTo>
                    <a:pt x="1355153" y="342586"/>
                  </a:lnTo>
                  <a:lnTo>
                    <a:pt x="1355153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" name="object 23"/>
          <p:cNvSpPr txBox="1"/>
          <p:nvPr/>
        </p:nvSpPr>
        <p:spPr>
          <a:xfrm>
            <a:off x="11724164" y="6022024"/>
            <a:ext cx="314325" cy="26479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550" dirty="0">
                <a:latin typeface="Arial MT"/>
                <a:cs typeface="Arial MT"/>
              </a:rPr>
              <a:t>-</a:t>
            </a:r>
            <a:r>
              <a:rPr sz="1550" spc="-25" dirty="0">
                <a:latin typeface="Arial MT"/>
                <a:cs typeface="Arial MT"/>
              </a:rPr>
              <a:t>15</a:t>
            </a:r>
            <a:endParaRPr sz="1550">
              <a:latin typeface="Arial MT"/>
              <a:cs typeface="Arial MT"/>
            </a:endParaRPr>
          </a:p>
        </p:txBody>
      </p:sp>
      <p:sp>
        <p:nvSpPr>
          <p:cNvPr id="34" name="object 3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pc="-10" dirty="0"/>
              <a:t>Software</a:t>
            </a:r>
            <a:r>
              <a:rPr spc="-50" dirty="0"/>
              <a:t> </a:t>
            </a:r>
            <a:r>
              <a:rPr dirty="0"/>
              <a:t>for</a:t>
            </a:r>
            <a:r>
              <a:rPr spc="-45" dirty="0"/>
              <a:t> </a:t>
            </a:r>
            <a:r>
              <a:rPr dirty="0"/>
              <a:t>Optical</a:t>
            </a:r>
            <a:r>
              <a:rPr spc="-45" dirty="0"/>
              <a:t> </a:t>
            </a:r>
            <a:r>
              <a:rPr dirty="0"/>
              <a:t>Simulations,</a:t>
            </a:r>
            <a:r>
              <a:rPr spc="-45" dirty="0"/>
              <a:t> </a:t>
            </a:r>
            <a:r>
              <a:rPr spc="-20" dirty="0"/>
              <a:t>Trieste,</a:t>
            </a:r>
            <a:r>
              <a:rPr spc="-45" dirty="0"/>
              <a:t> </a:t>
            </a:r>
            <a:r>
              <a:rPr dirty="0"/>
              <a:t>October</a:t>
            </a:r>
            <a:r>
              <a:rPr spc="-45" dirty="0"/>
              <a:t> </a:t>
            </a:r>
            <a:r>
              <a:rPr dirty="0"/>
              <a:t>2016.</a:t>
            </a:r>
            <a:r>
              <a:rPr spc="-45" dirty="0"/>
              <a:t> </a:t>
            </a:r>
            <a:r>
              <a:rPr dirty="0"/>
              <a:t>Ruben</a:t>
            </a:r>
            <a:r>
              <a:rPr spc="-45" dirty="0"/>
              <a:t> </a:t>
            </a:r>
            <a:r>
              <a:rPr spc="-10" dirty="0"/>
              <a:t>Reininger</a:t>
            </a:r>
          </a:p>
        </p:txBody>
      </p:sp>
      <p:sp>
        <p:nvSpPr>
          <p:cNvPr id="35" name="object 3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25" dirty="0"/>
              <a:t>41</a:t>
            </a:fld>
            <a:endParaRPr spc="-25" dirty="0"/>
          </a:p>
        </p:txBody>
      </p:sp>
      <p:sp>
        <p:nvSpPr>
          <p:cNvPr id="36" name="object 36"/>
          <p:cNvSpPr txBox="1"/>
          <p:nvPr/>
        </p:nvSpPr>
        <p:spPr>
          <a:xfrm>
            <a:off x="1069339" y="9384967"/>
            <a:ext cx="72390" cy="211454"/>
          </a:xfrm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sz="1200" spc="-50" dirty="0">
                <a:solidFill>
                  <a:srgbClr val="275D90"/>
                </a:solidFill>
                <a:latin typeface="Calibri"/>
                <a:cs typeface="Calibri"/>
              </a:rPr>
              <a:t>-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11724164" y="5554862"/>
            <a:ext cx="314325" cy="26479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550" dirty="0">
                <a:latin typeface="Arial MT"/>
                <a:cs typeface="Arial MT"/>
              </a:rPr>
              <a:t>-</a:t>
            </a:r>
            <a:r>
              <a:rPr sz="1550" spc="-25" dirty="0">
                <a:latin typeface="Arial MT"/>
                <a:cs typeface="Arial MT"/>
              </a:rPr>
              <a:t>10</a:t>
            </a:r>
            <a:endParaRPr sz="1550">
              <a:latin typeface="Arial MT"/>
              <a:cs typeface="Arial MT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11724164" y="5087699"/>
            <a:ext cx="203200" cy="26479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550" dirty="0">
                <a:latin typeface="Arial MT"/>
                <a:cs typeface="Arial MT"/>
              </a:rPr>
              <a:t>-</a:t>
            </a:r>
            <a:r>
              <a:rPr sz="1550" spc="-50" dirty="0">
                <a:latin typeface="Arial MT"/>
                <a:cs typeface="Arial MT"/>
              </a:rPr>
              <a:t>5</a:t>
            </a:r>
            <a:endParaRPr sz="1550">
              <a:latin typeface="Arial MT"/>
              <a:cs typeface="Arial MT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11790676" y="4620537"/>
            <a:ext cx="136525" cy="26479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550" spc="-50" dirty="0">
                <a:latin typeface="Arial MT"/>
                <a:cs typeface="Arial MT"/>
              </a:rPr>
              <a:t>0</a:t>
            </a:r>
            <a:endParaRPr sz="1550">
              <a:latin typeface="Arial MT"/>
              <a:cs typeface="Arial MT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11790676" y="4153375"/>
            <a:ext cx="136525" cy="26479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550" spc="-50" dirty="0">
                <a:latin typeface="Arial MT"/>
                <a:cs typeface="Arial MT"/>
              </a:rPr>
              <a:t>5</a:t>
            </a:r>
            <a:endParaRPr sz="1550">
              <a:latin typeface="Arial MT"/>
              <a:cs typeface="Arial MT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11790676" y="3686213"/>
            <a:ext cx="247650" cy="26479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550" spc="-25" dirty="0">
                <a:latin typeface="Arial MT"/>
                <a:cs typeface="Arial MT"/>
              </a:rPr>
              <a:t>10</a:t>
            </a:r>
            <a:endParaRPr sz="1550">
              <a:latin typeface="Arial MT"/>
              <a:cs typeface="Arial MT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1790676" y="3219050"/>
            <a:ext cx="247650" cy="26479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550" spc="-25" dirty="0">
                <a:latin typeface="Arial MT"/>
                <a:cs typeface="Arial MT"/>
              </a:rPr>
              <a:t>15</a:t>
            </a:r>
            <a:endParaRPr sz="1550">
              <a:latin typeface="Arial MT"/>
              <a:cs typeface="Arial MT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12403539" y="3945738"/>
            <a:ext cx="323215" cy="1640839"/>
          </a:xfrm>
          <a:prstGeom prst="rect">
            <a:avLst/>
          </a:prstGeom>
        </p:spPr>
        <p:txBody>
          <a:bodyPr vert="vert" wrap="square" lIns="0" tIns="0" rIns="0" bIns="0" rtlCol="0">
            <a:spAutoFit/>
          </a:bodyPr>
          <a:lstStyle/>
          <a:p>
            <a:pPr marL="12700">
              <a:lnSpc>
                <a:spcPts val="2415"/>
              </a:lnSpc>
              <a:tabLst>
                <a:tab pos="883285" algn="l"/>
              </a:tabLst>
            </a:pPr>
            <a:r>
              <a:rPr sz="2100" b="1" spc="-10" dirty="0">
                <a:latin typeface="Arial"/>
                <a:cs typeface="Arial"/>
              </a:rPr>
              <a:t>Slope</a:t>
            </a:r>
            <a:r>
              <a:rPr sz="2100" b="1" dirty="0">
                <a:latin typeface="Arial"/>
                <a:cs typeface="Arial"/>
              </a:rPr>
              <a:t>	</a:t>
            </a:r>
            <a:r>
              <a:rPr sz="2100" b="1" spc="-10" dirty="0">
                <a:latin typeface="Arial"/>
                <a:cs typeface="Arial"/>
              </a:rPr>
              <a:t>(µrad)</a:t>
            </a:r>
            <a:endParaRPr sz="2100">
              <a:latin typeface="Arial"/>
              <a:cs typeface="Arial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8271851" y="4857232"/>
            <a:ext cx="1381125" cy="3841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350" spc="-20" dirty="0">
                <a:latin typeface="Arial MT"/>
                <a:cs typeface="Arial MT"/>
              </a:rPr>
              <a:t>R=-</a:t>
            </a:r>
            <a:r>
              <a:rPr sz="2350" dirty="0">
                <a:latin typeface="Arial MT"/>
                <a:cs typeface="Arial MT"/>
              </a:rPr>
              <a:t>30 </a:t>
            </a:r>
            <a:r>
              <a:rPr sz="2350" spc="-25" dirty="0">
                <a:latin typeface="Arial MT"/>
                <a:cs typeface="Arial MT"/>
              </a:rPr>
              <a:t>Km</a:t>
            </a:r>
            <a:endParaRPr sz="2350">
              <a:latin typeface="Arial MT"/>
              <a:cs typeface="Arial MT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4813300" y="1193800"/>
            <a:ext cx="378714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65" dirty="0">
                <a:latin typeface="Arial MT"/>
                <a:cs typeface="Arial MT"/>
              </a:rPr>
              <a:t>Total</a:t>
            </a:r>
            <a:r>
              <a:rPr sz="2400" spc="-135" dirty="0">
                <a:latin typeface="Arial MT"/>
                <a:cs typeface="Arial MT"/>
              </a:rPr>
              <a:t> </a:t>
            </a:r>
            <a:r>
              <a:rPr sz="2400" dirty="0">
                <a:latin typeface="Arial MT"/>
                <a:cs typeface="Arial MT"/>
              </a:rPr>
              <a:t>Absorbed</a:t>
            </a:r>
            <a:r>
              <a:rPr sz="2400" spc="-95" dirty="0">
                <a:latin typeface="Arial MT"/>
                <a:cs typeface="Arial MT"/>
              </a:rPr>
              <a:t> </a:t>
            </a:r>
            <a:r>
              <a:rPr sz="2400" dirty="0">
                <a:latin typeface="Arial MT"/>
                <a:cs typeface="Arial MT"/>
              </a:rPr>
              <a:t>Power</a:t>
            </a:r>
            <a:r>
              <a:rPr sz="2400" spc="-60" dirty="0">
                <a:latin typeface="Arial MT"/>
                <a:cs typeface="Arial MT"/>
              </a:rPr>
              <a:t> </a:t>
            </a:r>
            <a:r>
              <a:rPr sz="2400" dirty="0">
                <a:latin typeface="Arial MT"/>
                <a:cs typeface="Arial MT"/>
              </a:rPr>
              <a:t>35</a:t>
            </a:r>
            <a:r>
              <a:rPr sz="2400" spc="-50" dirty="0">
                <a:latin typeface="Arial MT"/>
                <a:cs typeface="Arial MT"/>
              </a:rPr>
              <a:t> W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5118100" y="7823200"/>
            <a:ext cx="3459479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Arial MT"/>
                <a:cs typeface="Arial MT"/>
              </a:rPr>
              <a:t>Virtual</a:t>
            </a:r>
            <a:r>
              <a:rPr sz="2400" spc="-65" dirty="0">
                <a:latin typeface="Arial MT"/>
                <a:cs typeface="Arial MT"/>
              </a:rPr>
              <a:t> </a:t>
            </a:r>
            <a:r>
              <a:rPr sz="2400" dirty="0">
                <a:latin typeface="Arial MT"/>
                <a:cs typeface="Arial MT"/>
              </a:rPr>
              <a:t>Source</a:t>
            </a:r>
            <a:r>
              <a:rPr sz="2400" spc="-65" dirty="0">
                <a:latin typeface="Arial MT"/>
                <a:cs typeface="Arial MT"/>
              </a:rPr>
              <a:t> </a:t>
            </a:r>
            <a:r>
              <a:rPr sz="2400" dirty="0">
                <a:latin typeface="Arial MT"/>
                <a:cs typeface="Arial MT"/>
              </a:rPr>
              <a:t>at</a:t>
            </a:r>
            <a:r>
              <a:rPr sz="2400" spc="-65" dirty="0">
                <a:latin typeface="Arial MT"/>
                <a:cs typeface="Arial MT"/>
              </a:rPr>
              <a:t> </a:t>
            </a:r>
            <a:r>
              <a:rPr sz="2400" dirty="0">
                <a:latin typeface="Arial MT"/>
                <a:cs typeface="Arial MT"/>
              </a:rPr>
              <a:t>28.52</a:t>
            </a:r>
            <a:r>
              <a:rPr sz="2400" spc="-65" dirty="0">
                <a:latin typeface="Arial MT"/>
                <a:cs typeface="Arial MT"/>
              </a:rPr>
              <a:t> </a:t>
            </a:r>
            <a:r>
              <a:rPr sz="2400" spc="-50" dirty="0">
                <a:latin typeface="Arial MT"/>
                <a:cs typeface="Arial MT"/>
              </a:rPr>
              <a:t>m</a:t>
            </a:r>
            <a:endParaRPr sz="24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726754" y="0"/>
            <a:ext cx="5278045" cy="215900"/>
          </a:xfrm>
          <a:prstGeom prst="rect">
            <a:avLst/>
          </a:prstGeom>
        </p:spPr>
      </p:pic>
      <p:grpSp>
        <p:nvGrpSpPr>
          <p:cNvPr id="3" name="object 3"/>
          <p:cNvGrpSpPr/>
          <p:nvPr/>
        </p:nvGrpSpPr>
        <p:grpSpPr>
          <a:xfrm>
            <a:off x="0" y="3606800"/>
            <a:ext cx="8632190" cy="4051300"/>
            <a:chOff x="0" y="3606800"/>
            <a:chExt cx="8632190" cy="4051300"/>
          </a:xfrm>
        </p:grpSpPr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267200" y="3670300"/>
              <a:ext cx="4364848" cy="3987800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3606800"/>
              <a:ext cx="4699000" cy="4051300"/>
            </a:xfrm>
            <a:prstGeom prst="rect">
              <a:avLst/>
            </a:prstGeom>
          </p:spPr>
        </p:pic>
      </p:grp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076325">
              <a:lnSpc>
                <a:spcPct val="100000"/>
              </a:lnSpc>
              <a:spcBef>
                <a:spcPts val="100"/>
              </a:spcBef>
            </a:pPr>
            <a:r>
              <a:rPr dirty="0"/>
              <a:t>FVLSPGM</a:t>
            </a:r>
            <a:r>
              <a:rPr spc="-50" dirty="0"/>
              <a:t> </a:t>
            </a:r>
            <a:r>
              <a:rPr dirty="0"/>
              <a:t>with</a:t>
            </a:r>
            <a:r>
              <a:rPr spc="-55" dirty="0"/>
              <a:t> </a:t>
            </a:r>
            <a:r>
              <a:rPr dirty="0"/>
              <a:t>Heat</a:t>
            </a:r>
            <a:r>
              <a:rPr spc="-50" dirty="0"/>
              <a:t> </a:t>
            </a:r>
            <a:r>
              <a:rPr dirty="0"/>
              <a:t>Load</a:t>
            </a:r>
            <a:r>
              <a:rPr spc="-50" dirty="0"/>
              <a:t> </a:t>
            </a:r>
            <a:r>
              <a:rPr dirty="0"/>
              <a:t>and</a:t>
            </a:r>
            <a:r>
              <a:rPr spc="-50" dirty="0"/>
              <a:t> </a:t>
            </a:r>
            <a:r>
              <a:rPr spc="-10" dirty="0"/>
              <a:t>Corrected</a:t>
            </a:r>
          </a:p>
        </p:txBody>
      </p:sp>
      <p:pic>
        <p:nvPicPr>
          <p:cNvPr id="7" name="object 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4787900" y="2527300"/>
            <a:ext cx="3810000" cy="939800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382704" y="2557135"/>
            <a:ext cx="3808295" cy="998864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2184400" y="1739900"/>
            <a:ext cx="10591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Without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2" name="object 12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pc="-10" dirty="0"/>
              <a:t>Software</a:t>
            </a:r>
            <a:r>
              <a:rPr spc="-50" dirty="0"/>
              <a:t> </a:t>
            </a:r>
            <a:r>
              <a:rPr dirty="0"/>
              <a:t>for</a:t>
            </a:r>
            <a:r>
              <a:rPr spc="-45" dirty="0"/>
              <a:t> </a:t>
            </a:r>
            <a:r>
              <a:rPr dirty="0"/>
              <a:t>Optical</a:t>
            </a:r>
            <a:r>
              <a:rPr spc="-45" dirty="0"/>
              <a:t> </a:t>
            </a:r>
            <a:r>
              <a:rPr dirty="0"/>
              <a:t>Simulations,</a:t>
            </a:r>
            <a:r>
              <a:rPr spc="-45" dirty="0"/>
              <a:t> </a:t>
            </a:r>
            <a:r>
              <a:rPr spc="-20" dirty="0"/>
              <a:t>Trieste,</a:t>
            </a:r>
            <a:r>
              <a:rPr spc="-45" dirty="0"/>
              <a:t> </a:t>
            </a:r>
            <a:r>
              <a:rPr dirty="0"/>
              <a:t>October</a:t>
            </a:r>
            <a:r>
              <a:rPr spc="-45" dirty="0"/>
              <a:t> </a:t>
            </a:r>
            <a:r>
              <a:rPr dirty="0"/>
              <a:t>2016.</a:t>
            </a:r>
            <a:r>
              <a:rPr spc="-45" dirty="0"/>
              <a:t> </a:t>
            </a:r>
            <a:r>
              <a:rPr dirty="0"/>
              <a:t>Ruben</a:t>
            </a:r>
            <a:r>
              <a:rPr spc="-45" dirty="0"/>
              <a:t> </a:t>
            </a:r>
            <a:r>
              <a:rPr spc="-10" dirty="0"/>
              <a:t>Reininger</a:t>
            </a:r>
          </a:p>
        </p:txBody>
      </p:sp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25" dirty="0"/>
              <a:t>42</a:t>
            </a:fld>
            <a:endParaRPr spc="-25" dirty="0"/>
          </a:p>
        </p:txBody>
      </p:sp>
      <p:sp>
        <p:nvSpPr>
          <p:cNvPr id="14" name="object 14"/>
          <p:cNvSpPr txBox="1"/>
          <p:nvPr/>
        </p:nvSpPr>
        <p:spPr>
          <a:xfrm>
            <a:off x="1069339" y="9384967"/>
            <a:ext cx="72390" cy="211454"/>
          </a:xfrm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sz="1200" spc="-50" dirty="0">
                <a:solidFill>
                  <a:srgbClr val="275D90"/>
                </a:solidFill>
                <a:latin typeface="Calibri"/>
                <a:cs typeface="Calibri"/>
              </a:rPr>
              <a:t>-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705600" y="1739900"/>
            <a:ext cx="6350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With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3632200" y="7937500"/>
            <a:ext cx="1771014" cy="746760"/>
          </a:xfrm>
          <a:prstGeom prst="rect">
            <a:avLst/>
          </a:prstGeom>
        </p:spPr>
        <p:txBody>
          <a:bodyPr vert="horz" wrap="square" lIns="0" tIns="33019" rIns="0" bIns="0" rtlCol="0">
            <a:spAutoFit/>
          </a:bodyPr>
          <a:lstStyle/>
          <a:p>
            <a:pPr marL="12700" marR="5080">
              <a:lnSpc>
                <a:spcPts val="2800"/>
              </a:lnSpc>
              <a:spcBef>
                <a:spcPts val="259"/>
              </a:spcBef>
            </a:pPr>
            <a:r>
              <a:rPr sz="2400" i="1" spc="-10" dirty="0">
                <a:latin typeface="Arial"/>
                <a:cs typeface="Arial"/>
              </a:rPr>
              <a:t>α</a:t>
            </a:r>
            <a:r>
              <a:rPr sz="2400" spc="-10" dirty="0">
                <a:latin typeface="Arial MT"/>
                <a:cs typeface="Arial MT"/>
              </a:rPr>
              <a:t>=88.52843° </a:t>
            </a:r>
            <a:r>
              <a:rPr sz="2400" i="1" spc="-10" dirty="0">
                <a:latin typeface="Arial"/>
                <a:cs typeface="Arial"/>
              </a:rPr>
              <a:t>β</a:t>
            </a:r>
            <a:r>
              <a:rPr sz="2400" spc="-10" dirty="0">
                <a:latin typeface="Arial MT"/>
                <a:cs typeface="Arial MT"/>
              </a:rPr>
              <a:t>=87.05389°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4402B86-1E86-4954-B834-26651B65C946}"/>
              </a:ext>
            </a:extLst>
          </p:cNvPr>
          <p:cNvSpPr/>
          <p:nvPr/>
        </p:nvSpPr>
        <p:spPr>
          <a:xfrm>
            <a:off x="19065" y="18782"/>
            <a:ext cx="475001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dirty="0"/>
              <a:t>06_FVLSPGM1000eVc2M2WithWithout.ows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726754" y="0"/>
            <a:ext cx="5278045" cy="215900"/>
          </a:xfrm>
          <a:prstGeom prst="rect">
            <a:avLst/>
          </a:prstGeom>
        </p:spPr>
      </p:pic>
      <p:grpSp>
        <p:nvGrpSpPr>
          <p:cNvPr id="3" name="object 3"/>
          <p:cNvGrpSpPr/>
          <p:nvPr/>
        </p:nvGrpSpPr>
        <p:grpSpPr>
          <a:xfrm>
            <a:off x="0" y="3606800"/>
            <a:ext cx="13004800" cy="4051300"/>
            <a:chOff x="0" y="3606800"/>
            <a:chExt cx="13004800" cy="4051300"/>
          </a:xfrm>
        </p:grpSpPr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547100" y="3733800"/>
              <a:ext cx="4457700" cy="3873500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267200" y="3670300"/>
              <a:ext cx="4826000" cy="3987800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0" y="3606800"/>
              <a:ext cx="4699000" cy="4051300"/>
            </a:xfrm>
            <a:prstGeom prst="rect">
              <a:avLst/>
            </a:prstGeom>
          </p:spPr>
        </p:pic>
      </p:grpSp>
      <p:sp>
        <p:nvSpPr>
          <p:cNvPr id="7" name="object 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076325">
              <a:lnSpc>
                <a:spcPct val="100000"/>
              </a:lnSpc>
              <a:spcBef>
                <a:spcPts val="100"/>
              </a:spcBef>
            </a:pPr>
            <a:r>
              <a:rPr dirty="0"/>
              <a:t>FVLSPGM</a:t>
            </a:r>
            <a:r>
              <a:rPr spc="-50" dirty="0"/>
              <a:t> </a:t>
            </a:r>
            <a:r>
              <a:rPr dirty="0"/>
              <a:t>with</a:t>
            </a:r>
            <a:r>
              <a:rPr spc="-55" dirty="0"/>
              <a:t> </a:t>
            </a:r>
            <a:r>
              <a:rPr dirty="0"/>
              <a:t>Heat</a:t>
            </a:r>
            <a:r>
              <a:rPr spc="-50" dirty="0"/>
              <a:t> </a:t>
            </a:r>
            <a:r>
              <a:rPr dirty="0"/>
              <a:t>Load</a:t>
            </a:r>
            <a:r>
              <a:rPr spc="-50" dirty="0"/>
              <a:t> </a:t>
            </a:r>
            <a:r>
              <a:rPr dirty="0"/>
              <a:t>and</a:t>
            </a:r>
            <a:r>
              <a:rPr spc="-50" dirty="0"/>
              <a:t> </a:t>
            </a:r>
            <a:r>
              <a:rPr spc="-10" dirty="0"/>
              <a:t>Corrected</a:t>
            </a:r>
          </a:p>
        </p:txBody>
      </p:sp>
      <p:pic>
        <p:nvPicPr>
          <p:cNvPr id="8" name="object 8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4787900" y="2527300"/>
            <a:ext cx="3810000" cy="939800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382704" y="2557135"/>
            <a:ext cx="3808295" cy="998864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2184400" y="1739900"/>
            <a:ext cx="10591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10" dirty="0">
                <a:latin typeface="Arial MT"/>
                <a:cs typeface="Arial MT"/>
              </a:rPr>
              <a:t>Without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6705600" y="1739900"/>
            <a:ext cx="6350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0" dirty="0">
                <a:latin typeface="Arial MT"/>
                <a:cs typeface="Arial MT"/>
              </a:rPr>
              <a:t>With</a:t>
            </a:r>
            <a:endParaRPr sz="2400">
              <a:latin typeface="Arial MT"/>
              <a:cs typeface="Arial MT"/>
            </a:endParaRPr>
          </a:p>
        </p:txBody>
      </p:sp>
      <p:pic>
        <p:nvPicPr>
          <p:cNvPr id="12" name="object 12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9207500" y="2527300"/>
            <a:ext cx="3797300" cy="939800"/>
          </a:xfrm>
          <a:prstGeom prst="rect">
            <a:avLst/>
          </a:prstGeom>
        </p:spPr>
      </p:pic>
      <p:sp>
        <p:nvSpPr>
          <p:cNvPr id="13" name="object 13"/>
          <p:cNvSpPr txBox="1"/>
          <p:nvPr/>
        </p:nvSpPr>
        <p:spPr>
          <a:xfrm>
            <a:off x="9474200" y="1739900"/>
            <a:ext cx="20580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Arial MT"/>
                <a:cs typeface="Arial MT"/>
              </a:rPr>
              <a:t>With</a:t>
            </a:r>
            <a:r>
              <a:rPr sz="2400" spc="-30" dirty="0">
                <a:latin typeface="Arial MT"/>
                <a:cs typeface="Arial MT"/>
              </a:rPr>
              <a:t> </a:t>
            </a:r>
            <a:r>
              <a:rPr sz="2400" spc="-10" dirty="0">
                <a:latin typeface="Arial MT"/>
                <a:cs typeface="Arial MT"/>
              </a:rPr>
              <a:t>Corrected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7" name="object 1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pc="-10" dirty="0"/>
              <a:t>Software</a:t>
            </a:r>
            <a:r>
              <a:rPr spc="-50" dirty="0"/>
              <a:t> </a:t>
            </a:r>
            <a:r>
              <a:rPr dirty="0"/>
              <a:t>for</a:t>
            </a:r>
            <a:r>
              <a:rPr spc="-45" dirty="0"/>
              <a:t> </a:t>
            </a:r>
            <a:r>
              <a:rPr dirty="0"/>
              <a:t>Optical</a:t>
            </a:r>
            <a:r>
              <a:rPr spc="-45" dirty="0"/>
              <a:t> </a:t>
            </a:r>
            <a:r>
              <a:rPr dirty="0"/>
              <a:t>Simulations,</a:t>
            </a:r>
            <a:r>
              <a:rPr spc="-45" dirty="0"/>
              <a:t> </a:t>
            </a:r>
            <a:r>
              <a:rPr spc="-20" dirty="0"/>
              <a:t>Trieste,</a:t>
            </a:r>
            <a:r>
              <a:rPr spc="-45" dirty="0"/>
              <a:t> </a:t>
            </a:r>
            <a:r>
              <a:rPr dirty="0"/>
              <a:t>October</a:t>
            </a:r>
            <a:r>
              <a:rPr spc="-45" dirty="0"/>
              <a:t> </a:t>
            </a:r>
            <a:r>
              <a:rPr dirty="0"/>
              <a:t>2016.</a:t>
            </a:r>
            <a:r>
              <a:rPr spc="-45" dirty="0"/>
              <a:t> </a:t>
            </a:r>
            <a:r>
              <a:rPr dirty="0"/>
              <a:t>Ruben</a:t>
            </a:r>
            <a:r>
              <a:rPr spc="-45" dirty="0"/>
              <a:t> </a:t>
            </a:r>
            <a:r>
              <a:rPr spc="-10" dirty="0"/>
              <a:t>Reininger</a:t>
            </a:r>
          </a:p>
        </p:txBody>
      </p:sp>
      <p:sp>
        <p:nvSpPr>
          <p:cNvPr id="18" name="object 1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25" dirty="0"/>
              <a:t>43</a:t>
            </a:fld>
            <a:endParaRPr spc="-25" dirty="0"/>
          </a:p>
        </p:txBody>
      </p:sp>
      <p:sp>
        <p:nvSpPr>
          <p:cNvPr id="19" name="object 19"/>
          <p:cNvSpPr txBox="1"/>
          <p:nvPr/>
        </p:nvSpPr>
        <p:spPr>
          <a:xfrm>
            <a:off x="1069339" y="9384967"/>
            <a:ext cx="72390" cy="211454"/>
          </a:xfrm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sz="1200" spc="-50" dirty="0">
                <a:solidFill>
                  <a:srgbClr val="275D90"/>
                </a:solidFill>
                <a:latin typeface="Calibri"/>
                <a:cs typeface="Calibri"/>
              </a:rPr>
              <a:t>-</a:t>
            </a:r>
            <a:endParaRPr sz="1200">
              <a:latin typeface="Calibri"/>
              <a:cs typeface="Calibri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3632200" y="7937500"/>
            <a:ext cx="1771014" cy="746760"/>
          </a:xfrm>
          <a:prstGeom prst="rect">
            <a:avLst/>
          </a:prstGeom>
        </p:spPr>
        <p:txBody>
          <a:bodyPr vert="horz" wrap="square" lIns="0" tIns="33019" rIns="0" bIns="0" rtlCol="0">
            <a:spAutoFit/>
          </a:bodyPr>
          <a:lstStyle/>
          <a:p>
            <a:pPr marL="12700" marR="5080">
              <a:lnSpc>
                <a:spcPts val="2800"/>
              </a:lnSpc>
              <a:spcBef>
                <a:spcPts val="259"/>
              </a:spcBef>
            </a:pPr>
            <a:r>
              <a:rPr sz="2400" i="1" spc="-10" dirty="0">
                <a:latin typeface="Arial"/>
                <a:cs typeface="Arial"/>
              </a:rPr>
              <a:t>α</a:t>
            </a:r>
            <a:r>
              <a:rPr sz="2400" spc="-10" dirty="0">
                <a:latin typeface="Arial MT"/>
                <a:cs typeface="Arial MT"/>
              </a:rPr>
              <a:t>=88.52843° </a:t>
            </a:r>
            <a:r>
              <a:rPr sz="2400" i="1" spc="-10" dirty="0">
                <a:latin typeface="Arial"/>
                <a:cs typeface="Arial"/>
              </a:rPr>
              <a:t>β</a:t>
            </a:r>
            <a:r>
              <a:rPr sz="2400" spc="-10" dirty="0">
                <a:latin typeface="Arial MT"/>
                <a:cs typeface="Arial MT"/>
              </a:rPr>
              <a:t>=87.05389°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0058400" y="7899400"/>
            <a:ext cx="1771014" cy="746760"/>
          </a:xfrm>
          <a:prstGeom prst="rect">
            <a:avLst/>
          </a:prstGeom>
        </p:spPr>
        <p:txBody>
          <a:bodyPr vert="horz" wrap="square" lIns="0" tIns="33019" rIns="0" bIns="0" rtlCol="0">
            <a:spAutoFit/>
          </a:bodyPr>
          <a:lstStyle/>
          <a:p>
            <a:pPr marL="12700" marR="5080">
              <a:lnSpc>
                <a:spcPts val="2800"/>
              </a:lnSpc>
              <a:spcBef>
                <a:spcPts val="259"/>
              </a:spcBef>
            </a:pPr>
            <a:r>
              <a:rPr sz="2400" i="1" spc="-10" dirty="0">
                <a:latin typeface="Arial"/>
                <a:cs typeface="Arial"/>
              </a:rPr>
              <a:t>α</a:t>
            </a:r>
            <a:r>
              <a:rPr sz="2400" spc="-10" dirty="0">
                <a:latin typeface="Arial MT"/>
                <a:cs typeface="Arial MT"/>
              </a:rPr>
              <a:t>=88.53789° </a:t>
            </a:r>
            <a:r>
              <a:rPr sz="2400" i="1" spc="-10" dirty="0">
                <a:latin typeface="Arial"/>
                <a:cs typeface="Arial"/>
              </a:rPr>
              <a:t>β</a:t>
            </a:r>
            <a:r>
              <a:rPr sz="2400" spc="-10" dirty="0">
                <a:latin typeface="Arial MT"/>
                <a:cs typeface="Arial MT"/>
              </a:rPr>
              <a:t>=87.0586°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5816600" y="8899993"/>
            <a:ext cx="2278454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err="1">
                <a:latin typeface="Arial MT"/>
                <a:cs typeface="Arial MT"/>
              </a:rPr>
              <a:t>R</a:t>
            </a:r>
            <a:r>
              <a:rPr sz="1800">
                <a:latin typeface="Arial MT"/>
                <a:cs typeface="Arial MT"/>
              </a:rPr>
              <a:t>.</a:t>
            </a:r>
            <a:r>
              <a:rPr lang="en-US" sz="1800">
                <a:latin typeface="Arial MT"/>
                <a:cs typeface="Arial MT"/>
              </a:rPr>
              <a:t> </a:t>
            </a:r>
            <a:r>
              <a:rPr sz="1800">
                <a:latin typeface="Arial MT"/>
                <a:cs typeface="Arial MT"/>
              </a:rPr>
              <a:t>R</a:t>
            </a:r>
            <a:r>
              <a:rPr lang="en-US" sz="1800" dirty="0" err="1">
                <a:latin typeface="Arial MT"/>
                <a:cs typeface="Arial MT"/>
              </a:rPr>
              <a:t>eininger</a:t>
            </a:r>
            <a:r>
              <a:rPr sz="1800" dirty="0">
                <a:latin typeface="Arial MT"/>
                <a:cs typeface="Arial MT"/>
              </a:rPr>
              <a:t>,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(2010)</a:t>
            </a:r>
            <a:endParaRPr sz="18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726754" y="0"/>
            <a:ext cx="5278045" cy="203200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352925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Summary</a:t>
            </a: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39140" y="1426268"/>
            <a:ext cx="372070" cy="334863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39140" y="2064541"/>
            <a:ext cx="372070" cy="334863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96339" y="3247130"/>
            <a:ext cx="310058" cy="279052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96339" y="4266402"/>
            <a:ext cx="310058" cy="279052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39140" y="5300163"/>
            <a:ext cx="372070" cy="334863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96339" y="5923951"/>
            <a:ext cx="310058" cy="279052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96339" y="6473325"/>
            <a:ext cx="310058" cy="279052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39140" y="7586558"/>
            <a:ext cx="372070" cy="334863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914400" y="1196339"/>
            <a:ext cx="11443335" cy="7378700"/>
          </a:xfrm>
          <a:prstGeom prst="rect">
            <a:avLst/>
          </a:prstGeom>
        </p:spPr>
        <p:txBody>
          <a:bodyPr vert="horz" wrap="square" lIns="0" tIns="99060" rIns="0" bIns="0" rtlCol="0">
            <a:spAutoFit/>
          </a:bodyPr>
          <a:lstStyle/>
          <a:p>
            <a:pPr marL="190500">
              <a:lnSpc>
                <a:spcPct val="100000"/>
              </a:lnSpc>
              <a:spcBef>
                <a:spcPts val="780"/>
              </a:spcBef>
            </a:pPr>
            <a:r>
              <a:rPr sz="3600" dirty="0">
                <a:solidFill>
                  <a:srgbClr val="424242"/>
                </a:solidFill>
                <a:latin typeface="Calibri"/>
                <a:cs typeface="Calibri"/>
              </a:rPr>
              <a:t>SGM</a:t>
            </a:r>
            <a:r>
              <a:rPr sz="3600" spc="-70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3600" dirty="0">
                <a:solidFill>
                  <a:srgbClr val="424242"/>
                </a:solidFill>
                <a:latin typeface="Calibri"/>
                <a:cs typeface="Calibri"/>
              </a:rPr>
              <a:t>requires</a:t>
            </a:r>
            <a:r>
              <a:rPr sz="3600" spc="-65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3600" dirty="0">
                <a:solidFill>
                  <a:srgbClr val="424242"/>
                </a:solidFill>
                <a:latin typeface="Calibri"/>
                <a:cs typeface="Calibri"/>
              </a:rPr>
              <a:t>a</a:t>
            </a:r>
            <a:r>
              <a:rPr sz="3600" spc="-65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3600" dirty="0">
                <a:solidFill>
                  <a:srgbClr val="424242"/>
                </a:solidFill>
                <a:latin typeface="Calibri"/>
                <a:cs typeface="Calibri"/>
              </a:rPr>
              <a:t>movable</a:t>
            </a:r>
            <a:r>
              <a:rPr sz="3600" spc="-65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3600" dirty="0">
                <a:solidFill>
                  <a:srgbClr val="424242"/>
                </a:solidFill>
                <a:latin typeface="Calibri"/>
                <a:cs typeface="Calibri"/>
              </a:rPr>
              <a:t>exit</a:t>
            </a:r>
            <a:r>
              <a:rPr sz="3600" spc="-65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3600" spc="-20" dirty="0">
                <a:solidFill>
                  <a:srgbClr val="424242"/>
                </a:solidFill>
                <a:latin typeface="Calibri"/>
                <a:cs typeface="Calibri"/>
              </a:rPr>
              <a:t>slit</a:t>
            </a:r>
            <a:endParaRPr sz="3600" dirty="0">
              <a:latin typeface="Calibri"/>
              <a:cs typeface="Calibri"/>
            </a:endParaRPr>
          </a:p>
          <a:p>
            <a:pPr marL="12700" marR="855344" indent="177800">
              <a:lnSpc>
                <a:spcPct val="101899"/>
              </a:lnSpc>
              <a:spcBef>
                <a:spcPts val="595"/>
              </a:spcBef>
            </a:pPr>
            <a:r>
              <a:rPr sz="3600" dirty="0">
                <a:solidFill>
                  <a:srgbClr val="424242"/>
                </a:solidFill>
                <a:latin typeface="Calibri"/>
                <a:cs typeface="Calibri"/>
              </a:rPr>
              <a:t>Collimated</a:t>
            </a:r>
            <a:r>
              <a:rPr sz="3600" spc="-70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3600" dirty="0">
                <a:solidFill>
                  <a:srgbClr val="424242"/>
                </a:solidFill>
                <a:latin typeface="Calibri"/>
                <a:cs typeface="Calibri"/>
              </a:rPr>
              <a:t>PGM</a:t>
            </a:r>
            <a:r>
              <a:rPr sz="3600" spc="-65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3600" dirty="0">
                <a:solidFill>
                  <a:srgbClr val="424242"/>
                </a:solidFill>
                <a:latin typeface="Calibri"/>
                <a:cs typeface="Calibri"/>
              </a:rPr>
              <a:t>can</a:t>
            </a:r>
            <a:r>
              <a:rPr sz="3600" spc="-65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3600" dirty="0">
                <a:solidFill>
                  <a:srgbClr val="424242"/>
                </a:solidFill>
                <a:latin typeface="Calibri"/>
                <a:cs typeface="Calibri"/>
              </a:rPr>
              <a:t>be</a:t>
            </a:r>
            <a:r>
              <a:rPr sz="3600" spc="-70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3600" dirty="0">
                <a:solidFill>
                  <a:srgbClr val="424242"/>
                </a:solidFill>
                <a:latin typeface="Calibri"/>
                <a:cs typeface="Calibri"/>
              </a:rPr>
              <a:t>used</a:t>
            </a:r>
            <a:r>
              <a:rPr sz="3600" spc="-65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3600" dirty="0">
                <a:solidFill>
                  <a:srgbClr val="424242"/>
                </a:solidFill>
                <a:latin typeface="Calibri"/>
                <a:cs typeface="Calibri"/>
              </a:rPr>
              <a:t>with</a:t>
            </a:r>
            <a:r>
              <a:rPr sz="3600" spc="-65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3600" dirty="0">
                <a:solidFill>
                  <a:srgbClr val="424242"/>
                </a:solidFill>
                <a:latin typeface="Calibri"/>
                <a:cs typeface="Calibri"/>
              </a:rPr>
              <a:t>fixed</a:t>
            </a:r>
            <a:r>
              <a:rPr sz="3600" spc="-65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3600" spc="-10" dirty="0">
                <a:solidFill>
                  <a:srgbClr val="424242"/>
                </a:solidFill>
                <a:latin typeface="Calibri"/>
                <a:cs typeface="Calibri"/>
              </a:rPr>
              <a:t>magnification</a:t>
            </a:r>
            <a:r>
              <a:rPr sz="3600" spc="-70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3600" spc="-25" dirty="0">
                <a:solidFill>
                  <a:srgbClr val="424242"/>
                </a:solidFill>
                <a:latin typeface="Calibri"/>
                <a:cs typeface="Calibri"/>
              </a:rPr>
              <a:t>or </a:t>
            </a:r>
            <a:r>
              <a:rPr sz="3600" spc="-10" dirty="0">
                <a:solidFill>
                  <a:srgbClr val="424242"/>
                </a:solidFill>
                <a:latin typeface="Calibri"/>
                <a:cs typeface="Calibri"/>
              </a:rPr>
              <a:t>following</a:t>
            </a:r>
            <a:r>
              <a:rPr sz="3600" spc="-150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3600" dirty="0">
                <a:solidFill>
                  <a:srgbClr val="424242"/>
                </a:solidFill>
                <a:latin typeface="Calibri"/>
                <a:cs typeface="Calibri"/>
              </a:rPr>
              <a:t>grating</a:t>
            </a:r>
            <a:r>
              <a:rPr sz="3600" spc="-145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3600" spc="-10" dirty="0">
                <a:solidFill>
                  <a:srgbClr val="424242"/>
                </a:solidFill>
                <a:latin typeface="Calibri"/>
                <a:cs typeface="Calibri"/>
              </a:rPr>
              <a:t>efficiency</a:t>
            </a:r>
            <a:endParaRPr sz="3600" dirty="0">
              <a:latin typeface="Calibri"/>
              <a:cs typeface="Calibri"/>
            </a:endParaRPr>
          </a:p>
          <a:p>
            <a:pPr marL="838200" marR="128270">
              <a:lnSpc>
                <a:spcPct val="102800"/>
              </a:lnSpc>
              <a:spcBef>
                <a:spcPts val="680"/>
              </a:spcBef>
            </a:pPr>
            <a:r>
              <a:rPr sz="3000" dirty="0">
                <a:latin typeface="Calibri"/>
                <a:cs typeface="Calibri"/>
              </a:rPr>
              <a:t>The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slope</a:t>
            </a:r>
            <a:r>
              <a:rPr sz="3000" spc="-50" dirty="0">
                <a:latin typeface="Calibri"/>
                <a:cs typeface="Calibri"/>
              </a:rPr>
              <a:t> </a:t>
            </a:r>
            <a:r>
              <a:rPr sz="3000" spc="-10" dirty="0">
                <a:latin typeface="Calibri"/>
                <a:cs typeface="Calibri"/>
              </a:rPr>
              <a:t>errors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in</a:t>
            </a:r>
            <a:r>
              <a:rPr sz="3000" spc="-5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the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spc="-10" dirty="0">
                <a:latin typeface="Calibri"/>
                <a:cs typeface="Calibri"/>
              </a:rPr>
              <a:t>mirrors</a:t>
            </a:r>
            <a:r>
              <a:rPr sz="3000" spc="-5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impair</a:t>
            </a:r>
            <a:r>
              <a:rPr sz="3000" spc="-5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the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resolution</a:t>
            </a:r>
            <a:r>
              <a:rPr sz="3000" spc="-5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in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vertical</a:t>
            </a:r>
            <a:r>
              <a:rPr sz="3000" spc="-50" dirty="0">
                <a:latin typeface="Calibri"/>
                <a:cs typeface="Calibri"/>
              </a:rPr>
              <a:t> </a:t>
            </a:r>
            <a:r>
              <a:rPr sz="3000" spc="-25" dirty="0">
                <a:latin typeface="Calibri"/>
                <a:cs typeface="Calibri"/>
              </a:rPr>
              <a:t>PGM </a:t>
            </a:r>
            <a:r>
              <a:rPr sz="3000" spc="-10" dirty="0">
                <a:latin typeface="Calibri"/>
                <a:cs typeface="Calibri"/>
              </a:rPr>
              <a:t>mirror.</a:t>
            </a:r>
            <a:endParaRPr sz="3000" dirty="0">
              <a:latin typeface="Calibri"/>
              <a:cs typeface="Calibri"/>
            </a:endParaRPr>
          </a:p>
          <a:p>
            <a:pPr marL="838200" marR="5080">
              <a:lnSpc>
                <a:spcPct val="102800"/>
              </a:lnSpc>
              <a:spcBef>
                <a:spcPts val="600"/>
              </a:spcBef>
            </a:pPr>
            <a:r>
              <a:rPr sz="3000" dirty="0">
                <a:latin typeface="Calibri"/>
                <a:cs typeface="Calibri"/>
              </a:rPr>
              <a:t>The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heat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induced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spc="-10" dirty="0">
                <a:latin typeface="Calibri"/>
                <a:cs typeface="Calibri"/>
              </a:rPr>
              <a:t>deformations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in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Follath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collimated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PGM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impair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spc="-25" dirty="0">
                <a:latin typeface="Calibri"/>
                <a:cs typeface="Calibri"/>
              </a:rPr>
              <a:t>the </a:t>
            </a:r>
            <a:r>
              <a:rPr sz="3000" dirty="0">
                <a:latin typeface="Calibri"/>
                <a:cs typeface="Calibri"/>
              </a:rPr>
              <a:t>resolution.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Could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be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solved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by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moving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spc="-10" dirty="0">
                <a:latin typeface="Calibri"/>
                <a:cs typeface="Calibri"/>
              </a:rPr>
              <a:t>slit.</a:t>
            </a:r>
            <a:endParaRPr sz="3000" dirty="0">
              <a:latin typeface="Calibri"/>
              <a:cs typeface="Calibri"/>
            </a:endParaRPr>
          </a:p>
          <a:p>
            <a:pPr marL="190500">
              <a:lnSpc>
                <a:spcPct val="100000"/>
              </a:lnSpc>
              <a:spcBef>
                <a:spcPts val="700"/>
              </a:spcBef>
            </a:pPr>
            <a:r>
              <a:rPr sz="3600" dirty="0">
                <a:solidFill>
                  <a:srgbClr val="424242"/>
                </a:solidFill>
                <a:latin typeface="Calibri"/>
                <a:cs typeface="Calibri"/>
              </a:rPr>
              <a:t>Focusing</a:t>
            </a:r>
            <a:r>
              <a:rPr sz="3600" spc="-65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3600" dirty="0">
                <a:solidFill>
                  <a:srgbClr val="424242"/>
                </a:solidFill>
                <a:latin typeface="Calibri"/>
                <a:cs typeface="Calibri"/>
              </a:rPr>
              <a:t>VLS</a:t>
            </a:r>
            <a:r>
              <a:rPr sz="3600" spc="-60" dirty="0">
                <a:solidFill>
                  <a:srgbClr val="424242"/>
                </a:solidFill>
                <a:latin typeface="Calibri"/>
                <a:cs typeface="Calibri"/>
              </a:rPr>
              <a:t> </a:t>
            </a:r>
            <a:r>
              <a:rPr sz="3600" spc="-25" dirty="0">
                <a:solidFill>
                  <a:srgbClr val="424242"/>
                </a:solidFill>
                <a:latin typeface="Calibri"/>
                <a:cs typeface="Calibri"/>
              </a:rPr>
              <a:t>PGM</a:t>
            </a:r>
            <a:endParaRPr sz="3600" dirty="0">
              <a:latin typeface="Calibri"/>
              <a:cs typeface="Calibri"/>
            </a:endParaRPr>
          </a:p>
          <a:p>
            <a:pPr marL="838200" marR="4708525">
              <a:lnSpc>
                <a:spcPct val="119400"/>
              </a:lnSpc>
              <a:spcBef>
                <a:spcPts val="80"/>
              </a:spcBef>
            </a:pPr>
            <a:r>
              <a:rPr sz="3000" dirty="0">
                <a:latin typeface="Calibri"/>
                <a:cs typeface="Calibri"/>
              </a:rPr>
              <a:t>Can</a:t>
            </a:r>
            <a:r>
              <a:rPr sz="3000" spc="-4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correct</a:t>
            </a:r>
            <a:r>
              <a:rPr sz="3000" spc="-4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heat</a:t>
            </a:r>
            <a:r>
              <a:rPr sz="3000" spc="-4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induced</a:t>
            </a:r>
            <a:r>
              <a:rPr sz="3000" spc="-45" dirty="0">
                <a:latin typeface="Calibri"/>
                <a:cs typeface="Calibri"/>
              </a:rPr>
              <a:t> </a:t>
            </a:r>
            <a:r>
              <a:rPr sz="3000" spc="-10" dirty="0">
                <a:latin typeface="Calibri"/>
                <a:cs typeface="Calibri"/>
              </a:rPr>
              <a:t>deformation </a:t>
            </a:r>
            <a:r>
              <a:rPr sz="3000" dirty="0">
                <a:latin typeface="Calibri"/>
                <a:cs typeface="Calibri"/>
              </a:rPr>
              <a:t>Cannot</a:t>
            </a:r>
            <a:r>
              <a:rPr sz="3000" spc="-3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change</a:t>
            </a:r>
            <a:r>
              <a:rPr sz="3000" spc="-3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the</a:t>
            </a:r>
            <a:r>
              <a:rPr sz="3000" spc="-30" dirty="0">
                <a:latin typeface="Calibri"/>
                <a:cs typeface="Calibri"/>
              </a:rPr>
              <a:t> </a:t>
            </a:r>
            <a:r>
              <a:rPr sz="3000" spc="-10" dirty="0">
                <a:latin typeface="Calibri"/>
                <a:cs typeface="Calibri"/>
              </a:rPr>
              <a:t>magnification</a:t>
            </a:r>
            <a:endParaRPr sz="30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255"/>
              </a:spcBef>
            </a:pPr>
            <a:endParaRPr sz="3000" dirty="0">
              <a:latin typeface="Calibri"/>
              <a:cs typeface="Calibri"/>
            </a:endParaRPr>
          </a:p>
          <a:p>
            <a:pPr marL="495300" marR="345440">
              <a:lnSpc>
                <a:spcPct val="101899"/>
              </a:lnSpc>
            </a:pPr>
            <a:r>
              <a:rPr sz="3600" dirty="0">
                <a:solidFill>
                  <a:srgbClr val="FF2600"/>
                </a:solidFill>
                <a:latin typeface="Calibri"/>
                <a:cs typeface="Calibri"/>
              </a:rPr>
              <a:t>Formulas</a:t>
            </a:r>
            <a:r>
              <a:rPr sz="3600" spc="-60" dirty="0">
                <a:solidFill>
                  <a:srgbClr val="FF2600"/>
                </a:solidFill>
                <a:latin typeface="Calibri"/>
                <a:cs typeface="Calibri"/>
              </a:rPr>
              <a:t> </a:t>
            </a:r>
            <a:r>
              <a:rPr sz="3600" dirty="0">
                <a:solidFill>
                  <a:srgbClr val="FF2600"/>
                </a:solidFill>
                <a:latin typeface="Calibri"/>
                <a:cs typeface="Calibri"/>
              </a:rPr>
              <a:t>for</a:t>
            </a:r>
            <a:r>
              <a:rPr sz="3600" spc="-55" dirty="0">
                <a:solidFill>
                  <a:srgbClr val="FF2600"/>
                </a:solidFill>
                <a:latin typeface="Calibri"/>
                <a:cs typeface="Calibri"/>
              </a:rPr>
              <a:t> </a:t>
            </a:r>
            <a:r>
              <a:rPr sz="3600" dirty="0">
                <a:solidFill>
                  <a:srgbClr val="FF2600"/>
                </a:solidFill>
                <a:latin typeface="Calibri"/>
                <a:cs typeface="Calibri"/>
              </a:rPr>
              <a:t>all</a:t>
            </a:r>
            <a:r>
              <a:rPr sz="3600" spc="-55" dirty="0">
                <a:solidFill>
                  <a:srgbClr val="FF2600"/>
                </a:solidFill>
                <a:latin typeface="Calibri"/>
                <a:cs typeface="Calibri"/>
              </a:rPr>
              <a:t> </a:t>
            </a:r>
            <a:r>
              <a:rPr sz="3600" spc="-10" dirty="0">
                <a:solidFill>
                  <a:srgbClr val="FF2600"/>
                </a:solidFill>
                <a:latin typeface="Calibri"/>
                <a:cs typeface="Calibri"/>
              </a:rPr>
              <a:t>monochromator</a:t>
            </a:r>
            <a:r>
              <a:rPr sz="3600" spc="-55" dirty="0">
                <a:solidFill>
                  <a:srgbClr val="FF2600"/>
                </a:solidFill>
                <a:latin typeface="Calibri"/>
                <a:cs typeface="Calibri"/>
              </a:rPr>
              <a:t> </a:t>
            </a:r>
            <a:r>
              <a:rPr sz="3600" dirty="0">
                <a:solidFill>
                  <a:srgbClr val="FF2600"/>
                </a:solidFill>
                <a:latin typeface="Calibri"/>
                <a:cs typeface="Calibri"/>
              </a:rPr>
              <a:t>types</a:t>
            </a:r>
            <a:r>
              <a:rPr sz="3600" spc="-60" dirty="0">
                <a:solidFill>
                  <a:srgbClr val="FF2600"/>
                </a:solidFill>
                <a:latin typeface="Calibri"/>
                <a:cs typeface="Calibri"/>
              </a:rPr>
              <a:t> </a:t>
            </a:r>
            <a:r>
              <a:rPr lang="en-US" sz="3600" dirty="0">
                <a:solidFill>
                  <a:srgbClr val="FF2600"/>
                </a:solidFill>
                <a:latin typeface="Calibri"/>
                <a:cs typeface="Calibri"/>
              </a:rPr>
              <a:t>are </a:t>
            </a:r>
            <a:r>
              <a:rPr sz="3600" dirty="0">
                <a:solidFill>
                  <a:srgbClr val="FF2600"/>
                </a:solidFill>
                <a:latin typeface="Calibri"/>
                <a:cs typeface="Calibri"/>
              </a:rPr>
              <a:t>included</a:t>
            </a:r>
            <a:r>
              <a:rPr sz="3600" spc="-55" dirty="0">
                <a:solidFill>
                  <a:srgbClr val="FF2600"/>
                </a:solidFill>
                <a:latin typeface="Calibri"/>
                <a:cs typeface="Calibri"/>
              </a:rPr>
              <a:t> </a:t>
            </a:r>
            <a:r>
              <a:rPr sz="3600" spc="-25" dirty="0">
                <a:solidFill>
                  <a:srgbClr val="FF2600"/>
                </a:solidFill>
                <a:latin typeface="Calibri"/>
                <a:cs typeface="Calibri"/>
              </a:rPr>
              <a:t>in </a:t>
            </a:r>
            <a:r>
              <a:rPr sz="3600" spc="-10" dirty="0">
                <a:solidFill>
                  <a:srgbClr val="FF2600"/>
                </a:solidFill>
                <a:latin typeface="Calibri"/>
                <a:cs typeface="Calibri"/>
              </a:rPr>
              <a:t>Oasys</a:t>
            </a:r>
            <a:endParaRPr sz="3600" dirty="0">
              <a:latin typeface="Calibri"/>
              <a:cs typeface="Calibri"/>
            </a:endParaRPr>
          </a:p>
        </p:txBody>
      </p: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"/>
              </a:spcBef>
            </a:pPr>
            <a:r>
              <a:rPr spc="-10" dirty="0"/>
              <a:t>Software</a:t>
            </a:r>
            <a:r>
              <a:rPr spc="-50" dirty="0"/>
              <a:t> </a:t>
            </a:r>
            <a:r>
              <a:rPr dirty="0"/>
              <a:t>for</a:t>
            </a:r>
            <a:r>
              <a:rPr spc="-45" dirty="0"/>
              <a:t> </a:t>
            </a:r>
            <a:r>
              <a:rPr dirty="0"/>
              <a:t>Optical</a:t>
            </a:r>
            <a:r>
              <a:rPr spc="-45" dirty="0"/>
              <a:t> </a:t>
            </a:r>
            <a:r>
              <a:rPr dirty="0"/>
              <a:t>Simulations,</a:t>
            </a:r>
            <a:r>
              <a:rPr spc="-45" dirty="0"/>
              <a:t> </a:t>
            </a:r>
            <a:r>
              <a:rPr spc="-20" dirty="0"/>
              <a:t>Trieste,</a:t>
            </a:r>
            <a:r>
              <a:rPr spc="-45" dirty="0"/>
              <a:t> </a:t>
            </a:r>
            <a:r>
              <a:rPr dirty="0"/>
              <a:t>October</a:t>
            </a:r>
            <a:r>
              <a:rPr spc="-45" dirty="0"/>
              <a:t> </a:t>
            </a:r>
            <a:r>
              <a:rPr dirty="0"/>
              <a:t>2016.</a:t>
            </a:r>
            <a:r>
              <a:rPr spc="-45" dirty="0"/>
              <a:t> </a:t>
            </a:r>
            <a:r>
              <a:rPr dirty="0"/>
              <a:t>Ruben</a:t>
            </a:r>
            <a:r>
              <a:rPr spc="-45" dirty="0"/>
              <a:t> </a:t>
            </a:r>
            <a:r>
              <a:rPr spc="-10" dirty="0"/>
              <a:t>Reininger</a:t>
            </a:r>
          </a:p>
        </p:txBody>
      </p:sp>
      <p:sp>
        <p:nvSpPr>
          <p:cNvPr id="14" name="object 1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381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30"/>
              </a:spcBef>
            </a:pPr>
            <a:fld id="{81D60167-4931-47E6-BA6A-407CBD079E47}" type="slidenum">
              <a:rPr spc="-25" dirty="0"/>
              <a:t>44</a:t>
            </a:fld>
            <a:endParaRPr spc="-25" dirty="0"/>
          </a:p>
        </p:txBody>
      </p:sp>
      <p:sp>
        <p:nvSpPr>
          <p:cNvPr id="15" name="object 15"/>
          <p:cNvSpPr txBox="1"/>
          <p:nvPr/>
        </p:nvSpPr>
        <p:spPr>
          <a:xfrm>
            <a:off x="1069339" y="9384967"/>
            <a:ext cx="72390" cy="211454"/>
          </a:xfrm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"/>
              </a:spcBef>
            </a:pPr>
            <a:r>
              <a:rPr sz="1200" spc="-50" dirty="0">
                <a:solidFill>
                  <a:srgbClr val="275D90"/>
                </a:solidFill>
                <a:latin typeface="Calibri"/>
                <a:cs typeface="Calibri"/>
              </a:rPr>
              <a:t>-</a:t>
            </a:r>
            <a:endParaRPr sz="12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1919</TotalTime>
  <Words>2457</Words>
  <Application>Microsoft Office PowerPoint</Application>
  <PresentationFormat>Custom</PresentationFormat>
  <Paragraphs>486</Paragraphs>
  <Slides>44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5" baseType="lpstr">
      <vt:lpstr>Yu Gothic</vt:lpstr>
      <vt:lpstr>Arial</vt:lpstr>
      <vt:lpstr>Arial MT</vt:lpstr>
      <vt:lpstr>Calibri</vt:lpstr>
      <vt:lpstr>Cambria</vt:lpstr>
      <vt:lpstr>Georgia</vt:lpstr>
      <vt:lpstr>Segoe UI Symbol</vt:lpstr>
      <vt:lpstr>Symbol</vt:lpstr>
      <vt:lpstr>Times New Roman</vt:lpstr>
      <vt:lpstr>Trebuchet MS</vt:lpstr>
      <vt:lpstr>Office Theme</vt:lpstr>
      <vt:lpstr>Advances in Soft X-Ray beamlines design</vt:lpstr>
      <vt:lpstr>Outlook</vt:lpstr>
      <vt:lpstr>Outlook</vt:lpstr>
      <vt:lpstr>Toroidal Grating Optical Path Length</vt:lpstr>
      <vt:lpstr>Toroidal Grating Optical Path Length</vt:lpstr>
      <vt:lpstr>Toroidal Grating Optical Path Length</vt:lpstr>
      <vt:lpstr>Toroidal Grating Optical Path Length</vt:lpstr>
      <vt:lpstr>Toroidal Grating Optical Path Length</vt:lpstr>
      <vt:lpstr>Toroidal Grating Optical Path Length</vt:lpstr>
      <vt:lpstr>Resolution Terms and Magnification</vt:lpstr>
      <vt:lpstr>Resolution Terms and Magnification</vt:lpstr>
      <vt:lpstr>Resolution Terms and Magnification</vt:lpstr>
      <vt:lpstr>Resolution Terms and Magnification</vt:lpstr>
      <vt:lpstr>Source: present APS, 2 m ID</vt:lpstr>
      <vt:lpstr>Spherical Grating Monochromator SGM</vt:lpstr>
      <vt:lpstr>Slitless SGM</vt:lpstr>
      <vt:lpstr>SGM Ray Tracing at 1000 eV</vt:lpstr>
      <vt:lpstr>SGM Ray Tracing at 1000 eV</vt:lpstr>
      <vt:lpstr>SGM Ray Tracing at 1000 eV</vt:lpstr>
      <vt:lpstr>SGM Ray Tracings Resolution</vt:lpstr>
      <vt:lpstr>SGM Ray Tracings Resolution</vt:lpstr>
      <vt:lpstr>SGM Ray Tracing at 1600 eV</vt:lpstr>
      <vt:lpstr>SGM Ray Tracing at 1600 eV</vt:lpstr>
      <vt:lpstr>SGM Ray Tracing at 1600 eV</vt:lpstr>
      <vt:lpstr>SGM Ray Tracing at 1600 eV, slit moved, corrected</vt:lpstr>
      <vt:lpstr>Plane Grating</vt:lpstr>
      <vt:lpstr>Collimated PGM, vertical plane; c=2</vt:lpstr>
      <vt:lpstr>Collimated PGM, vertical plane; c=2</vt:lpstr>
      <vt:lpstr>Collimated PGM, vertical plane; c=2</vt:lpstr>
      <vt:lpstr>Collimated PGM, vertical plane; c=2</vt:lpstr>
      <vt:lpstr>Collimated PGM, vertical plane; c=2</vt:lpstr>
      <vt:lpstr>Collimated PGM, vertical plane; c=2</vt:lpstr>
      <vt:lpstr>Follath Collimated PGM, TM, CM: hor plane; c=2</vt:lpstr>
      <vt:lpstr>Follath Collimated PGM, TM, CM: hor plane; c=2</vt:lpstr>
      <vt:lpstr>Follath Collimated PGM, TM, CM: hor plane; c=2</vt:lpstr>
      <vt:lpstr>Collimated PGM, TM, CM: horizontal plane; c=5</vt:lpstr>
      <vt:lpstr>FVLSPGM</vt:lpstr>
      <vt:lpstr>FVLSPGM</vt:lpstr>
      <vt:lpstr>FVLSPGM</vt:lpstr>
      <vt:lpstr>FVLSPGM with Heat Load</vt:lpstr>
      <vt:lpstr>Deformation: Heat load absorbed on PM, c=2</vt:lpstr>
      <vt:lpstr>FVLSPGM with Heat Load and Corrected</vt:lpstr>
      <vt:lpstr>FVLSPGM with Heat Load and Corrected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Advances in Soft X-Ray beamlines design</dc:title>
  <cp:lastModifiedBy>SANCHEZ DEL RIO Manuel</cp:lastModifiedBy>
  <cp:revision>57</cp:revision>
  <dcterms:created xsi:type="dcterms:W3CDTF">2025-04-07T13:06:13Z</dcterms:created>
  <dcterms:modified xsi:type="dcterms:W3CDTF">2026-05-19T10:47:59Z</dcterms:modified>
</cp:coreProperties>
</file>