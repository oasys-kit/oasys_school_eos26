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12"/>
  </p:notesMasterIdLst>
  <p:sldIdLst>
    <p:sldId id="265" r:id="rId2"/>
    <p:sldId id="551" r:id="rId3"/>
    <p:sldId id="1392" r:id="rId4"/>
    <p:sldId id="1393" r:id="rId5"/>
    <p:sldId id="1394" r:id="rId6"/>
    <p:sldId id="1395" r:id="rId7"/>
    <p:sldId id="1396" r:id="rId8"/>
    <p:sldId id="1397" r:id="rId9"/>
    <p:sldId id="262" r:id="rId10"/>
    <p:sldId id="57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B3"/>
    <a:srgbClr val="B3E5FC"/>
    <a:srgbClr val="254061"/>
    <a:srgbClr val="4F81BD"/>
    <a:srgbClr val="376092"/>
    <a:srgbClr val="990033"/>
    <a:srgbClr val="D1C4E9"/>
    <a:srgbClr val="C8E6C9"/>
    <a:srgbClr val="FFECB3"/>
    <a:srgbClr val="F8B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94657" autoAdjust="0"/>
  </p:normalViewPr>
  <p:slideViewPr>
    <p:cSldViewPr snapToGrid="0">
      <p:cViewPr varScale="1">
        <p:scale>
          <a:sx n="119" d="100"/>
          <a:sy n="119" d="100"/>
        </p:scale>
        <p:origin x="96" y="31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3e2b6a1b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23e2b6a1b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974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5553-F7EC-46C9-8204-93A741EF8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1A1B6-9748-4EC8-A763-67DE20EB5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>
                <a:latin typeface="Candara" panose="020E0502030303020204" pitchFamily="34" charset="0"/>
              </a:defRPr>
            </a:lvl2pPr>
            <a:lvl3pPr marL="914400" indent="0" algn="ctr">
              <a:buNone/>
              <a:defRPr sz="1800">
                <a:latin typeface="Candara" panose="020E0502030303020204" pitchFamily="34" charset="0"/>
              </a:defRPr>
            </a:lvl3pPr>
            <a:lvl4pPr marL="1371600" indent="0" algn="ctr">
              <a:buNone/>
              <a:defRPr sz="1600">
                <a:latin typeface="Candara" panose="020E0502030303020204" pitchFamily="34" charset="0"/>
              </a:defRPr>
            </a:lvl4pPr>
            <a:lvl5pPr marL="1828800" indent="0" algn="ctr">
              <a:buNone/>
              <a:defRPr sz="1600">
                <a:latin typeface="Candara" panose="020E0502030303020204" pitchFamily="34" charset="0"/>
              </a:defRPr>
            </a:lvl5pPr>
            <a:lvl6pPr marL="2286000" indent="0" algn="ctr">
              <a:buNone/>
              <a:defRPr sz="1600">
                <a:latin typeface="Candara" panose="020E0502030303020204" pitchFamily="34" charset="0"/>
              </a:defRPr>
            </a:lvl6pPr>
            <a:lvl7pPr marL="2743200" indent="0" algn="ctr">
              <a:buNone/>
              <a:defRPr sz="1600">
                <a:latin typeface="Candara" panose="020E0502030303020204" pitchFamily="34" charset="0"/>
              </a:defRPr>
            </a:lvl7pPr>
            <a:lvl8pPr marL="3200400" indent="0" algn="ctr">
              <a:buNone/>
              <a:defRPr sz="1600">
                <a:latin typeface="Candara" panose="020E0502030303020204" pitchFamily="34" charset="0"/>
              </a:defRPr>
            </a:lvl8pPr>
            <a:lvl9pPr marL="3657600" indent="0" algn="ctr">
              <a:buNone/>
              <a:defRPr sz="1600">
                <a:latin typeface="Candara" panose="020E0502030303020204" pitchFamily="34" charset="0"/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Google Shape;22;p4">
            <a:extLst>
              <a:ext uri="{FF2B5EF4-FFF2-40B4-BE49-F238E27FC236}">
                <a16:creationId xmlns:a16="http://schemas.microsoft.com/office/drawing/2014/main" id="{CF98D81E-E03A-4F29-AD52-41156872D197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573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B6E3-ABA3-4288-9B3C-4F1EEF8D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0C8B-ECAF-4C27-909F-A5B5DBF33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Google Shape;22;p4">
            <a:extLst>
              <a:ext uri="{FF2B5EF4-FFF2-40B4-BE49-F238E27FC236}">
                <a16:creationId xmlns:a16="http://schemas.microsoft.com/office/drawing/2014/main" id="{6411CF8D-DC3A-4433-B585-3D5B6EEF4554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272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DCEE-389B-4B68-932F-2E5005B1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BC8F-1E8A-478D-AA35-97108B0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Google Shape;22;p4">
            <a:extLst>
              <a:ext uri="{FF2B5EF4-FFF2-40B4-BE49-F238E27FC236}">
                <a16:creationId xmlns:a16="http://schemas.microsoft.com/office/drawing/2014/main" id="{512F06EF-0638-4EAC-93F3-D5AB16F3A1BB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63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C4F9-BCF9-4600-9F9B-1DF22550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F9BB-7246-4CE7-8B1E-42D5C7738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67F5-7780-433B-A0CA-2727257BD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Google Shape;22;p4">
            <a:extLst>
              <a:ext uri="{FF2B5EF4-FFF2-40B4-BE49-F238E27FC236}">
                <a16:creationId xmlns:a16="http://schemas.microsoft.com/office/drawing/2014/main" id="{0EF4E44C-9C9B-434B-BB30-B3130BC5F7F7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641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D6E4-BA5B-42F6-A863-204C867C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6334-34A9-45F2-8580-965B29E6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E25DA-F1C9-4922-A8A7-DB9769540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EE80C-4EC3-4B0D-9726-3ECFA9456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81BAD-8532-4D1F-B5D8-DAE81DB64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Google Shape;22;p4">
            <a:extLst>
              <a:ext uri="{FF2B5EF4-FFF2-40B4-BE49-F238E27FC236}">
                <a16:creationId xmlns:a16="http://schemas.microsoft.com/office/drawing/2014/main" id="{0B2B6904-F4DB-438F-8398-604207237E8E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58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27B9-85A7-4C21-936E-04ABF2B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Google Shape;22;p4">
            <a:extLst>
              <a:ext uri="{FF2B5EF4-FFF2-40B4-BE49-F238E27FC236}">
                <a16:creationId xmlns:a16="http://schemas.microsoft.com/office/drawing/2014/main" id="{8B4B8084-22E0-4BA5-B40F-F949F52B921F}"/>
              </a:ext>
            </a:extLst>
          </p:cNvPr>
          <p:cNvSpPr txBox="1">
            <a:spLocks/>
          </p:cNvSpPr>
          <p:nvPr userDrawn="1"/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1" i="0" u="none" strike="noStrike" cap="non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860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21CFE-E1F2-4271-AA72-92D0C5A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19/05/2026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993C0-C693-4A93-A42C-ACD20331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F1F55-7ECE-4795-9B85-854695F0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298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B6FD-AD35-47BA-8EAF-72C6D53B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F19E-7D98-4B7D-A669-609A9360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>
                <a:latin typeface="Candara" panose="020E0502030303020204" pitchFamily="34" charset="0"/>
              </a:defRPr>
            </a:lvl1pPr>
            <a:lvl2pPr>
              <a:defRPr sz="2800">
                <a:latin typeface="Candara" panose="020E0502030303020204" pitchFamily="34" charset="0"/>
              </a:defRPr>
            </a:lvl2pPr>
            <a:lvl3pPr>
              <a:defRPr sz="2400">
                <a:latin typeface="Candara" panose="020E0502030303020204" pitchFamily="34" charset="0"/>
              </a:defRPr>
            </a:lvl3pPr>
            <a:lvl4pPr>
              <a:defRPr sz="2000">
                <a:latin typeface="Candara" panose="020E0502030303020204" pitchFamily="34" charset="0"/>
              </a:defRPr>
            </a:lvl4pPr>
            <a:lvl5pPr>
              <a:defRPr sz="2000">
                <a:latin typeface="Candara" panose="020E0502030303020204" pitchFamily="34" charset="0"/>
              </a:defRPr>
            </a:lvl5pPr>
            <a:lvl6pPr>
              <a:defRPr sz="2000">
                <a:latin typeface="Candara" panose="020E0502030303020204" pitchFamily="34" charset="0"/>
              </a:defRPr>
            </a:lvl6pPr>
            <a:lvl7pPr>
              <a:defRPr sz="2000">
                <a:latin typeface="Candara" panose="020E0502030303020204" pitchFamily="34" charset="0"/>
              </a:defRPr>
            </a:lvl7pPr>
            <a:lvl8pPr>
              <a:defRPr sz="2000">
                <a:latin typeface="Candara" panose="020E0502030303020204" pitchFamily="34" charset="0"/>
              </a:defRPr>
            </a:lvl8pPr>
            <a:lvl9pPr>
              <a:defRPr sz="2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36F53-652C-4783-A862-CA6FD5D32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Google Shape;22;p4">
            <a:extLst>
              <a:ext uri="{FF2B5EF4-FFF2-40B4-BE49-F238E27FC236}">
                <a16:creationId xmlns:a16="http://schemas.microsoft.com/office/drawing/2014/main" id="{840FC9B0-34AC-44B6-B60A-5B3D6896742D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607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7E1F-A787-4EED-828D-4035F939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72F7F-2114-4CC7-AC93-A362DEA3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>
                <a:latin typeface="Candara" panose="020E0502030303020204" pitchFamily="34" charset="0"/>
              </a:defRPr>
            </a:lvl1pPr>
            <a:lvl2pPr marL="457200" indent="0">
              <a:buNone/>
              <a:defRPr sz="2800">
                <a:latin typeface="Candara" panose="020E0502030303020204" pitchFamily="34" charset="0"/>
              </a:defRPr>
            </a:lvl2pPr>
            <a:lvl3pPr marL="914400" indent="0">
              <a:buNone/>
              <a:defRPr sz="2400">
                <a:latin typeface="Candara" panose="020E0502030303020204" pitchFamily="34" charset="0"/>
              </a:defRPr>
            </a:lvl3pPr>
            <a:lvl4pPr marL="1371600" indent="0">
              <a:buNone/>
              <a:defRPr sz="2000">
                <a:latin typeface="Candara" panose="020E0502030303020204" pitchFamily="34" charset="0"/>
              </a:defRPr>
            </a:lvl4pPr>
            <a:lvl5pPr marL="1828800" indent="0">
              <a:buNone/>
              <a:defRPr sz="2000">
                <a:latin typeface="Candara" panose="020E0502030303020204" pitchFamily="34" charset="0"/>
              </a:defRPr>
            </a:lvl5pPr>
            <a:lvl6pPr marL="2286000" indent="0">
              <a:buNone/>
              <a:defRPr sz="2000">
                <a:latin typeface="Candara" panose="020E0502030303020204" pitchFamily="34" charset="0"/>
              </a:defRPr>
            </a:lvl6pPr>
            <a:lvl7pPr marL="2743200" indent="0">
              <a:buNone/>
              <a:defRPr sz="2000">
                <a:latin typeface="Candara" panose="020E0502030303020204" pitchFamily="34" charset="0"/>
              </a:defRPr>
            </a:lvl7pPr>
            <a:lvl8pPr marL="3200400" indent="0">
              <a:buNone/>
              <a:defRPr sz="2000">
                <a:latin typeface="Candara" panose="020E0502030303020204" pitchFamily="34" charset="0"/>
              </a:defRPr>
            </a:lvl8pPr>
            <a:lvl9pPr marL="3657600" indent="0">
              <a:buNone/>
              <a:defRPr sz="2000">
                <a:latin typeface="Candara" panose="020E0502030303020204" pitchFamily="34" charset="0"/>
              </a:defRPr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14C0E-7FDD-4E16-BFBE-4111B4F11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Google Shape;22;p4">
            <a:extLst>
              <a:ext uri="{FF2B5EF4-FFF2-40B4-BE49-F238E27FC236}">
                <a16:creationId xmlns:a16="http://schemas.microsoft.com/office/drawing/2014/main" id="{34EF2FD5-7C73-4D08-936F-066638345039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685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58E4-CAFC-4E79-9819-54BF503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DE120-76DE-4FEF-B8D2-2980F6693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17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FCA57-3EEF-4F3D-977F-471E0FFCE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B0C3D-46FF-49AD-8A0F-A9F6B3F4E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Google Shape;22;p4">
            <a:extLst>
              <a:ext uri="{FF2B5EF4-FFF2-40B4-BE49-F238E27FC236}">
                <a16:creationId xmlns:a16="http://schemas.microsoft.com/office/drawing/2014/main" id="{DE32124B-63CE-40D0-9B00-D3BCD1CF35EF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628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31100" y="619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7175" y="132685"/>
            <a:ext cx="8954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4284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13400"/>
            <a:ext cx="8236800" cy="44712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25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Google Shape;22;p4">
            <a:extLst>
              <a:ext uri="{FF2B5EF4-FFF2-40B4-BE49-F238E27FC236}">
                <a16:creationId xmlns:a16="http://schemas.microsoft.com/office/drawing/2014/main" id="{66BA7C4F-BE51-47E9-B1EB-997EA1652636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716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pPr>
              <a:defRPr>
                <a:latin typeface="Candara" panose="020E0502030303020204" pitchFamily="34" charset="0"/>
              </a:defRPr>
            </a:pPr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gray">
          <a:xfrm>
            <a:off x="727688" y="573528"/>
            <a:ext cx="8236800" cy="4050000"/>
          </a:xfrm>
        </p:spPr>
        <p:txBody>
          <a:bodyPr/>
          <a:lstStyle>
            <a:lvl1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rgbClr val="254061"/>
                </a:solidFill>
              </a:defRPr>
            </a:lvl3pPr>
            <a:lvl4pPr>
              <a:spcBef>
                <a:spcPts val="0"/>
              </a:spcBef>
              <a:spcAft>
                <a:spcPts val="225"/>
              </a:spcAft>
              <a:buSzPct val="80000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4pPr>
            <a:lvl5pPr>
              <a:spcAft>
                <a:spcPts val="225"/>
              </a:spcAft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5pPr>
          </a:lstStyle>
          <a:p>
            <a:pPr lvl="0">
              <a:defRPr>
                <a:latin typeface="Candara" panose="020E0502030303020204" pitchFamily="34" charset="0"/>
              </a:defRPr>
            </a:pPr>
            <a:r>
              <a:rPr lang="en-US" dirty="0"/>
              <a:t>Click to edit Master text styles</a:t>
            </a:r>
            <a:endParaRPr dirty="0"/>
          </a:p>
          <a:p>
            <a:pPr lvl="1">
              <a:defRPr>
                <a:latin typeface="Candara" panose="020E0502030303020204" pitchFamily="34" charset="0"/>
              </a:defRPr>
            </a:pPr>
            <a:r>
              <a:rPr lang="en-US" dirty="0"/>
              <a:t>Second level</a:t>
            </a:r>
            <a:endParaRPr dirty="0"/>
          </a:p>
          <a:p>
            <a:pPr lvl="2">
              <a:defRPr>
                <a:latin typeface="Candara" panose="020E0502030303020204" pitchFamily="34" charset="0"/>
              </a:defRPr>
            </a:pPr>
            <a:r>
              <a:rPr lang="en-US" dirty="0"/>
              <a:t>Third level</a:t>
            </a:r>
            <a:endParaRPr dirty="0"/>
          </a:p>
          <a:p>
            <a:pPr lvl="3">
              <a:defRPr>
                <a:latin typeface="Candara" panose="020E0502030303020204" pitchFamily="34" charset="0"/>
              </a:defRPr>
            </a:pPr>
            <a:r>
              <a:rPr lang="en-US" dirty="0"/>
              <a:t>Fourth level</a:t>
            </a:r>
            <a:endParaRPr dirty="0"/>
          </a:p>
          <a:p>
            <a:pPr lvl="4">
              <a:defRPr>
                <a:latin typeface="Candara" panose="020E0502030303020204" pitchFamily="34" charset="0"/>
              </a:defRPr>
            </a:pPr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Google Shape;22;p4">
            <a:extLst>
              <a:ext uri="{FF2B5EF4-FFF2-40B4-BE49-F238E27FC236}">
                <a16:creationId xmlns:a16="http://schemas.microsoft.com/office/drawing/2014/main" id="{2A20BCDA-4FB0-40A7-9DEC-4125C0C1302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74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51ABA-7899-4933-8A5A-63C26C0E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0ADF5-441C-4872-9C72-E0A876FA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Google Shape;19;p4">
            <a:extLst>
              <a:ext uri="{FF2B5EF4-FFF2-40B4-BE49-F238E27FC236}">
                <a16:creationId xmlns:a16="http://schemas.microsoft.com/office/drawing/2014/main" id="{60FFDC63-01AD-43C4-AEB4-E4C02330F4E4}"/>
              </a:ext>
            </a:extLst>
          </p:cNvPr>
          <p:cNvSpPr txBox="1"/>
          <p:nvPr userDrawn="1"/>
        </p:nvSpPr>
        <p:spPr>
          <a:xfrm>
            <a:off x="0" y="4924425"/>
            <a:ext cx="9144000" cy="219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CE5CD"/>
                </a:solidFill>
              </a:rPr>
              <a:t>ESRF-ENRICH OASYS SCHOOL </a:t>
            </a:r>
            <a:r>
              <a:rPr lang="en-GB" sz="1000" b="1" dirty="0">
                <a:solidFill>
                  <a:srgbClr val="FCE5CD"/>
                </a:solidFill>
              </a:rPr>
              <a:t>Grenoble </a:t>
            </a:r>
            <a:r>
              <a:rPr lang="en" sz="1000" b="1" dirty="0">
                <a:solidFill>
                  <a:srgbClr val="FCE5CD"/>
                </a:solidFill>
              </a:rPr>
              <a:t>2026	M</a:t>
            </a:r>
            <a:r>
              <a:rPr lang="en-GB" sz="1000" b="1" dirty="0">
                <a:solidFill>
                  <a:srgbClr val="FCE5CD"/>
                </a:solidFill>
              </a:rPr>
              <a:t>. Sanchez del Rio</a:t>
            </a:r>
            <a:r>
              <a:rPr lang="en" sz="1000" b="1" dirty="0">
                <a:solidFill>
                  <a:srgbClr val="FCE5CD"/>
                </a:solidFill>
              </a:rPr>
              <a:t>  </a:t>
            </a:r>
            <a:r>
              <a:rPr lang="en-GB" sz="1000" b="1" dirty="0">
                <a:solidFill>
                  <a:srgbClr val="FCE5CD"/>
                </a:solidFill>
              </a:rPr>
              <a:t>  Programming</a:t>
            </a:r>
            <a:r>
              <a:rPr lang="en" sz="1000" b="1" dirty="0">
                <a:solidFill>
                  <a:srgbClr val="FCE5CD"/>
                </a:solidFill>
              </a:rPr>
              <a:t>	</a:t>
            </a:r>
            <a:endParaRPr sz="1000" b="1" dirty="0">
              <a:solidFill>
                <a:srgbClr val="FCE5CD"/>
              </a:solidFill>
            </a:endParaRPr>
          </a:p>
        </p:txBody>
      </p:sp>
      <p:sp>
        <p:nvSpPr>
          <p:cNvPr id="10" name="Google Shape;22;p4">
            <a:extLst>
              <a:ext uri="{FF2B5EF4-FFF2-40B4-BE49-F238E27FC236}">
                <a16:creationId xmlns:a16="http://schemas.microsoft.com/office/drawing/2014/main" id="{BBE738CF-E221-4074-A7EC-2E93D9A8D815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553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8" r:id="rId12"/>
    <p:sldLayoutId id="2147483664" r:id="rId13"/>
    <p:sldLayoutId id="214748367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5406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oasys-kit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hadow4.readthedocs.io/" TargetMode="External"/><Relationship Id="rId2" Type="http://schemas.openxmlformats.org/officeDocument/2006/relationships/hyperlink" Target="https://github.com/oasys-kit/shadow4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oasys-kit/shadow4/issu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asys-kit/shadow4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A1271D0-9E0F-4467-A265-ABAFC1F1A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</a:t>
            </a:fld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56032" y="1277276"/>
            <a:ext cx="8646566" cy="1515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22960">
              <a:buClrTx/>
            </a:pPr>
            <a:r>
              <a:rPr lang="en-US" sz="3200" b="1" kern="1200" dirty="0">
                <a:solidFill>
                  <a:srgbClr val="254061"/>
                </a:solidFill>
                <a:latin typeface="Candara" panose="020E0502030303020204" pitchFamily="34" charset="0"/>
                <a:ea typeface="+mj-ea"/>
                <a:cs typeface="+mj-cs"/>
              </a:rPr>
              <a:t>Scripting, programming, </a:t>
            </a:r>
            <a:r>
              <a:rPr lang="en-US" sz="3200" b="1" kern="1200" dirty="0" err="1">
                <a:solidFill>
                  <a:srgbClr val="254061"/>
                </a:solidFill>
                <a:latin typeface="Candara" panose="020E0502030303020204" pitchFamily="34" charset="0"/>
                <a:ea typeface="+mj-ea"/>
                <a:cs typeface="+mj-cs"/>
              </a:rPr>
              <a:t>Oasys</a:t>
            </a:r>
            <a:r>
              <a:rPr lang="en-US" sz="3200" b="1" kern="1200" dirty="0">
                <a:solidFill>
                  <a:srgbClr val="254061"/>
                </a:solidFill>
                <a:latin typeface="Candara" panose="020E0502030303020204" pitchFamily="34" charset="0"/>
                <a:ea typeface="+mj-ea"/>
                <a:cs typeface="+mj-cs"/>
              </a:rPr>
              <a:t> add-on’s</a:t>
            </a:r>
            <a:endParaRPr lang="en-GB" sz="600" b="1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sz="16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Manuel Sanchez del Rio</a:t>
            </a:r>
          </a:p>
          <a:p>
            <a:pPr algn="ctr" defTabSz="822960">
              <a:buClrTx/>
            </a:pPr>
            <a:r>
              <a:rPr lang="en-GB" sz="105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srio@esrf.eu</a:t>
            </a:r>
            <a:endParaRPr lang="en-GB" sz="105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6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ESRF Grenoble, France</a:t>
            </a:r>
          </a:p>
          <a:p>
            <a:pPr algn="ctr" defTabSz="822960">
              <a:buClrTx/>
            </a:pPr>
            <a:endParaRPr lang="en-GB" b="1" kern="120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0264B-10C2-4C45-BCF0-61A069AA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423" y="269542"/>
            <a:ext cx="2023175" cy="9291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32A31E-AA25-4C2E-A52C-6BA91AB38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7" y="3147952"/>
            <a:ext cx="1522664" cy="10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99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0D9D-F055-9908-73B5-04D92A00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3A35-7460-2F76-8F72-4BBE509B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74638"/>
            <a:ext cx="8123464" cy="993775"/>
          </a:xfrm>
        </p:spPr>
        <p:txBody>
          <a:bodyPr>
            <a:noAutofit/>
          </a:bodyPr>
          <a:lstStyle/>
          <a:p>
            <a:pPr algn="ctr" defTabSz="822960">
              <a:buClrTx/>
            </a:pPr>
            <a:r>
              <a:rPr lang="en-US" sz="3600" kern="1200" dirty="0">
                <a:ea typeface="+mn-ea"/>
                <a:cs typeface="+mn-cs"/>
              </a:rPr>
              <a:t>Scripting, programming, OASYS add-on’s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455BB-6493-697F-CBCC-F2833DF7D32B}"/>
              </a:ext>
            </a:extLst>
          </p:cNvPr>
          <p:cNvSpPr txBox="1"/>
          <p:nvPr/>
        </p:nvSpPr>
        <p:spPr>
          <a:xfrm>
            <a:off x="252484" y="1581310"/>
            <a:ext cx="863903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buClrTx/>
            </a:pP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Outline:</a:t>
            </a:r>
          </a:p>
          <a:p>
            <a:pPr defTabSz="822960">
              <a:buClrTx/>
            </a:pPr>
            <a:endParaRPr lang="en-GB" sz="6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Scripting in OASYS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Programming new sources or elements in shadow4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Creating your own OASYS widgets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Collaborating efforts</a:t>
            </a:r>
          </a:p>
          <a:p>
            <a:pPr marL="257175" lvl="3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88925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999F-45E6-4894-9E12-06AC2C4D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742" y="59647"/>
            <a:ext cx="7315202" cy="195363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hlinkClick r:id="rId2"/>
              </a:rPr>
              <a:t>https://github.com/oasys-kit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The GitHub organization </a:t>
            </a:r>
            <a:r>
              <a:rPr lang="en-US" sz="2000" dirty="0" err="1">
                <a:hlinkClick r:id="rId2"/>
              </a:rPr>
              <a:t>oasys</a:t>
            </a:r>
            <a:r>
              <a:rPr lang="en-US" sz="2000" dirty="0">
                <a:hlinkClick r:id="rId2"/>
              </a:rPr>
              <a:t>-kit</a:t>
            </a:r>
            <a:r>
              <a:rPr lang="en-US" sz="2000" dirty="0"/>
              <a:t> is the Pandora's box of OASYS — open it, and you'll find the entire open source universe of synchrotron optics simulation waiting inside.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41A33-FB74-4861-9F49-C8709FDDA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713" y="2163511"/>
            <a:ext cx="5345376" cy="235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7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15F5-F50A-44C5-9292-12E3EF45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Orange3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ED6078-03AC-490A-A2C3-FF229065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1" y="1268413"/>
            <a:ext cx="5602513" cy="280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8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15F5-F50A-44C5-9292-12E3EF45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017" y="-227629"/>
            <a:ext cx="7886700" cy="993775"/>
          </a:xfrm>
        </p:spPr>
        <p:txBody>
          <a:bodyPr/>
          <a:lstStyle/>
          <a:p>
            <a:r>
              <a:rPr lang="en-US" dirty="0"/>
              <a:t>Orange3-&gt; Oasys2 -&gt; Add-on’s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9FE692-C988-4D36-85CA-E6EA20619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28" y="2226485"/>
            <a:ext cx="1269998" cy="84666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EFF81AD-3ACA-44CD-9C4C-638CD5E66E9B}"/>
              </a:ext>
            </a:extLst>
          </p:cNvPr>
          <p:cNvGrpSpPr/>
          <p:nvPr/>
        </p:nvGrpSpPr>
        <p:grpSpPr>
          <a:xfrm>
            <a:off x="2779320" y="2166580"/>
            <a:ext cx="712879" cy="332399"/>
            <a:chOff x="647564" y="1346765"/>
            <a:chExt cx="792088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5D3661-C58A-4EDF-8B5E-9239B58E3F7F}"/>
                </a:ext>
              </a:extLst>
            </p:cNvPr>
            <p:cNvSpPr txBox="1"/>
            <p:nvPr/>
          </p:nvSpPr>
          <p:spPr>
            <a:xfrm>
              <a:off x="683568" y="1346765"/>
              <a:ext cx="720080" cy="318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SRW</a:t>
              </a:r>
            </a:p>
          </p:txBody>
        </p:sp>
        <p:sp>
          <p:nvSpPr>
            <p:cNvPr id="7" name="Rounded Rectangle 9">
              <a:extLst>
                <a:ext uri="{FF2B5EF4-FFF2-40B4-BE49-F238E27FC236}">
                  <a16:creationId xmlns:a16="http://schemas.microsoft.com/office/drawing/2014/main" id="{89838527-D80F-4F72-A8E3-7D75C7B86F70}"/>
                </a:ext>
              </a:extLst>
            </p:cNvPr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BEC0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37D6CAC-E4C6-4EB6-A445-5175143C47DC}"/>
              </a:ext>
            </a:extLst>
          </p:cNvPr>
          <p:cNvGrpSpPr/>
          <p:nvPr/>
        </p:nvGrpSpPr>
        <p:grpSpPr>
          <a:xfrm>
            <a:off x="2636716" y="3502477"/>
            <a:ext cx="1036915" cy="340770"/>
            <a:chOff x="647564" y="1346765"/>
            <a:chExt cx="792088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B392F6-141F-4EB8-8599-D8FAAC166D57}"/>
                </a:ext>
              </a:extLst>
            </p:cNvPr>
            <p:cNvSpPr txBox="1"/>
            <p:nvPr/>
          </p:nvSpPr>
          <p:spPr>
            <a:xfrm>
              <a:off x="683568" y="1346765"/>
              <a:ext cx="720080" cy="3102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XOPPY</a:t>
              </a:r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E1254326-720D-4ABF-8790-816E510E2FCF}"/>
                </a:ext>
              </a:extLst>
            </p:cNvPr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FDD4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0E7A0D-B529-43C7-8526-BCFD0E629475}"/>
              </a:ext>
            </a:extLst>
          </p:cNvPr>
          <p:cNvGrpSpPr/>
          <p:nvPr/>
        </p:nvGrpSpPr>
        <p:grpSpPr>
          <a:xfrm>
            <a:off x="2636595" y="3948155"/>
            <a:ext cx="1037036" cy="341435"/>
            <a:chOff x="357411" y="3250266"/>
            <a:chExt cx="1152262" cy="37937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965CF6-278A-4169-85F7-A9FBA2A60AB1}"/>
                </a:ext>
              </a:extLst>
            </p:cNvPr>
            <p:cNvSpPr txBox="1"/>
            <p:nvPr/>
          </p:nvSpPr>
          <p:spPr>
            <a:xfrm>
              <a:off x="397002" y="3250266"/>
              <a:ext cx="1112671" cy="318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SYNED</a:t>
              </a:r>
            </a:p>
          </p:txBody>
        </p:sp>
        <p:sp>
          <p:nvSpPr>
            <p:cNvPr id="13" name="Rounded Rectangle 19">
              <a:extLst>
                <a:ext uri="{FF2B5EF4-FFF2-40B4-BE49-F238E27FC236}">
                  <a16:creationId xmlns:a16="http://schemas.microsoft.com/office/drawing/2014/main" id="{AAB95087-B05C-432A-A92D-1F2C4C7382C2}"/>
                </a:ext>
              </a:extLst>
            </p:cNvPr>
            <p:cNvSpPr/>
            <p:nvPr/>
          </p:nvSpPr>
          <p:spPr>
            <a:xfrm>
              <a:off x="357411" y="3263755"/>
              <a:ext cx="1109256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DFC7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A4E5FA-73D6-4FC6-8A5D-066E982A1D40}"/>
              </a:ext>
            </a:extLst>
          </p:cNvPr>
          <p:cNvGrpSpPr/>
          <p:nvPr/>
        </p:nvGrpSpPr>
        <p:grpSpPr>
          <a:xfrm>
            <a:off x="2549834" y="2604940"/>
            <a:ext cx="1228955" cy="341435"/>
            <a:chOff x="357411" y="3250266"/>
            <a:chExt cx="1152262" cy="37937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9A78FB-E9BA-40C2-890F-883FB069C313}"/>
                </a:ext>
              </a:extLst>
            </p:cNvPr>
            <p:cNvSpPr txBox="1"/>
            <p:nvPr/>
          </p:nvSpPr>
          <p:spPr>
            <a:xfrm>
              <a:off x="397002" y="3250266"/>
              <a:ext cx="1112671" cy="318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WOFRY</a:t>
              </a:r>
            </a:p>
          </p:txBody>
        </p:sp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DF0C7965-2473-4620-8017-566F9F442E16}"/>
                </a:ext>
              </a:extLst>
            </p:cNvPr>
            <p:cNvSpPr/>
            <p:nvPr/>
          </p:nvSpPr>
          <p:spPr>
            <a:xfrm>
              <a:off x="357411" y="3263755"/>
              <a:ext cx="1109256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E4E4E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E7BB5F-303D-4768-8B1D-5EB738DED735}"/>
              </a:ext>
            </a:extLst>
          </p:cNvPr>
          <p:cNvGrpSpPr/>
          <p:nvPr/>
        </p:nvGrpSpPr>
        <p:grpSpPr>
          <a:xfrm>
            <a:off x="2515489" y="3073150"/>
            <a:ext cx="1227338" cy="320704"/>
            <a:chOff x="618659" y="1346765"/>
            <a:chExt cx="84261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429E86-29EA-4901-9601-8D9AA0C2DC1A}"/>
                </a:ext>
              </a:extLst>
            </p:cNvPr>
            <p:cNvSpPr txBox="1"/>
            <p:nvPr/>
          </p:nvSpPr>
          <p:spPr>
            <a:xfrm>
              <a:off x="618659" y="1346765"/>
              <a:ext cx="842610" cy="329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SHADOW4</a:t>
              </a:r>
            </a:p>
          </p:txBody>
        </p:sp>
        <p:sp>
          <p:nvSpPr>
            <p:cNvPr id="19" name="Rounded Rectangle 40">
              <a:extLst>
                <a:ext uri="{FF2B5EF4-FFF2-40B4-BE49-F238E27FC236}">
                  <a16:creationId xmlns:a16="http://schemas.microsoft.com/office/drawing/2014/main" id="{2AC2459A-DECB-4E59-B309-D98F2973A2EF}"/>
                </a:ext>
              </a:extLst>
            </p:cNvPr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278716-9E51-4280-B6CC-CBECDBD8CABC}"/>
              </a:ext>
            </a:extLst>
          </p:cNvPr>
          <p:cNvSpPr txBox="1"/>
          <p:nvPr/>
        </p:nvSpPr>
        <p:spPr>
          <a:xfrm>
            <a:off x="3850519" y="2972765"/>
            <a:ext cx="4971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OASYS2-SHADOW4                    +  shadow4</a:t>
            </a:r>
          </a:p>
          <a:p>
            <a:r>
              <a:rPr lang="en-US" dirty="0"/>
              <a:t>OASYS2-SHADOW4-Advanced   +  shadow4-advanced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2C799C-8F85-443D-9C5B-0203D3B5FDF0}"/>
              </a:ext>
            </a:extLst>
          </p:cNvPr>
          <p:cNvSpPr txBox="1"/>
          <p:nvPr/>
        </p:nvSpPr>
        <p:spPr>
          <a:xfrm>
            <a:off x="3850519" y="3966302"/>
            <a:ext cx="4971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OASYS2-SYNED                          +  </a:t>
            </a:r>
            <a:r>
              <a:rPr lang="en-US" dirty="0" err="1"/>
              <a:t>syned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597F83-2316-47BA-BAF4-937B8CA3E07F}"/>
              </a:ext>
            </a:extLst>
          </p:cNvPr>
          <p:cNvSpPr txBox="1"/>
          <p:nvPr/>
        </p:nvSpPr>
        <p:spPr>
          <a:xfrm>
            <a:off x="3850519" y="3577255"/>
            <a:ext cx="4950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OASYS2-XOPPY                          +  </a:t>
            </a:r>
            <a:r>
              <a:rPr lang="en-US" dirty="0" err="1"/>
              <a:t>xoppylib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9AED69-A1C1-48ED-AD9E-067C7EF2C0D8}"/>
              </a:ext>
            </a:extLst>
          </p:cNvPr>
          <p:cNvSpPr txBox="1"/>
          <p:nvPr/>
        </p:nvSpPr>
        <p:spPr>
          <a:xfrm>
            <a:off x="3851790" y="2200152"/>
            <a:ext cx="5043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OASYS2-SRW                              +  </a:t>
            </a:r>
            <a:r>
              <a:rPr lang="en-US" dirty="0" err="1"/>
              <a:t>wofrysrw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E4197B-E7C9-4347-8C8E-5B0B8B1D6053}"/>
              </a:ext>
            </a:extLst>
          </p:cNvPr>
          <p:cNvSpPr txBox="1"/>
          <p:nvPr/>
        </p:nvSpPr>
        <p:spPr>
          <a:xfrm>
            <a:off x="3851791" y="2674072"/>
            <a:ext cx="5056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OASYS2-WOFRY                         +  </a:t>
            </a:r>
            <a:r>
              <a:rPr lang="en-US" dirty="0" err="1"/>
              <a:t>wofryimpl</a:t>
            </a:r>
            <a:r>
              <a:rPr lang="en-US" dirty="0"/>
              <a:t> + </a:t>
            </a:r>
            <a:r>
              <a:rPr lang="en-US" dirty="0" err="1"/>
              <a:t>wofry</a:t>
            </a:r>
            <a:endParaRPr lang="en-US" dirty="0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7E81CFD9-2A82-47CD-A2DD-98C406D1ADA1}"/>
              </a:ext>
            </a:extLst>
          </p:cNvPr>
          <p:cNvSpPr/>
          <p:nvPr/>
        </p:nvSpPr>
        <p:spPr>
          <a:xfrm>
            <a:off x="2057541" y="703942"/>
            <a:ext cx="465865" cy="36917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491940-9F1B-4518-999B-4FD853A2888D}"/>
              </a:ext>
            </a:extLst>
          </p:cNvPr>
          <p:cNvGrpSpPr/>
          <p:nvPr/>
        </p:nvGrpSpPr>
        <p:grpSpPr>
          <a:xfrm>
            <a:off x="2394178" y="1421961"/>
            <a:ext cx="1418407" cy="340770"/>
            <a:chOff x="647564" y="1346765"/>
            <a:chExt cx="792088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C28082-78C2-406E-A069-E182D56073F0}"/>
                </a:ext>
              </a:extLst>
            </p:cNvPr>
            <p:cNvSpPr txBox="1"/>
            <p:nvPr/>
          </p:nvSpPr>
          <p:spPr>
            <a:xfrm>
              <a:off x="683568" y="1346765"/>
              <a:ext cx="720080" cy="3102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60" dirty="0"/>
                <a:t>ESRF add-on</a:t>
              </a:r>
            </a:p>
          </p:txBody>
        </p:sp>
        <p:sp>
          <p:nvSpPr>
            <p:cNvPr id="28" name="Rounded Rectangle 12">
              <a:extLst>
                <a:ext uri="{FF2B5EF4-FFF2-40B4-BE49-F238E27FC236}">
                  <a16:creationId xmlns:a16="http://schemas.microsoft.com/office/drawing/2014/main" id="{2BC893A7-08C2-47AE-9235-7E5D2032B30F}"/>
                </a:ext>
              </a:extLst>
            </p:cNvPr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648B864-A70A-4E73-933A-0302B87CD728}"/>
              </a:ext>
            </a:extLst>
          </p:cNvPr>
          <p:cNvSpPr txBox="1"/>
          <p:nvPr/>
        </p:nvSpPr>
        <p:spPr>
          <a:xfrm>
            <a:off x="3889817" y="1524797"/>
            <a:ext cx="5005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OASYS2-ESRF-Extensions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BB1F28-3172-496A-BFDA-26A87B70CEBC}"/>
              </a:ext>
            </a:extLst>
          </p:cNvPr>
          <p:cNvSpPr txBox="1"/>
          <p:nvPr/>
        </p:nvSpPr>
        <p:spPr>
          <a:xfrm>
            <a:off x="-21437" y="1905031"/>
            <a:ext cx="245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https://github.com/oasys-kit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2B1F8-D59D-472A-843A-0F58213DAAC2}"/>
              </a:ext>
            </a:extLst>
          </p:cNvPr>
          <p:cNvSpPr/>
          <p:nvPr/>
        </p:nvSpPr>
        <p:spPr>
          <a:xfrm>
            <a:off x="3896933" y="517203"/>
            <a:ext cx="2661883" cy="3691795"/>
          </a:xfrm>
          <a:prstGeom prst="rect">
            <a:avLst/>
          </a:prstGeom>
          <a:solidFill>
            <a:srgbClr val="FFC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60C649-230E-44DD-89E0-0E0C1634EC0D}"/>
              </a:ext>
            </a:extLst>
          </p:cNvPr>
          <p:cNvSpPr/>
          <p:nvPr/>
        </p:nvSpPr>
        <p:spPr>
          <a:xfrm>
            <a:off x="6770389" y="517204"/>
            <a:ext cx="1797016" cy="3737826"/>
          </a:xfrm>
          <a:prstGeom prst="rect">
            <a:avLst/>
          </a:prstGeom>
          <a:solidFill>
            <a:srgbClr val="92D05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4077D9-6EAE-4DAF-BCD7-7818A43F4723}"/>
              </a:ext>
            </a:extLst>
          </p:cNvPr>
          <p:cNvSpPr/>
          <p:nvPr/>
        </p:nvSpPr>
        <p:spPr>
          <a:xfrm>
            <a:off x="2379455" y="1883745"/>
            <a:ext cx="6261503" cy="252151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2ACCF7-55DA-475A-8426-E453CB0687FB}"/>
              </a:ext>
            </a:extLst>
          </p:cNvPr>
          <p:cNvSpPr/>
          <p:nvPr/>
        </p:nvSpPr>
        <p:spPr>
          <a:xfrm>
            <a:off x="2379454" y="813768"/>
            <a:ext cx="6261503" cy="99918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A1A06-EDB7-4A66-9E2F-F2DB0DBE3695}"/>
              </a:ext>
            </a:extLst>
          </p:cNvPr>
          <p:cNvGrpSpPr/>
          <p:nvPr/>
        </p:nvGrpSpPr>
        <p:grpSpPr>
          <a:xfrm>
            <a:off x="2433383" y="930753"/>
            <a:ext cx="1418407" cy="340770"/>
            <a:chOff x="647564" y="1346765"/>
            <a:chExt cx="792088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E6781E-8A03-441B-8CF7-1FEE0AF9C429}"/>
                </a:ext>
              </a:extLst>
            </p:cNvPr>
            <p:cNvSpPr txBox="1"/>
            <p:nvPr/>
          </p:nvSpPr>
          <p:spPr>
            <a:xfrm>
              <a:off x="683568" y="1346765"/>
              <a:ext cx="720080" cy="2668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Your stuff in addon</a:t>
              </a:r>
              <a:endParaRPr lang="en-US" sz="1260" dirty="0"/>
            </a:p>
          </p:txBody>
        </p:sp>
        <p:sp>
          <p:nvSpPr>
            <p:cNvPr id="37" name="Rounded Rectangle 12">
              <a:extLst>
                <a:ext uri="{FF2B5EF4-FFF2-40B4-BE49-F238E27FC236}">
                  <a16:creationId xmlns:a16="http://schemas.microsoft.com/office/drawing/2014/main" id="{FA9EC0AC-E6A8-4D28-9EBD-6022BCD5CB2F}"/>
                </a:ext>
              </a:extLst>
            </p:cNvPr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6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ED6078-03AC-490A-A2C3-FF229065E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492" y="4241130"/>
            <a:ext cx="1309735" cy="65607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86EFD76-48CB-4362-9F0D-D1F79C9888FF}"/>
              </a:ext>
            </a:extLst>
          </p:cNvPr>
          <p:cNvSpPr txBox="1"/>
          <p:nvPr/>
        </p:nvSpPr>
        <p:spPr>
          <a:xfrm>
            <a:off x="3850519" y="494975"/>
            <a:ext cx="5056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Interface: </a:t>
            </a:r>
            <a:r>
              <a:rPr lang="en-US" dirty="0" err="1">
                <a:latin typeface="Candara" panose="020E0502030303020204" pitchFamily="34" charset="0"/>
              </a:rPr>
              <a:t>Oasys</a:t>
            </a:r>
            <a:r>
              <a:rPr lang="en-US" dirty="0">
                <a:latin typeface="Candara" panose="020E0502030303020204" pitchFamily="34" charset="0"/>
              </a:rPr>
              <a:t>-Orange widgets            Libraries  </a:t>
            </a:r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80383B-6832-406F-9C48-E3FD03DB985A}"/>
              </a:ext>
            </a:extLst>
          </p:cNvPr>
          <p:cNvSpPr txBox="1"/>
          <p:nvPr/>
        </p:nvSpPr>
        <p:spPr>
          <a:xfrm rot="5400000">
            <a:off x="7203237" y="2283827"/>
            <a:ext cx="3112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ndara" panose="020E0502030303020204" pitchFamily="34" charset="0"/>
              </a:rPr>
              <a:t>Non-official                       official</a:t>
            </a:r>
            <a:endParaRPr lang="en-GB" dirty="0">
              <a:solidFill>
                <a:srgbClr val="00206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17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ECFE8-71E9-4D7F-883C-157CC95C0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9" y="993775"/>
            <a:ext cx="4317980" cy="1680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644D9-7695-4E46-B799-795F8A0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3775"/>
          </a:xfrm>
        </p:spPr>
        <p:txBody>
          <a:bodyPr/>
          <a:lstStyle/>
          <a:p>
            <a:r>
              <a:rPr lang="en-US" dirty="0"/>
              <a:t>Automatic scripts (use base libs)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52DFA-DDC8-4853-B40E-7575EAFDE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39" y="3161839"/>
            <a:ext cx="2266698" cy="1497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D73A4C-AAD3-4B18-BBC9-23697C8FB4FD}"/>
              </a:ext>
            </a:extLst>
          </p:cNvPr>
          <p:cNvSpPr txBox="1"/>
          <p:nvPr/>
        </p:nvSpPr>
        <p:spPr>
          <a:xfrm>
            <a:off x="308439" y="775741"/>
            <a:ext cx="2581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SHADOW4, XOPPY, WOFRY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E0815-14B7-4096-A91C-A7D02D23437D}"/>
              </a:ext>
            </a:extLst>
          </p:cNvPr>
          <p:cNvSpPr txBox="1"/>
          <p:nvPr/>
        </p:nvSpPr>
        <p:spPr>
          <a:xfrm>
            <a:off x="308439" y="285406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SRW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AF256D-E18A-445E-B715-6A3B7CA9049E}"/>
              </a:ext>
            </a:extLst>
          </p:cNvPr>
          <p:cNvCxnSpPr/>
          <p:nvPr/>
        </p:nvCxnSpPr>
        <p:spPr>
          <a:xfrm>
            <a:off x="3679371" y="3007950"/>
            <a:ext cx="1705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530102-1447-47B1-8B1B-DD37B0958D88}"/>
              </a:ext>
            </a:extLst>
          </p:cNvPr>
          <p:cNvSpPr txBox="1"/>
          <p:nvPr/>
        </p:nvSpPr>
        <p:spPr>
          <a:xfrm>
            <a:off x="2965261" y="3100488"/>
            <a:ext cx="31309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your </a:t>
            </a:r>
            <a:r>
              <a:rPr lang="en-US" dirty="0" err="1"/>
              <a:t>py</a:t>
            </a:r>
            <a:r>
              <a:rPr lang="en-US" dirty="0"/>
              <a:t> env (or use OASYS2)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shadow4 </a:t>
            </a:r>
            <a:r>
              <a:rPr lang="en-US" dirty="0"/>
              <a:t>(</a:t>
            </a:r>
            <a:r>
              <a:rPr lang="en-US" dirty="0" err="1"/>
              <a:t>etc</a:t>
            </a:r>
            <a:r>
              <a:rPr lang="en-US" dirty="0"/>
              <a:t>)…</a:t>
            </a:r>
          </a:p>
          <a:p>
            <a:r>
              <a:rPr lang="en-US" dirty="0"/>
              <a:t>Run locally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B40E4E-BE4F-4F9B-8BE9-E108964B0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461" y="1327150"/>
            <a:ext cx="3130982" cy="221953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E8CB1C6-D006-49EE-BADB-52C1BDA574AD}"/>
              </a:ext>
            </a:extLst>
          </p:cNvPr>
          <p:cNvSpPr/>
          <p:nvPr/>
        </p:nvSpPr>
        <p:spPr>
          <a:xfrm>
            <a:off x="2829137" y="1083518"/>
            <a:ext cx="584119" cy="48726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6E755C-E3A6-4717-B8AB-B51B2F9A4BB0}"/>
              </a:ext>
            </a:extLst>
          </p:cNvPr>
          <p:cNvSpPr/>
          <p:nvPr/>
        </p:nvSpPr>
        <p:spPr>
          <a:xfrm>
            <a:off x="978408" y="3839152"/>
            <a:ext cx="473022" cy="62114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52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44D9-7695-4E46-B799-795F8A0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3775"/>
          </a:xfrm>
        </p:spPr>
        <p:txBody>
          <a:bodyPr>
            <a:normAutofit/>
          </a:bodyPr>
          <a:lstStyle/>
          <a:p>
            <a:r>
              <a:rPr lang="en-US" sz="3200" dirty="0"/>
              <a:t>Scripts (programmer) doc</a:t>
            </a: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73A4C-AAD3-4B18-BBC9-23697C8FB4FD}"/>
              </a:ext>
            </a:extLst>
          </p:cNvPr>
          <p:cNvSpPr txBox="1"/>
          <p:nvPr/>
        </p:nvSpPr>
        <p:spPr>
          <a:xfrm>
            <a:off x="308439" y="775741"/>
            <a:ext cx="800411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Download and use the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https://github.com/oasys-kit/shadow4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https://shadow4.readthedocs.io/</a:t>
            </a:r>
            <a:r>
              <a:rPr lang="en-US" dirty="0"/>
              <a:t> (</a:t>
            </a:r>
            <a:r>
              <a:rPr lang="en-US" dirty="0" err="1"/>
              <a:t>srxraylib</a:t>
            </a:r>
            <a:r>
              <a:rPr lang="en-US" dirty="0"/>
              <a:t>, </a:t>
            </a:r>
            <a:r>
              <a:rPr lang="en-US" dirty="0" err="1"/>
              <a:t>syned</a:t>
            </a:r>
            <a:r>
              <a:rPr lang="en-US" dirty="0"/>
              <a:t>, </a:t>
            </a:r>
            <a:r>
              <a:rPr lang="en-US" dirty="0" err="1"/>
              <a:t>crystalpy</a:t>
            </a:r>
            <a:r>
              <a:rPr lang="en-US" dirty="0"/>
              <a:t>, </a:t>
            </a:r>
            <a:r>
              <a:rPr lang="en-US" dirty="0" err="1"/>
              <a:t>wofryimpl</a:t>
            </a:r>
            <a:r>
              <a:rPr lang="en-US" dirty="0"/>
              <a:t>, </a:t>
            </a:r>
            <a:r>
              <a:rPr lang="en-US" dirty="0" err="1"/>
              <a:t>wofry</a:t>
            </a:r>
            <a:r>
              <a:rPr lang="en-US" dirty="0"/>
              <a:t>, </a:t>
            </a:r>
            <a:r>
              <a:rPr lang="en-US" dirty="0" err="1"/>
              <a:t>dabax</a:t>
            </a:r>
            <a:r>
              <a:rPr lang="en-US" dirty="0"/>
              <a:t>, shadow4)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Automitize</a:t>
            </a:r>
            <a:r>
              <a:rPr lang="en-US" dirty="0"/>
              <a:t> calculations, perform optimization, adapt in/out, make nice plots,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examples by Juan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AD59B70-2DCE-4039-9E4C-14EC65FB2B81}"/>
              </a:ext>
            </a:extLst>
          </p:cNvPr>
          <p:cNvSpPr txBox="1">
            <a:spLocks/>
          </p:cNvSpPr>
          <p:nvPr/>
        </p:nvSpPr>
        <p:spPr>
          <a:xfrm>
            <a:off x="0" y="2693381"/>
            <a:ext cx="7886700" cy="496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5406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200" dirty="0"/>
              <a:t>Reporting problems/bugs</a:t>
            </a:r>
            <a:endParaRPr lang="en-GB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C2086-73D0-4538-9265-3AB3E12DADFA}"/>
              </a:ext>
            </a:extLst>
          </p:cNvPr>
          <p:cNvSpPr txBox="1"/>
          <p:nvPr/>
        </p:nvSpPr>
        <p:spPr>
          <a:xfrm>
            <a:off x="308439" y="3190269"/>
            <a:ext cx="40158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an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https://github.com/oasys-kit/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shadow4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/issues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us (email)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605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D73A4C-AAD3-4B18-BBC9-23697C8FB4FD}"/>
              </a:ext>
            </a:extLst>
          </p:cNvPr>
          <p:cNvSpPr txBox="1"/>
          <p:nvPr/>
        </p:nvSpPr>
        <p:spPr>
          <a:xfrm>
            <a:off x="141525" y="877341"/>
            <a:ext cx="56028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Create your own add-on:</a:t>
            </a:r>
            <a:br>
              <a:rPr lang="en-US" dirty="0"/>
            </a:br>
            <a:r>
              <a:rPr lang="en-US" dirty="0"/>
              <a:t>- personal add-on (new application, e.g. wiser)</a:t>
            </a:r>
            <a:br>
              <a:rPr lang="en-US" dirty="0"/>
            </a:br>
            <a:r>
              <a:rPr lang="en-US" dirty="0"/>
              <a:t>- facility “extension” add-on [call us for a get starting session]</a:t>
            </a:r>
          </a:p>
          <a:p>
            <a:pPr marL="342900" indent="-342900">
              <a:buFont typeface="Arial"/>
              <a:buAutoNum type="arabicParenR"/>
            </a:pPr>
            <a:r>
              <a:rPr lang="en-US" dirty="0"/>
              <a:t>Use existing widgets for starting (copy and modify)</a:t>
            </a:r>
          </a:p>
          <a:p>
            <a:pPr marL="342900" indent="-342900">
              <a:buFont typeface="Arial"/>
              <a:buAutoNum type="arabicParenR"/>
            </a:pPr>
            <a:r>
              <a:rPr lang="en-US" dirty="0"/>
              <a:t>User contributions promoted to general use:</a:t>
            </a:r>
            <a:br>
              <a:rPr lang="en-US" dirty="0"/>
            </a:br>
            <a:r>
              <a:rPr lang="en-US" dirty="0"/>
              <a:t>- provide widget + calculation code</a:t>
            </a:r>
            <a:br>
              <a:rPr lang="en-US" dirty="0"/>
            </a:br>
            <a:r>
              <a:rPr lang="en-US" dirty="0"/>
              <a:t>- suggest calculation code + widget by us</a:t>
            </a:r>
          </a:p>
          <a:p>
            <a:pPr marL="342900" indent="-342900">
              <a:buFont typeface="Arial"/>
              <a:buAutoNum type="arabicParenR"/>
            </a:pPr>
            <a:r>
              <a:rPr lang="en-US" dirty="0"/>
              <a:t>We are available for help, e.g. zoom sessions for getting started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F35119-AC54-4E83-8DD4-14D3E91963CF}"/>
              </a:ext>
            </a:extLst>
          </p:cNvPr>
          <p:cNvGrpSpPr/>
          <p:nvPr/>
        </p:nvGrpSpPr>
        <p:grpSpPr>
          <a:xfrm>
            <a:off x="5382297" y="462251"/>
            <a:ext cx="2795930" cy="4454071"/>
            <a:chOff x="5636940" y="181428"/>
            <a:chExt cx="2795930" cy="445407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EC85A0-7054-44CC-BA6E-5960A72B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2026" y="181428"/>
              <a:ext cx="2030844" cy="4454071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1B825D6-12F5-4E3B-82D7-4AB8D45DC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6940" y="805543"/>
              <a:ext cx="1104946" cy="2612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2DB0529-0A2E-4BF4-A29E-8DDD5F391B58}"/>
                </a:ext>
              </a:extLst>
            </p:cNvPr>
            <p:cNvCxnSpPr>
              <a:cxnSpLocks/>
            </p:cNvCxnSpPr>
            <p:nvPr/>
          </p:nvCxnSpPr>
          <p:spPr>
            <a:xfrm>
              <a:off x="5636940" y="1065573"/>
              <a:ext cx="1104946" cy="10535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68CA9DC-DA53-4746-9B8A-45BF10278CC0}"/>
                </a:ext>
              </a:extLst>
            </p:cNvPr>
            <p:cNvCxnSpPr>
              <a:cxnSpLocks/>
            </p:cNvCxnSpPr>
            <p:nvPr/>
          </p:nvCxnSpPr>
          <p:spPr>
            <a:xfrm>
              <a:off x="5636940" y="1065573"/>
              <a:ext cx="1104946" cy="21810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E1111C-9793-4E85-8EB7-0D79AF94CFF1}"/>
                </a:ext>
              </a:extLst>
            </p:cNvPr>
            <p:cNvCxnSpPr>
              <a:cxnSpLocks/>
            </p:cNvCxnSpPr>
            <p:nvPr/>
          </p:nvCxnSpPr>
          <p:spPr>
            <a:xfrm>
              <a:off x="5636940" y="1065573"/>
              <a:ext cx="1104946" cy="27485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09B6E73-0C33-4CA9-BABB-2F9904308B7B}"/>
                </a:ext>
              </a:extLst>
            </p:cNvPr>
            <p:cNvCxnSpPr>
              <a:cxnSpLocks/>
            </p:cNvCxnSpPr>
            <p:nvPr/>
          </p:nvCxnSpPr>
          <p:spPr>
            <a:xfrm>
              <a:off x="5636940" y="1073577"/>
              <a:ext cx="1104946" cy="51875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1F0E21B-106F-4A73-B668-5124472A1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725" y="3027227"/>
            <a:ext cx="1104946" cy="1069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644D9-7695-4E46-B799-795F8A0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600137"/>
          </a:xfrm>
        </p:spPr>
        <p:txBody>
          <a:bodyPr>
            <a:normAutofit/>
          </a:bodyPr>
          <a:lstStyle/>
          <a:p>
            <a:r>
              <a:rPr lang="en-US" sz="3200" dirty="0"/>
              <a:t>Add-on’s: Modify / write widgets</a:t>
            </a:r>
            <a:endParaRPr lang="en-GB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F57EE-CD2B-4016-828D-4F2C5A5EC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227" y="1873152"/>
            <a:ext cx="954868" cy="69859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429FEB-6268-441F-AD79-C9803D81C308}"/>
              </a:ext>
            </a:extLst>
          </p:cNvPr>
          <p:cNvCxnSpPr/>
          <p:nvPr/>
        </p:nvCxnSpPr>
        <p:spPr>
          <a:xfrm>
            <a:off x="7794171" y="1873152"/>
            <a:ext cx="38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36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0" y="104643"/>
            <a:ext cx="8954100" cy="9602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>
              <a:buNone/>
            </a:pPr>
            <a:r>
              <a:rPr lang="en" sz="1200" dirty="0"/>
              <a:t>Shadow4: </a:t>
            </a:r>
            <a:r>
              <a:rPr lang="en-US" sz="1200" dirty="0"/>
              <a:t>python package (kernel) + Interface (OASYS add-on)</a:t>
            </a:r>
            <a:br>
              <a:rPr lang="en-US" sz="1400" dirty="0"/>
            </a:br>
            <a:r>
              <a:rPr lang="en-US" sz="2800" dirty="0">
                <a:hlinkClick r:id="rId3"/>
              </a:rPr>
              <a:t>https://github.com/oasys-kit/shadow4</a:t>
            </a:r>
            <a:r>
              <a:rPr lang="en-US" sz="2800" dirty="0"/>
              <a:t> </a:t>
            </a:r>
            <a:br>
              <a:rPr lang="en-US" sz="1400" dirty="0"/>
            </a:br>
            <a:endParaRPr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928CF3-5225-43DA-B8AA-B62B81401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642" y="786362"/>
            <a:ext cx="6599583" cy="1327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FF0DD4-970C-4E2A-B7E8-3634EA4D7862}"/>
              </a:ext>
            </a:extLst>
          </p:cNvPr>
          <p:cNvSpPr txBox="1"/>
          <p:nvPr/>
        </p:nvSpPr>
        <p:spPr>
          <a:xfrm flipH="1">
            <a:off x="82584" y="804787"/>
            <a:ext cx="123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API</a:t>
            </a:r>
            <a:endParaRPr lang="en-GB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02B9A19-A3D1-4289-B46D-2225BEAEE6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263B4D-BA6B-450D-8FDE-BAE8FF196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4" y="2208596"/>
            <a:ext cx="3034244" cy="2699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020A06-C9E2-44CF-A84E-AEA290D75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691" y="2255720"/>
            <a:ext cx="5524472" cy="790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41C3D6-0A61-4817-B458-BE46F8FC7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9768" y="3147443"/>
            <a:ext cx="5674251" cy="1089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E51B6D-9113-46D4-929D-CA1F4F813099}"/>
              </a:ext>
            </a:extLst>
          </p:cNvPr>
          <p:cNvSpPr txBox="1"/>
          <p:nvPr/>
        </p:nvSpPr>
        <p:spPr>
          <a:xfrm>
            <a:off x="7116653" y="1732500"/>
            <a:ext cx="1965603" cy="523220"/>
          </a:xfrm>
          <a:prstGeom prst="rect">
            <a:avLst/>
          </a:prstGeom>
          <a:solidFill>
            <a:srgbClr val="FFB3B3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Container:</a:t>
            </a:r>
            <a:br>
              <a:rPr lang="en-US" dirty="0">
                <a:latin typeface="Candara" panose="020E0502030303020204" pitchFamily="34" charset="0"/>
              </a:rPr>
            </a:br>
            <a:r>
              <a:rPr lang="en-US" dirty="0" err="1">
                <a:latin typeface="Candara" panose="020E0502030303020204" pitchFamily="34" charset="0"/>
              </a:rPr>
              <a:t>inheritates</a:t>
            </a:r>
            <a:r>
              <a:rPr lang="en-US" dirty="0">
                <a:latin typeface="Candara" panose="020E0502030303020204" pitchFamily="34" charset="0"/>
              </a:rPr>
              <a:t>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SYNED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72838-B706-423A-AAA5-02649612DFF1}"/>
              </a:ext>
            </a:extLst>
          </p:cNvPr>
          <p:cNvSpPr txBox="1"/>
          <p:nvPr/>
        </p:nvSpPr>
        <p:spPr>
          <a:xfrm>
            <a:off x="6398256" y="3833918"/>
            <a:ext cx="2531462" cy="523220"/>
          </a:xfrm>
          <a:prstGeom prst="rect">
            <a:avLst/>
          </a:prstGeom>
          <a:solidFill>
            <a:srgbClr val="FFB3B3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Performs calculation</a:t>
            </a:r>
          </a:p>
          <a:p>
            <a:r>
              <a:rPr lang="en-US" dirty="0" err="1">
                <a:latin typeface="Candara" panose="020E0502030303020204" pitchFamily="34" charset="0"/>
              </a:rPr>
              <a:t>Inheritates</a:t>
            </a:r>
            <a:r>
              <a:rPr lang="en-US" dirty="0">
                <a:latin typeface="Candara" panose="020E0502030303020204" pitchFamily="34" charset="0"/>
              </a:rPr>
              <a:t>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s4_crystal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A52A57-A88C-4D53-BA3B-AEBCF22DAD52}"/>
              </a:ext>
            </a:extLst>
          </p:cNvPr>
          <p:cNvCxnSpPr/>
          <p:nvPr/>
        </p:nvCxnSpPr>
        <p:spPr>
          <a:xfrm>
            <a:off x="4906537" y="2114246"/>
            <a:ext cx="788019" cy="4575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C0B498-D296-471A-9D75-3AB8229292F2}"/>
              </a:ext>
            </a:extLst>
          </p:cNvPr>
          <p:cNvCxnSpPr>
            <a:cxnSpLocks/>
          </p:cNvCxnSpPr>
          <p:nvPr/>
        </p:nvCxnSpPr>
        <p:spPr>
          <a:xfrm flipH="1">
            <a:off x="4572000" y="1623884"/>
            <a:ext cx="494371" cy="947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E08B59-1B8C-4531-8852-D3549558400D}"/>
              </a:ext>
            </a:extLst>
          </p:cNvPr>
          <p:cNvCxnSpPr>
            <a:cxnSpLocks/>
          </p:cNvCxnSpPr>
          <p:nvPr/>
        </p:nvCxnSpPr>
        <p:spPr>
          <a:xfrm>
            <a:off x="5066371" y="1623884"/>
            <a:ext cx="671928" cy="1681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D280EB-B104-4015-83CE-BBC65C429441}"/>
              </a:ext>
            </a:extLst>
          </p:cNvPr>
          <p:cNvCxnSpPr>
            <a:cxnSpLocks/>
          </p:cNvCxnSpPr>
          <p:nvPr/>
        </p:nvCxnSpPr>
        <p:spPr>
          <a:xfrm flipH="1">
            <a:off x="2936489" y="3938014"/>
            <a:ext cx="3404838" cy="258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DCCA3A-5D03-4F73-A4DF-F323CF32BF13}"/>
              </a:ext>
            </a:extLst>
          </p:cNvPr>
          <p:cNvCxnSpPr/>
          <p:nvPr/>
        </p:nvCxnSpPr>
        <p:spPr>
          <a:xfrm>
            <a:off x="7560527" y="2255720"/>
            <a:ext cx="0" cy="208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5B8CAA-1A07-4C2E-A32E-1896B9578D8E}"/>
              </a:ext>
            </a:extLst>
          </p:cNvPr>
          <p:cNvCxnSpPr>
            <a:cxnSpLocks/>
          </p:cNvCxnSpPr>
          <p:nvPr/>
        </p:nvCxnSpPr>
        <p:spPr>
          <a:xfrm flipV="1">
            <a:off x="7575395" y="3384413"/>
            <a:ext cx="0" cy="412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93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4C16-2944-2169-0B02-0AF77BBC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F837-9A1B-8AF8-A1AE-0DEC6E27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" y="2297611"/>
            <a:ext cx="9039600" cy="615523"/>
          </a:xfrm>
        </p:spPr>
        <p:txBody>
          <a:bodyPr/>
          <a:lstStyle/>
          <a:p>
            <a:pPr algn="ctr"/>
            <a:r>
              <a:rPr lang="en-GB" sz="2800" cap="none" noProof="0" dirty="0">
                <a:solidFill>
                  <a:srgbClr val="254061"/>
                </a:solidFill>
                <a:latin typeface="Candara" panose="020E0502030303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850811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16670</TotalTime>
  <Words>390</Words>
  <Application>Microsoft Office PowerPoint</Application>
  <PresentationFormat>On-screen Show (16:9)</PresentationFormat>
  <Paragraphs>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Candara</vt:lpstr>
      <vt:lpstr>Courier New</vt:lpstr>
      <vt:lpstr>Wingdings</vt:lpstr>
      <vt:lpstr>Custom Design</vt:lpstr>
      <vt:lpstr>PowerPoint Presentation</vt:lpstr>
      <vt:lpstr>Scripting, programming, OASYS add-on’s</vt:lpstr>
      <vt:lpstr>https://github.com/oasys-kit    The GitHub organization oasys-kit is the Pandora's box of OASYS — open it, and you'll find the entire open source universe of synchrotron optics simulation waiting inside.</vt:lpstr>
      <vt:lpstr>Orange3</vt:lpstr>
      <vt:lpstr>Orange3-&gt; Oasys2 -&gt; Add-on’s</vt:lpstr>
      <vt:lpstr>Automatic scripts (use base libs)</vt:lpstr>
      <vt:lpstr>Scripts (programmer) doc</vt:lpstr>
      <vt:lpstr>Add-on’s: Modify / write widgets</vt:lpstr>
      <vt:lpstr>Shadow4: python package (kernel) + Interface (OASYS add-on) https://github.com/oasys-kit/shadow4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SRW</dc:title>
  <dc:creator>Rafael CELESTRE</dc:creator>
  <cp:lastModifiedBy>SANCHEZ DEL RIO Manuel</cp:lastModifiedBy>
  <cp:revision>565</cp:revision>
  <dcterms:modified xsi:type="dcterms:W3CDTF">2026-05-19T08:48:05Z</dcterms:modified>
</cp:coreProperties>
</file>