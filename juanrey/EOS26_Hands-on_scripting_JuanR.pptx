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  <p:sldMasterId id="2147483683" r:id="rId2"/>
  </p:sldMasterIdLst>
  <p:notesMasterIdLst>
    <p:notesMasterId r:id="rId11"/>
  </p:notesMasterIdLst>
  <p:sldIdLst>
    <p:sldId id="265" r:id="rId3"/>
    <p:sldId id="551" r:id="rId4"/>
    <p:sldId id="610" r:id="rId5"/>
    <p:sldId id="626" r:id="rId6"/>
    <p:sldId id="628" r:id="rId7"/>
    <p:sldId id="627" r:id="rId8"/>
    <p:sldId id="629" r:id="rId9"/>
    <p:sldId id="625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33"/>
    <a:srgbClr val="4F81BD"/>
    <a:srgbClr val="254061"/>
    <a:srgbClr val="B3E5FC"/>
    <a:srgbClr val="D1C4E9"/>
    <a:srgbClr val="FFFFFF"/>
    <a:srgbClr val="376092"/>
    <a:srgbClr val="C8E6C9"/>
    <a:srgbClr val="FFECB3"/>
    <a:srgbClr val="FF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6" autoAdjust="0"/>
    <p:restoredTop sz="94657" autoAdjust="0"/>
  </p:normalViewPr>
  <p:slideViewPr>
    <p:cSldViewPr snapToGrid="0">
      <p:cViewPr varScale="1">
        <p:scale>
          <a:sx n="160" d="100"/>
          <a:sy n="160" d="100"/>
        </p:scale>
        <p:origin x="162" y="22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/>
        </p:nvSpPr>
        <p:spPr>
          <a:xfrm>
            <a:off x="0" y="4924425"/>
            <a:ext cx="9144000" cy="219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spcFirstLastPara="1" wrap="square" lIns="91425" tIns="27425" rIns="91425" bIns="27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CE5CD"/>
                </a:solidFill>
              </a:rPr>
              <a:t>ESRF-ENRICH OASYS SCHOOL </a:t>
            </a:r>
            <a:r>
              <a:rPr lang="en-GB" sz="1000" b="1" dirty="0">
                <a:solidFill>
                  <a:srgbClr val="FCE5CD"/>
                </a:solidFill>
              </a:rPr>
              <a:t>Grenoble </a:t>
            </a:r>
            <a:r>
              <a:rPr lang="en" sz="1000" b="1" dirty="0">
                <a:solidFill>
                  <a:srgbClr val="FCE5CD"/>
                </a:solidFill>
              </a:rPr>
              <a:t>2026			</a:t>
            </a:r>
            <a:r>
              <a:rPr lang="en-US" sz="1000" b="1" dirty="0">
                <a:solidFill>
                  <a:srgbClr val="FCE5CD"/>
                </a:solidFill>
              </a:rPr>
              <a:t>Juan Reyes Herrera</a:t>
            </a:r>
            <a:r>
              <a:rPr lang="en" sz="1000" b="1" dirty="0">
                <a:solidFill>
                  <a:srgbClr val="FCE5CD"/>
                </a:solidFill>
              </a:rPr>
              <a:t> – SHADOW4 Scripts</a:t>
            </a:r>
            <a:endParaRPr sz="1000" b="1" dirty="0">
              <a:solidFill>
                <a:srgbClr val="FCE5CD"/>
              </a:solidFill>
            </a:endParaRPr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231100" y="6190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rgbClr val="254061"/>
                </a:solidFill>
                <a:latin typeface="Candara" panose="020E0502030303020204" pitchFamily="34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Candara" panose="020E0502030303020204" pitchFamily="34" charset="0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latin typeface="Candara" panose="020E0502030303020204" pitchFamily="34" charset="0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Candara" panose="020E0502030303020204" pitchFamily="34" charset="0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Candara" panose="020E0502030303020204" pitchFamily="34" charset="0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latin typeface="Candara" panose="020E0502030303020204" pitchFamily="34" charset="0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Candara" panose="020E0502030303020204" pitchFamily="34" charset="0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latin typeface="Candara" panose="020E0502030303020204" pitchFamily="34" charset="0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latin typeface="Candara" panose="020E0502030303020204" pitchFamily="34" charset="0"/>
              </a:defRPr>
            </a:lvl9pPr>
          </a:lstStyle>
          <a:p>
            <a:endParaRPr dirty="0"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67175" y="132685"/>
            <a:ext cx="89541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>
                <a:solidFill>
                  <a:srgbClr val="254061"/>
                </a:solidFill>
                <a:latin typeface="Candara" panose="020E0502030303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b="1">
                <a:latin typeface="Candara" panose="020E0502030303020204" pitchFamily="34" charset="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b="1">
                <a:latin typeface="Candara" panose="020E0502030303020204" pitchFamily="34" charset="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>
                <a:latin typeface="Candara" panose="020E0502030303020204" pitchFamily="34" charset="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b="1">
                <a:latin typeface="Candara" panose="020E0502030303020204" pitchFamily="34" charset="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b="1">
                <a:latin typeface="Candara" panose="020E0502030303020204" pitchFamily="34" charset="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>
                <a:latin typeface="Candara" panose="020E0502030303020204" pitchFamily="34" charset="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b="1">
                <a:latin typeface="Candara" panose="020E0502030303020204" pitchFamily="34" charset="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b="1">
                <a:latin typeface="Candara" panose="020E0502030303020204" pitchFamily="34" charset="0"/>
              </a:defRPr>
            </a:lvl9pPr>
          </a:lstStyle>
          <a:p>
            <a:endParaRPr dirty="0"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06950" y="4908739"/>
            <a:ext cx="690300" cy="249000"/>
          </a:xfrm>
          <a:prstGeom prst="rect">
            <a:avLst/>
          </a:prstGeom>
        </p:spPr>
        <p:txBody>
          <a:bodyPr spcFirstLastPara="1" wrap="square" lIns="91425" tIns="27425" rIns="91425" bIns="27425" anchor="ctr" anchorCtr="0">
            <a:normAutofit/>
          </a:bodyPr>
          <a:lstStyle>
            <a:lvl1pPr lvl="0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1pPr>
            <a:lvl2pPr lvl="1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2pPr>
            <a:lvl3pPr lvl="2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3pPr>
            <a:lvl4pPr lvl="3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4pPr>
            <a:lvl5pPr lvl="4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5pPr>
            <a:lvl6pPr lvl="5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6pPr>
            <a:lvl7pPr lvl="6" rtl="0">
              <a:buNone/>
              <a:defRPr b="1">
                <a:solidFill>
                  <a:srgbClr val="EFEFEF"/>
                </a:solidFill>
              </a:defRPr>
            </a:lvl7pPr>
            <a:lvl8pPr lvl="7" rtl="0">
              <a:buNone/>
              <a:defRPr b="1">
                <a:solidFill>
                  <a:srgbClr val="EFEFEF"/>
                </a:solidFill>
              </a:defRPr>
            </a:lvl8pPr>
            <a:lvl9pPr lvl="8" rtl="0">
              <a:buNone/>
              <a:defRPr b="1">
                <a:solidFill>
                  <a:srgbClr val="EFEFE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/>
        </p:nvSpPr>
        <p:spPr>
          <a:xfrm>
            <a:off x="0" y="4924425"/>
            <a:ext cx="9144000" cy="219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spcFirstLastPara="1" wrap="square" lIns="91425" tIns="27425" rIns="91425" bIns="27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CE5CD"/>
                </a:solidFill>
              </a:rPr>
              <a:t>ESRF-ENRICH OASYS SCHOOL Grenoble 2026			 Juan Reyes Herrera</a:t>
            </a:r>
            <a:r>
              <a:rPr lang="en" sz="1000" b="1" dirty="0">
                <a:solidFill>
                  <a:srgbClr val="FCE5CD"/>
                </a:solidFill>
              </a:rPr>
              <a:t> – SHADOW4 Scripts </a:t>
            </a:r>
            <a:r>
              <a:rPr lang="en-US" sz="1000" b="1" dirty="0">
                <a:solidFill>
                  <a:srgbClr val="FCE5CD"/>
                </a:solidFill>
              </a:rPr>
              <a:t>	</a:t>
            </a:r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06950" y="4908739"/>
            <a:ext cx="690300" cy="249000"/>
          </a:xfrm>
          <a:prstGeom prst="rect">
            <a:avLst/>
          </a:prstGeom>
        </p:spPr>
        <p:txBody>
          <a:bodyPr spcFirstLastPara="1" wrap="square" lIns="91425" tIns="27425" rIns="91425" bIns="27425" anchor="ctr" anchorCtr="0">
            <a:normAutofit/>
          </a:bodyPr>
          <a:lstStyle>
            <a:lvl1pPr lvl="0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1pPr>
            <a:lvl2pPr lvl="1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2pPr>
            <a:lvl3pPr lvl="2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3pPr>
            <a:lvl4pPr lvl="3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4pPr>
            <a:lvl5pPr lvl="4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5pPr>
            <a:lvl6pPr lvl="5" rtl="0">
              <a:buNone/>
              <a:defRPr b="1">
                <a:solidFill>
                  <a:srgbClr val="EFEFEF"/>
                </a:solidFill>
                <a:latin typeface="Candara" panose="020E0502030303020204" pitchFamily="34" charset="0"/>
              </a:defRPr>
            </a:lvl6pPr>
            <a:lvl7pPr lvl="6" rtl="0">
              <a:buNone/>
              <a:defRPr b="1">
                <a:solidFill>
                  <a:srgbClr val="EFEFEF"/>
                </a:solidFill>
              </a:defRPr>
            </a:lvl7pPr>
            <a:lvl8pPr lvl="7" rtl="0">
              <a:buNone/>
              <a:defRPr b="1">
                <a:solidFill>
                  <a:srgbClr val="EFEFEF"/>
                </a:solidFill>
              </a:defRPr>
            </a:lvl8pPr>
            <a:lvl9pPr lvl="8" rtl="0">
              <a:buNone/>
              <a:defRPr b="1">
                <a:solidFill>
                  <a:srgbClr val="EFEFE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57675" y="62425"/>
            <a:ext cx="90396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 b="1">
                <a:solidFill>
                  <a:srgbClr val="254061"/>
                </a:solidFill>
                <a:latin typeface="Candara" panose="020E0502030303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>
                <a:latin typeface="Candara" panose="020E0502030303020204" pitchFamily="34" charset="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>
                <a:latin typeface="Candara" panose="020E0502030303020204" pitchFamily="34" charset="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>
                <a:latin typeface="Candara" panose="020E0502030303020204" pitchFamily="34" charset="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>
                <a:latin typeface="Candara" panose="020E0502030303020204" pitchFamily="34" charset="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>
                <a:latin typeface="Candara" panose="020E0502030303020204" pitchFamily="34" charset="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>
                <a:latin typeface="Candara" panose="020E0502030303020204" pitchFamily="34" charset="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>
                <a:latin typeface="Candara" panose="020E0502030303020204" pitchFamily="34" charset="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>
                <a:latin typeface="Candara" panose="020E0502030303020204" pitchFamily="34" charset="0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727200" y="113400"/>
            <a:ext cx="8236800" cy="447120"/>
          </a:xfrm>
          <a:solidFill>
            <a:schemeClr val="accent1"/>
          </a:solidFill>
        </p:spPr>
        <p:txBody>
          <a:bodyPr lIns="108000" tIns="0" rIns="108000" anchor="ctr" anchorCtr="0"/>
          <a:lstStyle>
            <a:lvl1pPr>
              <a:lnSpc>
                <a:spcPct val="85000"/>
              </a:lnSpc>
              <a:defRPr sz="2250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7" name="Espace réservé de la date 16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25406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25406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716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pPr>
              <a:defRPr>
                <a:latin typeface="Candara" panose="020E0502030303020204" pitchFamily="34" charset="0"/>
              </a:defRPr>
            </a:pPr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gray">
          <a:xfrm>
            <a:off x="727688" y="573528"/>
            <a:ext cx="8236800" cy="4050000"/>
          </a:xfrm>
        </p:spPr>
        <p:txBody>
          <a:bodyPr/>
          <a:lstStyle>
            <a:lvl1pPr>
              <a:defRPr>
                <a:solidFill>
                  <a:srgbClr val="254061"/>
                </a:solidFill>
                <a:latin typeface="Candara" panose="020E0502030303020204" pitchFamily="34" charset="0"/>
              </a:defRPr>
            </a:lvl1pPr>
            <a:lvl2pPr>
              <a:defRPr>
                <a:solidFill>
                  <a:srgbClr val="254061"/>
                </a:solidFill>
                <a:latin typeface="Candara" panose="020E0502030303020204" pitchFamily="34" charset="0"/>
              </a:defRPr>
            </a:lvl2pPr>
            <a:lvl3pPr>
              <a:defRPr>
                <a:solidFill>
                  <a:srgbClr val="254061"/>
                </a:solidFill>
              </a:defRPr>
            </a:lvl3pPr>
            <a:lvl4pPr>
              <a:spcBef>
                <a:spcPts val="0"/>
              </a:spcBef>
              <a:spcAft>
                <a:spcPts val="225"/>
              </a:spcAft>
              <a:buSzPct val="80000"/>
              <a:defRPr>
                <a:solidFill>
                  <a:srgbClr val="254061"/>
                </a:solidFill>
                <a:latin typeface="Candara" panose="020E0502030303020204" pitchFamily="34" charset="0"/>
              </a:defRPr>
            </a:lvl4pPr>
            <a:lvl5pPr>
              <a:spcAft>
                <a:spcPts val="225"/>
              </a:spcAft>
              <a:defRPr>
                <a:solidFill>
                  <a:srgbClr val="254061"/>
                </a:solidFill>
                <a:latin typeface="Candara" panose="020E0502030303020204" pitchFamily="34" charset="0"/>
              </a:defRPr>
            </a:lvl5pPr>
          </a:lstStyle>
          <a:p>
            <a:pPr lvl="0">
              <a:defRPr>
                <a:latin typeface="Candara" panose="020E0502030303020204" pitchFamily="34" charset="0"/>
              </a:defRPr>
            </a:pPr>
            <a:r>
              <a:rPr lang="en-US" dirty="0"/>
              <a:t>Click to edit Master text styles</a:t>
            </a:r>
            <a:endParaRPr dirty="0"/>
          </a:p>
          <a:p>
            <a:pPr lvl="1">
              <a:defRPr>
                <a:latin typeface="Candara" panose="020E0502030303020204" pitchFamily="34" charset="0"/>
              </a:defRPr>
            </a:pPr>
            <a:r>
              <a:rPr lang="en-US" dirty="0"/>
              <a:t>Second level</a:t>
            </a:r>
            <a:endParaRPr dirty="0"/>
          </a:p>
          <a:p>
            <a:pPr lvl="2">
              <a:defRPr>
                <a:latin typeface="Candara" panose="020E0502030303020204" pitchFamily="34" charset="0"/>
              </a:defRPr>
            </a:pPr>
            <a:r>
              <a:rPr lang="en-US" dirty="0"/>
              <a:t>Third level</a:t>
            </a:r>
            <a:endParaRPr dirty="0"/>
          </a:p>
          <a:p>
            <a:pPr lvl="3">
              <a:defRPr>
                <a:latin typeface="Candara" panose="020E0502030303020204" pitchFamily="34" charset="0"/>
              </a:defRPr>
            </a:pPr>
            <a:r>
              <a:rPr lang="en-US" dirty="0"/>
              <a:t>Fourth level</a:t>
            </a:r>
            <a:endParaRPr dirty="0"/>
          </a:p>
          <a:p>
            <a:pPr lvl="4">
              <a:defRPr>
                <a:latin typeface="Candara" panose="020E0502030303020204" pitchFamily="34" charset="0"/>
              </a:defRPr>
            </a:pPr>
            <a:r>
              <a:rPr lang="en-US" dirty="0"/>
              <a:t>Fifth level</a:t>
            </a:r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 lvl="0">
              <a:defRPr>
                <a:latin typeface="Candara" panose="020E0502030303020204" pitchFamily="34" charset="0"/>
              </a:defRPr>
            </a:pPr>
            <a:fld id="{86CB4B4D-7CA3-9044-876B-883B54F8677D}" type="slidenum">
              <a:rPr lang="uk-UA"/>
              <a:t>‹#›</a:t>
            </a:fld>
            <a:endParaRPr lang="uk-UA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>
            <a:lvl1pPr>
              <a:defRPr>
                <a:solidFill>
                  <a:srgbClr val="254061"/>
                </a:solidFill>
              </a:defRPr>
            </a:lvl1pPr>
          </a:lstStyle>
          <a:p>
            <a:pPr>
              <a:defRPr>
                <a:latin typeface="Candara" panose="020E0502030303020204" pitchFamily="34" charset="0"/>
              </a:defRPr>
            </a:pPr>
            <a:r>
              <a:rPr lang="en-US" dirty="0">
                <a:latin typeface="Candara" panose="020E0502030303020204" pitchFamily="34" charset="0"/>
              </a:rPr>
              <a:t>l Title of Presentation l Date of Presentation l Author</a:t>
            </a:r>
            <a:endParaRPr lang="fr-FR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742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727200" y="113400"/>
            <a:ext cx="8236800" cy="447120"/>
          </a:xfrm>
          <a:solidFill>
            <a:schemeClr val="accent1"/>
          </a:solidFill>
        </p:spPr>
        <p:txBody>
          <a:bodyPr lIns="108000" tIns="0" rIns="108000" anchor="ctr" anchorCtr="0"/>
          <a:lstStyle>
            <a:lvl1pPr>
              <a:lnSpc>
                <a:spcPct val="85000"/>
              </a:lnSpc>
              <a:defRPr sz="2250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 bwMode="gray">
          <a:xfrm>
            <a:off x="3351600" y="823500"/>
            <a:ext cx="5612400" cy="2673000"/>
          </a:xfrm>
          <a:solidFill>
            <a:srgbClr val="4E5B99"/>
          </a:solidFill>
        </p:spPr>
        <p:txBody>
          <a:bodyPr lIns="216000" tIns="252000"/>
          <a:lstStyle>
            <a:lvl1pPr marL="0" indent="0">
              <a:spcAft>
                <a:spcPts val="270"/>
              </a:spcAft>
              <a:buFont typeface="Arial" pitchFamily="34" charset="0"/>
              <a:buNone/>
              <a:defRPr sz="2520">
                <a:solidFill>
                  <a:schemeClr val="bg1"/>
                </a:solidFill>
                <a:latin typeface="Candara" panose="020E0502030303020204" pitchFamily="34" charset="0"/>
              </a:defRPr>
            </a:lvl1pPr>
            <a:lvl2pPr marL="0" indent="0">
              <a:spcBef>
                <a:spcPts val="360"/>
              </a:spcBef>
              <a:spcAft>
                <a:spcPts val="0"/>
              </a:spcAft>
              <a:buFont typeface="Arial" pitchFamily="34" charset="0"/>
              <a:buNone/>
              <a:defRPr sz="2340" b="1">
                <a:solidFill>
                  <a:schemeClr val="bg1"/>
                </a:solidFill>
                <a:latin typeface="Candara" panose="020E0502030303020204" pitchFamily="34" charset="0"/>
              </a:defRPr>
            </a:lvl2pPr>
            <a:lvl3pPr marL="0" indent="0">
              <a:lnSpc>
                <a:spcPct val="80000"/>
              </a:lnSpc>
              <a:spcAft>
                <a:spcPts val="0"/>
              </a:spcAft>
              <a:buFont typeface="Arial" pitchFamily="34" charset="0"/>
              <a:buNone/>
              <a:defRPr sz="2025">
                <a:solidFill>
                  <a:schemeClr val="bg1"/>
                </a:solidFill>
                <a:latin typeface="Candara" panose="020E0502030303020204" pitchFamily="34" charset="0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180"/>
              </a:spcAft>
              <a:buSzPct val="80000"/>
              <a:buNone/>
              <a:defRPr sz="1575">
                <a:solidFill>
                  <a:schemeClr val="bg1"/>
                </a:solidFill>
                <a:latin typeface="Candara" panose="020E0502030303020204" pitchFamily="34" charset="0"/>
              </a:defRPr>
            </a:lvl4pPr>
            <a:lvl5pPr marL="0" indent="0">
              <a:lnSpc>
                <a:spcPct val="80000"/>
              </a:lnSpc>
              <a:spcAft>
                <a:spcPts val="0"/>
              </a:spcAft>
              <a:buNone/>
              <a:defRPr sz="1350" b="1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Espace réservé pour une image  7"/>
          <p:cNvSpPr>
            <a:spLocks noGrp="1"/>
          </p:cNvSpPr>
          <p:nvPr>
            <p:ph type="pic" sz="quarter" idx="13"/>
          </p:nvPr>
        </p:nvSpPr>
        <p:spPr>
          <a:xfrm>
            <a:off x="727200" y="823500"/>
            <a:ext cx="2574000" cy="2673000"/>
          </a:xfrm>
        </p:spPr>
        <p:txBody>
          <a:bodyPr anchor="ctr" anchorCtr="0"/>
          <a:lstStyle>
            <a:lvl1pPr algn="ctr">
              <a:defRPr>
                <a:latin typeface="Candara" panose="020E0502030303020204" pitchFamily="34" charset="0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7" name="Espace réservé de la date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 noProof="0"/>
              <a:t>Page </a:t>
            </a:r>
            <a:fld id="{733122C9-A0B9-462F-8757-0847AD287B63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73639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75553-F7EC-46C9-8204-93A741EF8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>
                <a:latin typeface="Candara" panose="020E05020303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A1A1B6-9748-4EC8-A763-67DE20EB5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>
                <a:latin typeface="Candara" panose="020E0502030303020204" pitchFamily="34" charset="0"/>
              </a:defRPr>
            </a:lvl1pPr>
            <a:lvl2pPr marL="457200" indent="0" algn="ctr">
              <a:buNone/>
              <a:defRPr sz="2000">
                <a:latin typeface="Candara" panose="020E0502030303020204" pitchFamily="34" charset="0"/>
              </a:defRPr>
            </a:lvl2pPr>
            <a:lvl3pPr marL="914400" indent="0" algn="ctr">
              <a:buNone/>
              <a:defRPr sz="1800">
                <a:latin typeface="Candara" panose="020E0502030303020204" pitchFamily="34" charset="0"/>
              </a:defRPr>
            </a:lvl3pPr>
            <a:lvl4pPr marL="1371600" indent="0" algn="ctr">
              <a:buNone/>
              <a:defRPr sz="1600">
                <a:latin typeface="Candara" panose="020E0502030303020204" pitchFamily="34" charset="0"/>
              </a:defRPr>
            </a:lvl4pPr>
            <a:lvl5pPr marL="1828800" indent="0" algn="ctr">
              <a:buNone/>
              <a:defRPr sz="1600">
                <a:latin typeface="Candara" panose="020E0502030303020204" pitchFamily="34" charset="0"/>
              </a:defRPr>
            </a:lvl5pPr>
            <a:lvl6pPr marL="2286000" indent="0" algn="ctr">
              <a:buNone/>
              <a:defRPr sz="1600">
                <a:latin typeface="Candara" panose="020E0502030303020204" pitchFamily="34" charset="0"/>
              </a:defRPr>
            </a:lvl6pPr>
            <a:lvl7pPr marL="2743200" indent="0" algn="ctr">
              <a:buNone/>
              <a:defRPr sz="1600">
                <a:latin typeface="Candara" panose="020E0502030303020204" pitchFamily="34" charset="0"/>
              </a:defRPr>
            </a:lvl7pPr>
            <a:lvl8pPr marL="3200400" indent="0" algn="ctr">
              <a:buNone/>
              <a:defRPr sz="1600">
                <a:latin typeface="Candara" panose="020E0502030303020204" pitchFamily="34" charset="0"/>
              </a:defRPr>
            </a:lvl8pPr>
            <a:lvl9pPr marL="3657600" indent="0" algn="ctr">
              <a:buNone/>
              <a:defRPr sz="1600">
                <a:latin typeface="Candara" panose="020E0502030303020204" pitchFamily="34" charset="0"/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39CD8-C241-47A9-8C2D-26C69FF03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1F72D-EA3D-46A2-B53E-E9378EBFE7FE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C6C0A-630A-41B4-B879-44890CE90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1B585-13E1-4A84-8B13-29B9131BB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7042-E667-43C8-980A-4100FA190E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5737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B6E3-ABA3-4288-9B3C-4F1EEF8DD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50C8B-ECAF-4C27-909F-A5B5DBF33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0A6C7-57A6-4A3B-9F59-3BC0154AC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1F72D-EA3D-46A2-B53E-E9378EBFE7FE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7CC3D-4B8A-47D8-8BA9-36AABB754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A3BBC-FCEF-48AA-A3EA-7F5A9DBB9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A7042-E667-43C8-980A-4100FA190E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724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EDCEE-389B-4B68-932F-2E5005B1B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>
                <a:latin typeface="Candara" panose="020E05020303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8BC8F-1E8A-478D-AA35-97108B092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9AE4F-4590-4E21-93D4-D3BA7C9BD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fld id="{9351F72D-EA3D-46A2-B53E-E9378EBFE7FE}" type="datetimeFigureOut">
              <a:rPr lang="en-GB" smtClean="0"/>
              <a:pPr/>
              <a:t>14/05/2026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F0A15-0293-48A5-9E1A-5DE46DE7A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521C1-A536-49B4-BFF9-F91993C3D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fld id="{05EA7042-E667-43C8-980A-4100FA190E6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4631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CC4F9-BCF9-4600-9F9B-1DF22550C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0F9BB-7246-4CE7-8B1E-42D5C77386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367F5-7780-433B-A0CA-2727257BD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A1639-7D21-48CA-B00B-8B0F6E1BB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fld id="{9351F72D-EA3D-46A2-B53E-E9378EBFE7FE}" type="datetimeFigureOut">
              <a:rPr lang="en-GB" smtClean="0"/>
              <a:pPr/>
              <a:t>14/05/2026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7F31EC-793D-4833-8405-D864F028B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14712-DE8E-4CFF-BB7B-D676D381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fld id="{05EA7042-E667-43C8-980A-4100FA190E6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6411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AD6E4-BA5B-42F6-A863-204C867C3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16334-34A9-45F2-8580-965B29E65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>
                <a:latin typeface="Candara" panose="020E0502030303020204" pitchFamily="34" charset="0"/>
              </a:defRPr>
            </a:lvl1pPr>
            <a:lvl2pPr marL="457200" indent="0">
              <a:buNone/>
              <a:defRPr sz="2000" b="1">
                <a:latin typeface="Candara" panose="020E0502030303020204" pitchFamily="34" charset="0"/>
              </a:defRPr>
            </a:lvl2pPr>
            <a:lvl3pPr marL="914400" indent="0">
              <a:buNone/>
              <a:defRPr sz="1800" b="1">
                <a:latin typeface="Candara" panose="020E0502030303020204" pitchFamily="34" charset="0"/>
              </a:defRPr>
            </a:lvl3pPr>
            <a:lvl4pPr marL="1371600" indent="0">
              <a:buNone/>
              <a:defRPr sz="1600" b="1">
                <a:latin typeface="Candara" panose="020E0502030303020204" pitchFamily="34" charset="0"/>
              </a:defRPr>
            </a:lvl4pPr>
            <a:lvl5pPr marL="1828800" indent="0">
              <a:buNone/>
              <a:defRPr sz="1600" b="1">
                <a:latin typeface="Candara" panose="020E0502030303020204" pitchFamily="34" charset="0"/>
              </a:defRPr>
            </a:lvl5pPr>
            <a:lvl6pPr marL="2286000" indent="0">
              <a:buNone/>
              <a:defRPr sz="1600" b="1">
                <a:latin typeface="Candara" panose="020E0502030303020204" pitchFamily="34" charset="0"/>
              </a:defRPr>
            </a:lvl6pPr>
            <a:lvl7pPr marL="2743200" indent="0">
              <a:buNone/>
              <a:defRPr sz="1600" b="1">
                <a:latin typeface="Candara" panose="020E0502030303020204" pitchFamily="34" charset="0"/>
              </a:defRPr>
            </a:lvl7pPr>
            <a:lvl8pPr marL="3200400" indent="0">
              <a:buNone/>
              <a:defRPr sz="1600" b="1">
                <a:latin typeface="Candara" panose="020E0502030303020204" pitchFamily="34" charset="0"/>
              </a:defRPr>
            </a:lvl8pPr>
            <a:lvl9pPr marL="3657600" indent="0">
              <a:buNone/>
              <a:defRPr sz="1600" b="1">
                <a:latin typeface="Candara" panose="020E0502030303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E25DA-F1C9-4922-A8A7-DB9769540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4EE80C-4EC3-4B0D-9726-3ECFA94564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>
                <a:latin typeface="Candara" panose="020E0502030303020204" pitchFamily="34" charset="0"/>
              </a:defRPr>
            </a:lvl1pPr>
            <a:lvl2pPr marL="457200" indent="0">
              <a:buNone/>
              <a:defRPr sz="2000" b="1">
                <a:latin typeface="Candara" panose="020E0502030303020204" pitchFamily="34" charset="0"/>
              </a:defRPr>
            </a:lvl2pPr>
            <a:lvl3pPr marL="914400" indent="0">
              <a:buNone/>
              <a:defRPr sz="1800" b="1">
                <a:latin typeface="Candara" panose="020E0502030303020204" pitchFamily="34" charset="0"/>
              </a:defRPr>
            </a:lvl3pPr>
            <a:lvl4pPr marL="1371600" indent="0">
              <a:buNone/>
              <a:defRPr sz="1600" b="1">
                <a:latin typeface="Candara" panose="020E0502030303020204" pitchFamily="34" charset="0"/>
              </a:defRPr>
            </a:lvl4pPr>
            <a:lvl5pPr marL="1828800" indent="0">
              <a:buNone/>
              <a:defRPr sz="1600" b="1">
                <a:latin typeface="Candara" panose="020E0502030303020204" pitchFamily="34" charset="0"/>
              </a:defRPr>
            </a:lvl5pPr>
            <a:lvl6pPr marL="2286000" indent="0">
              <a:buNone/>
              <a:defRPr sz="1600" b="1">
                <a:latin typeface="Candara" panose="020E0502030303020204" pitchFamily="34" charset="0"/>
              </a:defRPr>
            </a:lvl6pPr>
            <a:lvl7pPr marL="2743200" indent="0">
              <a:buNone/>
              <a:defRPr sz="1600" b="1">
                <a:latin typeface="Candara" panose="020E0502030303020204" pitchFamily="34" charset="0"/>
              </a:defRPr>
            </a:lvl7pPr>
            <a:lvl8pPr marL="3200400" indent="0">
              <a:buNone/>
              <a:defRPr sz="1600" b="1">
                <a:latin typeface="Candara" panose="020E0502030303020204" pitchFamily="34" charset="0"/>
              </a:defRPr>
            </a:lvl8pPr>
            <a:lvl9pPr marL="3657600" indent="0">
              <a:buNone/>
              <a:defRPr sz="1600" b="1">
                <a:latin typeface="Candara" panose="020E0502030303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581BAD-8532-4D1F-B5D8-DAE81DB648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3836C-7BBC-439E-B00D-FF2C51AA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fld id="{9351F72D-EA3D-46A2-B53E-E9378EBFE7FE}" type="datetimeFigureOut">
              <a:rPr lang="en-GB" smtClean="0"/>
              <a:pPr/>
              <a:t>14/05/2026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A75012-644E-4900-8BC0-911E7DE57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7E3597-65A3-4134-96D8-210C7AA7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fld id="{05EA7042-E667-43C8-980A-4100FA190E6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6581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927B9-85A7-4C21-936E-04ABF2B1E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5F36FF-94E1-42F8-B476-1FE10D2B6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fld id="{9351F72D-EA3D-46A2-B53E-E9378EBFE7FE}" type="datetimeFigureOut">
              <a:rPr lang="en-GB" smtClean="0"/>
              <a:pPr/>
              <a:t>14/05/2026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DA6673-12DE-4282-884C-F7BDAFCF6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5E7810-2C2D-4829-9AF5-92B866CCB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fld id="{05EA7042-E667-43C8-980A-4100FA190E6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8603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121CFE-E1F2-4271-AA72-92D0C5ADF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fld id="{9351F72D-EA3D-46A2-B53E-E9378EBFE7FE}" type="datetimeFigureOut">
              <a:rPr lang="en-GB" smtClean="0"/>
              <a:pPr/>
              <a:t>14/05/2026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B993C0-C693-4A93-A42C-ACD203319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F1F55-7ECE-4795-9B85-854695F00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fld id="{05EA7042-E667-43C8-980A-4100FA190E6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29889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DB6FD-AD35-47BA-8EAF-72C6D53B8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>
                <a:latin typeface="Candara" panose="020E05020303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8F19E-7D98-4B7D-A669-609A9360F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>
                <a:latin typeface="Candara" panose="020E0502030303020204" pitchFamily="34" charset="0"/>
              </a:defRPr>
            </a:lvl1pPr>
            <a:lvl2pPr>
              <a:defRPr sz="2800">
                <a:latin typeface="Candara" panose="020E0502030303020204" pitchFamily="34" charset="0"/>
              </a:defRPr>
            </a:lvl2pPr>
            <a:lvl3pPr>
              <a:defRPr sz="2400">
                <a:latin typeface="Candara" panose="020E0502030303020204" pitchFamily="34" charset="0"/>
              </a:defRPr>
            </a:lvl3pPr>
            <a:lvl4pPr>
              <a:defRPr sz="2000">
                <a:latin typeface="Candara" panose="020E0502030303020204" pitchFamily="34" charset="0"/>
              </a:defRPr>
            </a:lvl4pPr>
            <a:lvl5pPr>
              <a:defRPr sz="2000">
                <a:latin typeface="Candara" panose="020E0502030303020204" pitchFamily="34" charset="0"/>
              </a:defRPr>
            </a:lvl5pPr>
            <a:lvl6pPr>
              <a:defRPr sz="2000">
                <a:latin typeface="Candara" panose="020E0502030303020204" pitchFamily="34" charset="0"/>
              </a:defRPr>
            </a:lvl6pPr>
            <a:lvl7pPr>
              <a:defRPr sz="2000">
                <a:latin typeface="Candara" panose="020E0502030303020204" pitchFamily="34" charset="0"/>
              </a:defRPr>
            </a:lvl7pPr>
            <a:lvl8pPr>
              <a:defRPr sz="2000">
                <a:latin typeface="Candara" panose="020E0502030303020204" pitchFamily="34" charset="0"/>
              </a:defRPr>
            </a:lvl8pPr>
            <a:lvl9pPr>
              <a:defRPr sz="2000">
                <a:latin typeface="Candara" panose="020E0502030303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36F53-652C-4783-A862-CA6FD5D32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>
                <a:latin typeface="Candara" panose="020E0502030303020204" pitchFamily="34" charset="0"/>
              </a:defRPr>
            </a:lvl1pPr>
            <a:lvl2pPr marL="457200" indent="0">
              <a:buNone/>
              <a:defRPr sz="1400">
                <a:latin typeface="Candara" panose="020E0502030303020204" pitchFamily="34" charset="0"/>
              </a:defRPr>
            </a:lvl2pPr>
            <a:lvl3pPr marL="914400" indent="0">
              <a:buNone/>
              <a:defRPr sz="1200">
                <a:latin typeface="Candara" panose="020E0502030303020204" pitchFamily="34" charset="0"/>
              </a:defRPr>
            </a:lvl3pPr>
            <a:lvl4pPr marL="1371600" indent="0">
              <a:buNone/>
              <a:defRPr sz="1000">
                <a:latin typeface="Candara" panose="020E0502030303020204" pitchFamily="34" charset="0"/>
              </a:defRPr>
            </a:lvl4pPr>
            <a:lvl5pPr marL="1828800" indent="0">
              <a:buNone/>
              <a:defRPr sz="1000">
                <a:latin typeface="Candara" panose="020E0502030303020204" pitchFamily="34" charset="0"/>
              </a:defRPr>
            </a:lvl5pPr>
            <a:lvl6pPr marL="2286000" indent="0">
              <a:buNone/>
              <a:defRPr sz="1000">
                <a:latin typeface="Candara" panose="020E0502030303020204" pitchFamily="34" charset="0"/>
              </a:defRPr>
            </a:lvl6pPr>
            <a:lvl7pPr marL="2743200" indent="0">
              <a:buNone/>
              <a:defRPr sz="1000">
                <a:latin typeface="Candara" panose="020E0502030303020204" pitchFamily="34" charset="0"/>
              </a:defRPr>
            </a:lvl7pPr>
            <a:lvl8pPr marL="3200400" indent="0">
              <a:buNone/>
              <a:defRPr sz="1000">
                <a:latin typeface="Candara" panose="020E0502030303020204" pitchFamily="34" charset="0"/>
              </a:defRPr>
            </a:lvl8pPr>
            <a:lvl9pPr marL="3657600" indent="0">
              <a:buNone/>
              <a:defRPr sz="1000">
                <a:latin typeface="Candara" panose="020E0502030303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EFA80-F07F-458E-80DB-61831943A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fld id="{9351F72D-EA3D-46A2-B53E-E9378EBFE7FE}" type="datetimeFigureOut">
              <a:rPr lang="en-GB" smtClean="0"/>
              <a:pPr/>
              <a:t>14/05/2026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77CB5-5AD9-40C3-B9FB-0FA972ACF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49A8C-A18B-45C0-BA83-94ECAC7E1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fld id="{05EA7042-E667-43C8-980A-4100FA190E6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60782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C7E1F-A787-4EED-828D-4035F939A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>
                <a:latin typeface="Candara" panose="020E05020303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B72F7F-2114-4CC7-AC93-A362DEA3A8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>
                <a:latin typeface="Candara" panose="020E0502030303020204" pitchFamily="34" charset="0"/>
              </a:defRPr>
            </a:lvl1pPr>
            <a:lvl2pPr marL="457200" indent="0">
              <a:buNone/>
              <a:defRPr sz="2800">
                <a:latin typeface="Candara" panose="020E0502030303020204" pitchFamily="34" charset="0"/>
              </a:defRPr>
            </a:lvl2pPr>
            <a:lvl3pPr marL="914400" indent="0">
              <a:buNone/>
              <a:defRPr sz="2400">
                <a:latin typeface="Candara" panose="020E0502030303020204" pitchFamily="34" charset="0"/>
              </a:defRPr>
            </a:lvl3pPr>
            <a:lvl4pPr marL="1371600" indent="0">
              <a:buNone/>
              <a:defRPr sz="2000">
                <a:latin typeface="Candara" panose="020E0502030303020204" pitchFamily="34" charset="0"/>
              </a:defRPr>
            </a:lvl4pPr>
            <a:lvl5pPr marL="1828800" indent="0">
              <a:buNone/>
              <a:defRPr sz="2000">
                <a:latin typeface="Candara" panose="020E0502030303020204" pitchFamily="34" charset="0"/>
              </a:defRPr>
            </a:lvl5pPr>
            <a:lvl6pPr marL="2286000" indent="0">
              <a:buNone/>
              <a:defRPr sz="2000">
                <a:latin typeface="Candara" panose="020E0502030303020204" pitchFamily="34" charset="0"/>
              </a:defRPr>
            </a:lvl6pPr>
            <a:lvl7pPr marL="2743200" indent="0">
              <a:buNone/>
              <a:defRPr sz="2000">
                <a:latin typeface="Candara" panose="020E0502030303020204" pitchFamily="34" charset="0"/>
              </a:defRPr>
            </a:lvl7pPr>
            <a:lvl8pPr marL="3200400" indent="0">
              <a:buNone/>
              <a:defRPr sz="2000">
                <a:latin typeface="Candara" panose="020E0502030303020204" pitchFamily="34" charset="0"/>
              </a:defRPr>
            </a:lvl8pPr>
            <a:lvl9pPr marL="3657600" indent="0">
              <a:buNone/>
              <a:defRPr sz="2000">
                <a:latin typeface="Candara" panose="020E0502030303020204" pitchFamily="34" charset="0"/>
              </a:defRPr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E14C0E-7FDD-4E16-BFBE-4111B4F11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>
                <a:latin typeface="Candara" panose="020E0502030303020204" pitchFamily="34" charset="0"/>
              </a:defRPr>
            </a:lvl1pPr>
            <a:lvl2pPr marL="457200" indent="0">
              <a:buNone/>
              <a:defRPr sz="1400">
                <a:latin typeface="Candara" panose="020E0502030303020204" pitchFamily="34" charset="0"/>
              </a:defRPr>
            </a:lvl2pPr>
            <a:lvl3pPr marL="914400" indent="0">
              <a:buNone/>
              <a:defRPr sz="1200">
                <a:latin typeface="Candara" panose="020E0502030303020204" pitchFamily="34" charset="0"/>
              </a:defRPr>
            </a:lvl3pPr>
            <a:lvl4pPr marL="1371600" indent="0">
              <a:buNone/>
              <a:defRPr sz="1000">
                <a:latin typeface="Candara" panose="020E0502030303020204" pitchFamily="34" charset="0"/>
              </a:defRPr>
            </a:lvl4pPr>
            <a:lvl5pPr marL="1828800" indent="0">
              <a:buNone/>
              <a:defRPr sz="1000">
                <a:latin typeface="Candara" panose="020E0502030303020204" pitchFamily="34" charset="0"/>
              </a:defRPr>
            </a:lvl5pPr>
            <a:lvl6pPr marL="2286000" indent="0">
              <a:buNone/>
              <a:defRPr sz="1000">
                <a:latin typeface="Candara" panose="020E0502030303020204" pitchFamily="34" charset="0"/>
              </a:defRPr>
            </a:lvl6pPr>
            <a:lvl7pPr marL="2743200" indent="0">
              <a:buNone/>
              <a:defRPr sz="1000">
                <a:latin typeface="Candara" panose="020E0502030303020204" pitchFamily="34" charset="0"/>
              </a:defRPr>
            </a:lvl7pPr>
            <a:lvl8pPr marL="3200400" indent="0">
              <a:buNone/>
              <a:defRPr sz="1000">
                <a:latin typeface="Candara" panose="020E0502030303020204" pitchFamily="34" charset="0"/>
              </a:defRPr>
            </a:lvl8pPr>
            <a:lvl9pPr marL="3657600" indent="0">
              <a:buNone/>
              <a:defRPr sz="1000">
                <a:latin typeface="Candara" panose="020E0502030303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F8D95-E272-4987-94AC-F814B9568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fld id="{9351F72D-EA3D-46A2-B53E-E9378EBFE7FE}" type="datetimeFigureOut">
              <a:rPr lang="en-GB" smtClean="0"/>
              <a:pPr/>
              <a:t>14/05/2026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21A42-78EA-40F5-954A-06D0D0C0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FE627-311B-4918-872C-812601ADD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fld id="{05EA7042-E667-43C8-980A-4100FA190E6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68576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E58E4-CAFC-4E79-9819-54BF503B5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DE120-76DE-4FEF-B8D2-2980F6693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B370D-8EBE-4E61-AB93-104E3F593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fld id="{9351F72D-EA3D-46A2-B53E-E9378EBFE7FE}" type="datetimeFigureOut">
              <a:rPr lang="en-GB" smtClean="0"/>
              <a:pPr/>
              <a:t>14/05/2026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A253C-7D7E-4DBA-B5A1-F2AC5AA4A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B509C-92DF-4DA7-B3DF-CC9F469A9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fld id="{05EA7042-E667-43C8-980A-4100FA190E6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5176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7FCA57-3EEF-4F3D-977F-471E0FFCED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7B0C3D-46FF-49AD-8A0F-A9F6B3F4E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1BCAC-A52A-4B89-B88D-0C9C31598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fld id="{9351F72D-EA3D-46A2-B53E-E9378EBFE7FE}" type="datetimeFigureOut">
              <a:rPr lang="en-GB" smtClean="0"/>
              <a:pPr/>
              <a:t>14/05/2026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7EFC4-B89F-4933-B2DA-975AF31B6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45557-835E-448E-8F04-5E180B678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</a:lstStyle>
          <a:p>
            <a:fld id="{05EA7042-E667-43C8-980A-4100FA190E6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6282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  <a:latin typeface="Candara" panose="020E0502030303020204" pitchFamily="34" charset="0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  <a:latin typeface="Candara" panose="020E0502030303020204" pitchFamily="34" charset="0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  <a:latin typeface="Candara" panose="020E0502030303020204" pitchFamily="34" charset="0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  <a:latin typeface="Candara" panose="020E0502030303020204" pitchFamily="34" charset="0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  <a:latin typeface="Candara" panose="020E0502030303020204" pitchFamily="34" charset="0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  <a:latin typeface="Candara" panose="020E0502030303020204" pitchFamily="34" charset="0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  <a:latin typeface="Candara" panose="020E0502030303020204" pitchFamily="34" charset="0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  <a:latin typeface="Candara" panose="020E0502030303020204" pitchFamily="34" charset="0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Candara" panose="020E0502030303020204" pitchFamily="34" charset="0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Candara" panose="020E0502030303020204" pitchFamily="34" charset="0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Candara" panose="020E0502030303020204" pitchFamily="34" charset="0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Candara" panose="020E0502030303020204" pitchFamily="34" charset="0"/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64" r:id="rId3"/>
    <p:sldLayoutId id="2147483679" r:id="rId4"/>
    <p:sldLayoutId id="2147483680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Candara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B51ABA-7899-4933-8A5A-63C26C0E0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0ADF5-441C-4872-9C72-E0A876FAB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E711B-078C-40E8-987E-DA98F80A49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1F72D-EA3D-46A2-B53E-E9378EBFE7FE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618C3-2574-46EA-91EF-94BC54674C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DFFD7-3D66-427B-9197-310F7FFBE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A7042-E667-43C8-980A-4100FA190E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53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5406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54061"/>
          </a:solidFill>
          <a:latin typeface="Candara" panose="020E05020303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54061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54061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5406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5406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hadow4.readthedocs.io/en/latest/shadow4.beam.html#shadow4.beam.s4_beam.S4Beam.apply_attenuation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A1271D0-9E0F-4467-A265-ABAFC1F1A0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1</a:t>
            </a:fld>
            <a:endParaRPr lang="en-GB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256032" y="1277276"/>
            <a:ext cx="8646566" cy="35702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822960">
              <a:buClrTx/>
            </a:pPr>
            <a:r>
              <a:rPr lang="en-US" sz="2800" b="1" kern="120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Hands-on scripting</a:t>
            </a:r>
          </a:p>
          <a:p>
            <a:pPr algn="ctr" defTabSz="822960">
              <a:buClrTx/>
            </a:pPr>
            <a:r>
              <a:rPr lang="en-GB" sz="2000" kern="1200" noProof="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Juan Reyes Herrera</a:t>
            </a:r>
          </a:p>
          <a:p>
            <a:pPr algn="ctr" defTabSz="822960">
              <a:buClrTx/>
            </a:pPr>
            <a:r>
              <a:rPr lang="en-GB" sz="1200" kern="120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juan.reyesherrera@elettra.eu</a:t>
            </a:r>
            <a:endParaRPr lang="en-GB" sz="1200" kern="1200" noProof="0" dirty="0">
              <a:solidFill>
                <a:srgbClr val="254061"/>
              </a:solidFill>
              <a:latin typeface="Candara" panose="020E0502030303020204" pitchFamily="34" charset="0"/>
              <a:ea typeface="+mn-ea"/>
              <a:cs typeface="+mn-cs"/>
            </a:endParaRPr>
          </a:p>
          <a:p>
            <a:pPr algn="ctr" defTabSz="822960">
              <a:buClrTx/>
            </a:pPr>
            <a:endParaRPr lang="en-GB" sz="800" kern="1200" noProof="0" dirty="0">
              <a:solidFill>
                <a:srgbClr val="254061"/>
              </a:solidFill>
              <a:latin typeface="Candara" panose="020E0502030303020204" pitchFamily="34" charset="0"/>
              <a:ea typeface="+mn-ea"/>
              <a:cs typeface="+mn-cs"/>
            </a:endParaRPr>
          </a:p>
          <a:p>
            <a:pPr algn="ctr" defTabSz="822960">
              <a:buClrTx/>
            </a:pPr>
            <a:r>
              <a:rPr lang="en-GB" sz="1800" kern="1200" noProof="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Optics group, </a:t>
            </a:r>
            <a:r>
              <a:rPr lang="en-GB" sz="1800" b="1" kern="1200" noProof="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Elettra</a:t>
            </a:r>
            <a:r>
              <a:rPr lang="en-GB" sz="1800" kern="1200" noProof="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 </a:t>
            </a:r>
            <a:r>
              <a:rPr lang="en-GB" sz="1800" kern="120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Sincrotrone Trieste, </a:t>
            </a:r>
            <a:r>
              <a:rPr lang="en-GB" sz="1800" kern="1200" noProof="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Italy</a:t>
            </a:r>
          </a:p>
          <a:p>
            <a:pPr algn="ctr" defTabSz="822960">
              <a:buClrTx/>
            </a:pPr>
            <a:endParaRPr lang="en-GB" sz="1800" kern="1200" dirty="0">
              <a:solidFill>
                <a:srgbClr val="254061"/>
              </a:solidFill>
              <a:latin typeface="Candara" panose="020E0502030303020204" pitchFamily="34" charset="0"/>
              <a:ea typeface="+mn-ea"/>
              <a:cs typeface="+mn-cs"/>
            </a:endParaRPr>
          </a:p>
          <a:p>
            <a:pPr algn="ctr" defTabSz="822960">
              <a:buClrTx/>
            </a:pPr>
            <a:endParaRPr lang="en-GB" sz="1800" kern="1200" noProof="0" dirty="0">
              <a:solidFill>
                <a:srgbClr val="254061"/>
              </a:solidFill>
              <a:latin typeface="Candara" panose="020E0502030303020204" pitchFamily="34" charset="0"/>
              <a:ea typeface="+mn-ea"/>
              <a:cs typeface="+mn-cs"/>
            </a:endParaRPr>
          </a:p>
          <a:p>
            <a:pPr algn="ctr" defTabSz="822960">
              <a:buClrTx/>
            </a:pPr>
            <a:endParaRPr lang="en-GB" sz="1800" kern="1200" dirty="0">
              <a:solidFill>
                <a:srgbClr val="254061"/>
              </a:solidFill>
              <a:latin typeface="Candara" panose="020E0502030303020204" pitchFamily="34" charset="0"/>
              <a:ea typeface="+mn-ea"/>
              <a:cs typeface="+mn-cs"/>
            </a:endParaRPr>
          </a:p>
          <a:p>
            <a:pPr algn="ctr" defTabSz="822960">
              <a:buClrTx/>
            </a:pPr>
            <a:r>
              <a:rPr lang="en-GB" sz="1800" kern="1200" noProof="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Friday 20, 2026</a:t>
            </a:r>
          </a:p>
          <a:p>
            <a:pPr algn="ctr" defTabSz="822960">
              <a:buClrTx/>
            </a:pPr>
            <a:r>
              <a:rPr lang="en-GB" sz="1800" kern="1200" noProof="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ESRF Visitor Center</a:t>
            </a:r>
          </a:p>
          <a:p>
            <a:pPr algn="ctr" defTabSz="822960">
              <a:buClrTx/>
            </a:pPr>
            <a:r>
              <a:rPr lang="en-GB" sz="1800" kern="120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EPN Campus, Grenoble, France</a:t>
            </a:r>
            <a:endParaRPr lang="en-GB" sz="1800" kern="1200" noProof="0" dirty="0">
              <a:solidFill>
                <a:srgbClr val="254061"/>
              </a:solidFill>
              <a:latin typeface="Candara" panose="020E0502030303020204" pitchFamily="34" charset="0"/>
              <a:ea typeface="+mn-ea"/>
              <a:cs typeface="+mn-cs"/>
            </a:endParaRPr>
          </a:p>
          <a:p>
            <a:pPr algn="ctr" defTabSz="822960">
              <a:buClrTx/>
            </a:pPr>
            <a:endParaRPr lang="en-GB" sz="1800" kern="1200" noProof="0" dirty="0">
              <a:solidFill>
                <a:srgbClr val="254061"/>
              </a:solidFill>
              <a:latin typeface="Candara" panose="020E0502030303020204" pitchFamily="34" charset="0"/>
              <a:ea typeface="+mn-ea"/>
              <a:cs typeface="+mn-cs"/>
            </a:endParaRPr>
          </a:p>
          <a:p>
            <a:pPr algn="ctr" defTabSz="822960">
              <a:buClrTx/>
            </a:pPr>
            <a:endParaRPr lang="en-GB" b="1" kern="1200" dirty="0">
              <a:solidFill>
                <a:srgbClr val="254061"/>
              </a:solidFill>
              <a:latin typeface="Candara" panose="020E0502030303020204" pitchFamily="34" charset="0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40264B-10C2-4C45-BCF0-61A069AAD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423" y="269542"/>
            <a:ext cx="2023175" cy="9291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32A31E-AA25-4C2E-A52C-6BA91AB381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5547" y="3147952"/>
            <a:ext cx="1519624" cy="101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399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780D9D-F055-9908-73B5-04D92A006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A8BC7-CAA7-56C0-704F-8C21DCEB45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2</a:t>
            </a:fld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33A35-7460-2F76-8F72-4BBE509BD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5" y="62425"/>
            <a:ext cx="9039600" cy="553968"/>
          </a:xfrm>
        </p:spPr>
        <p:txBody>
          <a:bodyPr/>
          <a:lstStyle/>
          <a:p>
            <a:pPr algn="ctr" defTabSz="822960">
              <a:buClrTx/>
            </a:pPr>
            <a:r>
              <a:rPr lang="en-US" sz="2400" b="1" kern="120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Hands-on scripting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7455BB-6493-697F-CBCC-F2833DF7D32B}"/>
              </a:ext>
            </a:extLst>
          </p:cNvPr>
          <p:cNvSpPr txBox="1"/>
          <p:nvPr/>
        </p:nvSpPr>
        <p:spPr>
          <a:xfrm>
            <a:off x="294319" y="1151004"/>
            <a:ext cx="63873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22960">
              <a:buClrTx/>
            </a:pPr>
            <a:r>
              <a:rPr lang="en-GB" sz="1800" kern="120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A few examples</a:t>
            </a:r>
            <a:r>
              <a:rPr lang="en-GB" sz="1800" kern="1200" noProof="0" dirty="0">
                <a:solidFill>
                  <a:srgbClr val="254061"/>
                </a:solidFill>
                <a:latin typeface="Candara" panose="020E0502030303020204" pitchFamily="34" charset="0"/>
                <a:ea typeface="+mn-ea"/>
                <a:cs typeface="+mn-cs"/>
              </a:rPr>
              <a:t>:</a:t>
            </a:r>
          </a:p>
          <a:p>
            <a:pPr marL="257175" indent="-257175" defTabSz="822960">
              <a:buClrTx/>
              <a:buFont typeface="Wingdings" panose="05000000000000000000" pitchFamily="2" charset="2"/>
              <a:buChar char="§"/>
            </a:pPr>
            <a:endParaRPr lang="en-US" sz="1800" kern="1200" dirty="0">
              <a:solidFill>
                <a:srgbClr val="254061"/>
              </a:solidFill>
              <a:latin typeface="Candara" panose="020E0502030303020204" pitchFamily="34" charset="0"/>
            </a:endParaRPr>
          </a:p>
          <a:p>
            <a:pPr marL="257175" indent="-257175" defTabSz="822960">
              <a:buClrTx/>
              <a:buFont typeface="Wingdings" panose="05000000000000000000" pitchFamily="2" charset="2"/>
              <a:buChar char="§"/>
            </a:pPr>
            <a:r>
              <a:rPr lang="en-US" sz="1800" kern="1200" dirty="0">
                <a:solidFill>
                  <a:srgbClr val="254061"/>
                </a:solidFill>
                <a:latin typeface="Candara" panose="020E0502030303020204" pitchFamily="34" charset="0"/>
              </a:rPr>
              <a:t>Python scripts on OASYS GUI - SHADOW4</a:t>
            </a:r>
          </a:p>
          <a:p>
            <a:pPr marL="257175" indent="-257175" defTabSz="822960">
              <a:buClrTx/>
              <a:buFont typeface="Wingdings" panose="05000000000000000000" pitchFamily="2" charset="2"/>
              <a:buChar char="§"/>
            </a:pPr>
            <a:endParaRPr lang="en-US" sz="1800" kern="1200" dirty="0">
              <a:solidFill>
                <a:srgbClr val="254061"/>
              </a:solidFill>
              <a:latin typeface="Candara" panose="020E0502030303020204" pitchFamily="34" charset="0"/>
            </a:endParaRPr>
          </a:p>
          <a:p>
            <a:pPr marL="257175" indent="-257175" defTabSz="822960">
              <a:buClrTx/>
              <a:buFont typeface="Wingdings" panose="05000000000000000000" pitchFamily="2" charset="2"/>
              <a:buChar char="§"/>
            </a:pPr>
            <a:r>
              <a:rPr lang="en-US" sz="1800" kern="1200" dirty="0">
                <a:solidFill>
                  <a:srgbClr val="254061"/>
                </a:solidFill>
                <a:latin typeface="Candara" panose="020E0502030303020204" pitchFamily="34" charset="0"/>
              </a:rPr>
              <a:t>Estimating PI using SHADOW4</a:t>
            </a:r>
          </a:p>
          <a:p>
            <a:pPr marL="257175" indent="-257175" defTabSz="822960">
              <a:buClrTx/>
              <a:buFont typeface="Wingdings" panose="05000000000000000000" pitchFamily="2" charset="2"/>
              <a:buChar char="§"/>
            </a:pPr>
            <a:endParaRPr lang="en-US" sz="1800" kern="1200" dirty="0">
              <a:solidFill>
                <a:srgbClr val="254061"/>
              </a:solidFill>
              <a:latin typeface="Candara" panose="020E0502030303020204" pitchFamily="34" charset="0"/>
            </a:endParaRPr>
          </a:p>
          <a:p>
            <a:pPr marL="257175" indent="-257175" defTabSz="822960">
              <a:buClrTx/>
              <a:buFont typeface="Wingdings" panose="05000000000000000000" pitchFamily="2" charset="2"/>
              <a:buChar char="§"/>
            </a:pPr>
            <a:r>
              <a:rPr lang="en-US" sz="1800" kern="1200" dirty="0">
                <a:solidFill>
                  <a:srgbClr val="254061"/>
                </a:solidFill>
                <a:latin typeface="Candara" panose="020E0502030303020204" pitchFamily="34" charset="0"/>
              </a:rPr>
              <a:t>Full scripting: Mirror angular misalignments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BD3BF19-C650-46CD-A5C6-DDE884F76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482" y="791042"/>
            <a:ext cx="1175871" cy="116770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063C8D6-F5C4-4684-B1F3-C7CD82811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7733" y="2187387"/>
            <a:ext cx="1543797" cy="1543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9255750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F851E-D277-932A-4633-D8CD0698C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8857E-B458-134F-4422-9DC976518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5" y="62425"/>
            <a:ext cx="9039600" cy="553968"/>
          </a:xfrm>
        </p:spPr>
        <p:txBody>
          <a:bodyPr/>
          <a:lstStyle/>
          <a:p>
            <a:pPr algn="ctr" defTabSz="822960">
              <a:buClrTx/>
            </a:pPr>
            <a:r>
              <a:rPr lang="en-US" kern="1200" dirty="0">
                <a:ea typeface="+mn-ea"/>
                <a:cs typeface="+mn-cs"/>
              </a:rPr>
              <a:t>Python scripts on OASYS GUI - SHADOW4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C8397-D63C-7691-BB87-3EFDB9376A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3</a:t>
            </a:fld>
            <a:endParaRPr lang="en-GB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7009A60-18FA-43EE-9E6E-57CC3305989B}"/>
              </a:ext>
            </a:extLst>
          </p:cNvPr>
          <p:cNvSpPr/>
          <p:nvPr/>
        </p:nvSpPr>
        <p:spPr>
          <a:xfrm>
            <a:off x="192001" y="712807"/>
            <a:ext cx="87425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990033"/>
                </a:solidFill>
                <a:latin typeface="+mn-lt"/>
              </a:rPr>
              <a:t>In OASYS is possible to use Python scripts directly integrated into your visual workflows, example: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99225B-CA36-4883-A715-273E33FBF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045" y="1407009"/>
            <a:ext cx="4303851" cy="262540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854DDFB-5BE2-475B-823D-B7E92E7EF831}"/>
              </a:ext>
            </a:extLst>
          </p:cNvPr>
          <p:cNvCxnSpPr/>
          <p:nvPr/>
        </p:nvCxnSpPr>
        <p:spPr>
          <a:xfrm>
            <a:off x="2239618" y="1901687"/>
            <a:ext cx="7487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E19CFF6-09D6-4D2F-8DD9-2A61A984B928}"/>
              </a:ext>
            </a:extLst>
          </p:cNvPr>
          <p:cNvSpPr txBox="1"/>
          <p:nvPr/>
        </p:nvSpPr>
        <p:spPr>
          <a:xfrm>
            <a:off x="1391479" y="1539078"/>
            <a:ext cx="98728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54061"/>
                </a:solidFill>
                <a:latin typeface="+mn-lt"/>
              </a:rPr>
              <a:t>Using a script as source</a:t>
            </a:r>
            <a:endParaRPr lang="en-US" dirty="0">
              <a:solidFill>
                <a:srgbClr val="25406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1EA534-82A7-465D-8039-5BCCB4F87B61}"/>
              </a:ext>
            </a:extLst>
          </p:cNvPr>
          <p:cNvSpPr txBox="1"/>
          <p:nvPr/>
        </p:nvSpPr>
        <p:spPr>
          <a:xfrm>
            <a:off x="3299793" y="2400470"/>
            <a:ext cx="15372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54061"/>
                </a:solidFill>
                <a:latin typeface="+mn-lt"/>
              </a:rPr>
              <a:t>Using a script to modify a beam</a:t>
            </a:r>
            <a:endParaRPr lang="en-US" dirty="0">
              <a:solidFill>
                <a:srgbClr val="25406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2188EB8-50E0-44E4-B407-24AB98E50D4E}"/>
              </a:ext>
            </a:extLst>
          </p:cNvPr>
          <p:cNvCxnSpPr>
            <a:cxnSpLocks/>
          </p:cNvCxnSpPr>
          <p:nvPr/>
        </p:nvCxnSpPr>
        <p:spPr>
          <a:xfrm>
            <a:off x="3995531" y="2869095"/>
            <a:ext cx="0" cy="258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08850B4-ACDD-4B9B-BF23-4FCF6554B6C8}"/>
              </a:ext>
            </a:extLst>
          </p:cNvPr>
          <p:cNvSpPr txBox="1"/>
          <p:nvPr/>
        </p:nvSpPr>
        <p:spPr>
          <a:xfrm>
            <a:off x="357810" y="4106590"/>
            <a:ext cx="8514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+mn-lt"/>
                <a:hlinkClick r:id="rId3"/>
              </a:rPr>
              <a:t>https://shadow4.readthedocs.io/en/latest/shadow4.beam.html#shadow4.beam.s4_beam.S4Beam.apply_attenuation</a:t>
            </a:r>
            <a:r>
              <a:rPr lang="en-US" sz="1100" dirty="0"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9620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F851E-D277-932A-4633-D8CD0698C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8857E-B458-134F-4422-9DC976518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5" y="62425"/>
            <a:ext cx="9039600" cy="553968"/>
          </a:xfrm>
        </p:spPr>
        <p:txBody>
          <a:bodyPr/>
          <a:lstStyle/>
          <a:p>
            <a:pPr algn="ctr" defTabSz="822960">
              <a:buClrTx/>
            </a:pPr>
            <a:r>
              <a:rPr lang="en-US" kern="1200" dirty="0">
                <a:ea typeface="+mn-ea"/>
                <a:cs typeface="+mn-cs"/>
              </a:rPr>
              <a:t>Estimating PI using SHADOW4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C8397-D63C-7691-BB87-3EFDB9376A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4</a:t>
            </a:fld>
            <a:endParaRPr lang="en-GB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7009A60-18FA-43EE-9E6E-57CC3305989B}"/>
              </a:ext>
            </a:extLst>
          </p:cNvPr>
          <p:cNvSpPr/>
          <p:nvPr/>
        </p:nvSpPr>
        <p:spPr>
          <a:xfrm>
            <a:off x="192001" y="712807"/>
            <a:ext cx="87425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+mn-lt"/>
              </a:rPr>
              <a:t>As an example of SHADOW4 scripting we can use its Monte Carlo random sampling to estimate PI.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D96E75F-B4D5-4196-AAA8-B4170158BA68}"/>
              </a:ext>
            </a:extLst>
          </p:cNvPr>
          <p:cNvGrpSpPr/>
          <p:nvPr/>
        </p:nvGrpSpPr>
        <p:grpSpPr>
          <a:xfrm>
            <a:off x="854765" y="2166731"/>
            <a:ext cx="3676815" cy="1602848"/>
            <a:chOff x="854765" y="2166731"/>
            <a:chExt cx="3676815" cy="160284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33E4C50-1DB9-490B-814B-86709DBD1000}"/>
                </a:ext>
              </a:extLst>
            </p:cNvPr>
            <p:cNvSpPr/>
            <p:nvPr/>
          </p:nvSpPr>
          <p:spPr>
            <a:xfrm>
              <a:off x="854765" y="2922106"/>
              <a:ext cx="135580" cy="125894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2540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CA4DB19-94D9-469D-BEA9-3782F0B2A962}"/>
                </a:ext>
              </a:extLst>
            </p:cNvPr>
            <p:cNvCxnSpPr>
              <a:cxnSpLocks/>
              <a:stCxn id="6" idx="6"/>
              <a:endCxn id="18" idx="3"/>
            </p:cNvCxnSpPr>
            <p:nvPr/>
          </p:nvCxnSpPr>
          <p:spPr>
            <a:xfrm flipV="1">
              <a:off x="990345" y="2457546"/>
              <a:ext cx="2057724" cy="527507"/>
            </a:xfrm>
            <a:prstGeom prst="line">
              <a:avLst/>
            </a:prstGeom>
            <a:ln>
              <a:solidFill>
                <a:srgbClr val="25406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AB7097D-FAB4-4FE8-876F-A41799D9E82C}"/>
                </a:ext>
              </a:extLst>
            </p:cNvPr>
            <p:cNvSpPr/>
            <p:nvPr/>
          </p:nvSpPr>
          <p:spPr>
            <a:xfrm>
              <a:off x="3823252" y="3266661"/>
              <a:ext cx="4571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F682698-71F2-442A-8AA3-53B77849D1D3}"/>
                </a:ext>
              </a:extLst>
            </p:cNvPr>
            <p:cNvSpPr/>
            <p:nvPr/>
          </p:nvSpPr>
          <p:spPr>
            <a:xfrm>
              <a:off x="4333461" y="3319670"/>
              <a:ext cx="4571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C9E58D0-B892-4C78-BD59-8213220CCE65}"/>
                </a:ext>
              </a:extLst>
            </p:cNvPr>
            <p:cNvSpPr/>
            <p:nvPr/>
          </p:nvSpPr>
          <p:spPr>
            <a:xfrm>
              <a:off x="4485861" y="3472070"/>
              <a:ext cx="4571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B0BEEF4-911C-47FE-9EFC-19D9C306BFBA}"/>
                </a:ext>
              </a:extLst>
            </p:cNvPr>
            <p:cNvSpPr/>
            <p:nvPr/>
          </p:nvSpPr>
          <p:spPr>
            <a:xfrm>
              <a:off x="3690731" y="2484783"/>
              <a:ext cx="4571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A0A6520-441C-43DB-9035-15F4C305405C}"/>
                </a:ext>
              </a:extLst>
            </p:cNvPr>
            <p:cNvSpPr/>
            <p:nvPr/>
          </p:nvSpPr>
          <p:spPr>
            <a:xfrm>
              <a:off x="3260035" y="2637183"/>
              <a:ext cx="4571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13B7F19-10C2-44FD-85B5-C1DD57022509}"/>
                </a:ext>
              </a:extLst>
            </p:cNvPr>
            <p:cNvSpPr/>
            <p:nvPr/>
          </p:nvSpPr>
          <p:spPr>
            <a:xfrm>
              <a:off x="3982278" y="2756452"/>
              <a:ext cx="4571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6706C64-E276-40C8-B8F4-F67361767BED}"/>
                </a:ext>
              </a:extLst>
            </p:cNvPr>
            <p:cNvSpPr/>
            <p:nvPr/>
          </p:nvSpPr>
          <p:spPr>
            <a:xfrm>
              <a:off x="3041374" y="2418522"/>
              <a:ext cx="4571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DB90463-6D9B-4212-B64C-C967518441B9}"/>
                </a:ext>
              </a:extLst>
            </p:cNvPr>
            <p:cNvSpPr/>
            <p:nvPr/>
          </p:nvSpPr>
          <p:spPr>
            <a:xfrm>
              <a:off x="4141304" y="2166731"/>
              <a:ext cx="4571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8801CEF-8BF0-47A1-97FE-9DE32B9470E2}"/>
                </a:ext>
              </a:extLst>
            </p:cNvPr>
            <p:cNvSpPr/>
            <p:nvPr/>
          </p:nvSpPr>
          <p:spPr>
            <a:xfrm>
              <a:off x="4141304" y="2392018"/>
              <a:ext cx="4571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B015CF5-C9EE-4918-B1DB-94EBD2F77D37}"/>
                </a:ext>
              </a:extLst>
            </p:cNvPr>
            <p:cNvSpPr/>
            <p:nvPr/>
          </p:nvSpPr>
          <p:spPr>
            <a:xfrm>
              <a:off x="4293704" y="2544418"/>
              <a:ext cx="4571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111155C-7AE2-4394-95DA-91458AA34161}"/>
                </a:ext>
              </a:extLst>
            </p:cNvPr>
            <p:cNvSpPr/>
            <p:nvPr/>
          </p:nvSpPr>
          <p:spPr>
            <a:xfrm>
              <a:off x="4465982" y="2319131"/>
              <a:ext cx="4571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3B1502C-FB39-4E64-9925-6F3BEE90919A}"/>
                </a:ext>
              </a:extLst>
            </p:cNvPr>
            <p:cNvSpPr/>
            <p:nvPr/>
          </p:nvSpPr>
          <p:spPr>
            <a:xfrm>
              <a:off x="3843131" y="2411896"/>
              <a:ext cx="4571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BC146B6-EB92-4D72-B23E-1B1B4EB965AC}"/>
                </a:ext>
              </a:extLst>
            </p:cNvPr>
            <p:cNvSpPr/>
            <p:nvPr/>
          </p:nvSpPr>
          <p:spPr>
            <a:xfrm>
              <a:off x="3843131" y="2637183"/>
              <a:ext cx="4571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DEFC446-6DBA-44DB-85BB-FCA1A56F5E06}"/>
                </a:ext>
              </a:extLst>
            </p:cNvPr>
            <p:cNvSpPr/>
            <p:nvPr/>
          </p:nvSpPr>
          <p:spPr>
            <a:xfrm>
              <a:off x="3412435" y="2789583"/>
              <a:ext cx="4571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A310E13-A7EE-4AA6-AE5F-5CC547C0D5CF}"/>
                </a:ext>
              </a:extLst>
            </p:cNvPr>
            <p:cNvSpPr/>
            <p:nvPr/>
          </p:nvSpPr>
          <p:spPr>
            <a:xfrm>
              <a:off x="4426226" y="3723860"/>
              <a:ext cx="4571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3065644-4DFF-4783-BE0D-C64A261C1A16}"/>
                </a:ext>
              </a:extLst>
            </p:cNvPr>
            <p:cNvSpPr/>
            <p:nvPr/>
          </p:nvSpPr>
          <p:spPr>
            <a:xfrm>
              <a:off x="3491948" y="3134139"/>
              <a:ext cx="4571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6E360BB-4E07-487D-AFB9-2C83B939EE8F}"/>
                </a:ext>
              </a:extLst>
            </p:cNvPr>
            <p:cNvSpPr/>
            <p:nvPr/>
          </p:nvSpPr>
          <p:spPr>
            <a:xfrm>
              <a:off x="3491948" y="3359426"/>
              <a:ext cx="4571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45412CA-03F8-41DE-B729-A01FA7481E8F}"/>
                </a:ext>
              </a:extLst>
            </p:cNvPr>
            <p:cNvSpPr/>
            <p:nvPr/>
          </p:nvSpPr>
          <p:spPr>
            <a:xfrm>
              <a:off x="3061252" y="3511826"/>
              <a:ext cx="4571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87869A4-FB34-4E59-A3A1-16B68E9BA01E}"/>
                </a:ext>
              </a:extLst>
            </p:cNvPr>
            <p:cNvSpPr/>
            <p:nvPr/>
          </p:nvSpPr>
          <p:spPr>
            <a:xfrm>
              <a:off x="3783495" y="3631095"/>
              <a:ext cx="4571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EF325AD-FE3D-4B72-AF38-058D337AA049}"/>
                </a:ext>
              </a:extLst>
            </p:cNvPr>
            <p:cNvSpPr/>
            <p:nvPr/>
          </p:nvSpPr>
          <p:spPr>
            <a:xfrm>
              <a:off x="3955773" y="3014869"/>
              <a:ext cx="4571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EEAA241-6A7F-4CBB-8F3D-DA4104584623}"/>
                </a:ext>
              </a:extLst>
            </p:cNvPr>
            <p:cNvSpPr/>
            <p:nvPr/>
          </p:nvSpPr>
          <p:spPr>
            <a:xfrm>
              <a:off x="3955773" y="3240156"/>
              <a:ext cx="4571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0787775-AE71-4F2E-AA51-175C55E28728}"/>
                </a:ext>
              </a:extLst>
            </p:cNvPr>
            <p:cNvSpPr/>
            <p:nvPr/>
          </p:nvSpPr>
          <p:spPr>
            <a:xfrm>
              <a:off x="3392556" y="2385391"/>
              <a:ext cx="4571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F41612F-BE73-4D85-9E8B-BB284DE8149B}"/>
                </a:ext>
              </a:extLst>
            </p:cNvPr>
            <p:cNvSpPr/>
            <p:nvPr/>
          </p:nvSpPr>
          <p:spPr>
            <a:xfrm>
              <a:off x="4108173" y="3167269"/>
              <a:ext cx="4571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26B9F64-9C2D-42B4-AA91-3E055EF5E5D9}"/>
                </a:ext>
              </a:extLst>
            </p:cNvPr>
            <p:cNvSpPr/>
            <p:nvPr/>
          </p:nvSpPr>
          <p:spPr>
            <a:xfrm>
              <a:off x="3975652" y="2385391"/>
              <a:ext cx="4571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47545E8-39C5-4B4C-9A08-F8B6968BEEB0}"/>
                </a:ext>
              </a:extLst>
            </p:cNvPr>
            <p:cNvSpPr/>
            <p:nvPr/>
          </p:nvSpPr>
          <p:spPr>
            <a:xfrm>
              <a:off x="3544956" y="2537791"/>
              <a:ext cx="45719" cy="45719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12CE58E-86AA-4578-AD07-503331AB6458}"/>
                </a:ext>
              </a:extLst>
            </p:cNvPr>
            <p:cNvCxnSpPr>
              <a:cxnSpLocks/>
              <a:stCxn id="6" idx="6"/>
              <a:endCxn id="16" idx="2"/>
            </p:cNvCxnSpPr>
            <p:nvPr/>
          </p:nvCxnSpPr>
          <p:spPr>
            <a:xfrm flipV="1">
              <a:off x="990345" y="2660043"/>
              <a:ext cx="2269690" cy="325010"/>
            </a:xfrm>
            <a:prstGeom prst="line">
              <a:avLst/>
            </a:prstGeom>
            <a:ln>
              <a:solidFill>
                <a:srgbClr val="25406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4A81F23-8430-4C16-84E6-C3C966ABC85C}"/>
                </a:ext>
              </a:extLst>
            </p:cNvPr>
            <p:cNvCxnSpPr>
              <a:cxnSpLocks/>
              <a:stCxn id="6" idx="6"/>
              <a:endCxn id="10" idx="2"/>
            </p:cNvCxnSpPr>
            <p:nvPr/>
          </p:nvCxnSpPr>
          <p:spPr>
            <a:xfrm>
              <a:off x="990345" y="2985053"/>
              <a:ext cx="2832907" cy="304468"/>
            </a:xfrm>
            <a:prstGeom prst="line">
              <a:avLst/>
            </a:prstGeom>
            <a:ln>
              <a:solidFill>
                <a:srgbClr val="25406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578D8CA-6CDE-4D33-9621-09D1CA820838}"/>
                  </a:ext>
                </a:extLst>
              </p:cNvPr>
              <p:cNvSpPr txBox="1"/>
              <p:nvPr/>
            </p:nvSpPr>
            <p:spPr>
              <a:xfrm>
                <a:off x="5267739" y="2097156"/>
                <a:ext cx="2061462" cy="4685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circle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square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578D8CA-6CDE-4D33-9621-09D1CA820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7739" y="2097156"/>
                <a:ext cx="2061462" cy="4685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36794584-1DBD-4A02-A823-1810A0FFC482}"/>
              </a:ext>
            </a:extLst>
          </p:cNvPr>
          <p:cNvGrpSpPr/>
          <p:nvPr/>
        </p:nvGrpSpPr>
        <p:grpSpPr>
          <a:xfrm>
            <a:off x="3013052" y="2138277"/>
            <a:ext cx="1649895" cy="1649895"/>
            <a:chOff x="7047169" y="1492818"/>
            <a:chExt cx="1649895" cy="164989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9589F6-8FE2-482A-8515-9EE3F24E5695}"/>
                </a:ext>
              </a:extLst>
            </p:cNvPr>
            <p:cNvSpPr/>
            <p:nvPr/>
          </p:nvSpPr>
          <p:spPr>
            <a:xfrm>
              <a:off x="7047169" y="1492818"/>
              <a:ext cx="1649895" cy="1649895"/>
            </a:xfrm>
            <a:prstGeom prst="rect">
              <a:avLst/>
            </a:prstGeom>
            <a:noFill/>
            <a:ln w="12700">
              <a:solidFill>
                <a:srgbClr val="9900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546F266-C7B0-49A2-ADD7-23822D5CEF6C}"/>
                </a:ext>
              </a:extLst>
            </p:cNvPr>
            <p:cNvSpPr/>
            <p:nvPr/>
          </p:nvSpPr>
          <p:spPr>
            <a:xfrm>
              <a:off x="7067047" y="1506070"/>
              <a:ext cx="1623392" cy="1623392"/>
            </a:xfrm>
            <a:prstGeom prst="ellipse">
              <a:avLst/>
            </a:prstGeom>
            <a:noFill/>
            <a:ln>
              <a:solidFill>
                <a:srgbClr val="25406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B527EF3-CE51-442D-A393-A64C13411921}"/>
                </a:ext>
              </a:extLst>
            </p:cNvPr>
            <p:cNvCxnSpPr/>
            <p:nvPr/>
          </p:nvCxnSpPr>
          <p:spPr>
            <a:xfrm flipV="1">
              <a:off x="7895308" y="2175305"/>
              <a:ext cx="762000" cy="14577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F5B5132-8108-414A-8859-91AD804223E0}"/>
                    </a:ext>
                  </a:extLst>
                </p:cNvPr>
                <p:cNvSpPr txBox="1"/>
                <p:nvPr/>
              </p:nvSpPr>
              <p:spPr>
                <a:xfrm>
                  <a:off x="8147099" y="2004852"/>
                  <a:ext cx="304800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F5B5132-8108-414A-8859-91AD804223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7099" y="2004852"/>
                  <a:ext cx="304800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98F722E-A7E8-4005-BA60-02AD6D53E38B}"/>
                  </a:ext>
                </a:extLst>
              </p:cNvPr>
              <p:cNvSpPr txBox="1"/>
              <p:nvPr/>
            </p:nvSpPr>
            <p:spPr>
              <a:xfrm>
                <a:off x="5264360" y="3155512"/>
                <a:ext cx="3269485" cy="4473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number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points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inside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the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circle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number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point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inside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the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square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98F722E-A7E8-4005-BA60-02AD6D53E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4360" y="3155512"/>
                <a:ext cx="3269485" cy="447302"/>
              </a:xfrm>
              <a:prstGeom prst="rect">
                <a:avLst/>
              </a:prstGeom>
              <a:blipFill>
                <a:blip r:embed="rId4"/>
                <a:stretch>
                  <a:fillRect t="-1370" b="-16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4261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F851E-D277-932A-4633-D8CD0698C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8857E-B458-134F-4422-9DC976518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5" y="62425"/>
            <a:ext cx="9039600" cy="553968"/>
          </a:xfrm>
        </p:spPr>
        <p:txBody>
          <a:bodyPr/>
          <a:lstStyle/>
          <a:p>
            <a:pPr algn="ctr" defTabSz="822960">
              <a:buClrTx/>
            </a:pPr>
            <a:r>
              <a:rPr lang="en-US" kern="1200" dirty="0">
                <a:ea typeface="+mn-ea"/>
                <a:cs typeface="+mn-cs"/>
              </a:rPr>
              <a:t>Estimating PI using SHADOW4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C8397-D63C-7691-BB87-3EFDB9376A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5</a:t>
            </a:fld>
            <a:endParaRPr lang="en-GB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7FD769-0D78-40C6-9D22-DF7DE8FD4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46" y="1064937"/>
            <a:ext cx="3186320" cy="24461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D915F2-F7A2-45D1-A848-D2AE58959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210" y="769867"/>
            <a:ext cx="2991885" cy="1786077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BBC4E73E-71B1-40EF-A990-6D7BE7F741A6}"/>
              </a:ext>
            </a:extLst>
          </p:cNvPr>
          <p:cNvSpPr txBox="1"/>
          <p:nvPr/>
        </p:nvSpPr>
        <p:spPr>
          <a:xfrm>
            <a:off x="4572000" y="498782"/>
            <a:ext cx="10469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54061"/>
                </a:solidFill>
                <a:latin typeface="+mn-lt"/>
              </a:rPr>
              <a:t>Square slit</a:t>
            </a:r>
            <a:endParaRPr lang="en-US" dirty="0">
              <a:solidFill>
                <a:srgbClr val="25406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F8379FF-6BF1-475A-8F06-53D8F4866EF5}"/>
              </a:ext>
            </a:extLst>
          </p:cNvPr>
          <p:cNvSpPr txBox="1"/>
          <p:nvPr/>
        </p:nvSpPr>
        <p:spPr>
          <a:xfrm>
            <a:off x="4711148" y="2725147"/>
            <a:ext cx="10204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54061"/>
                </a:solidFill>
                <a:latin typeface="+mn-lt"/>
              </a:rPr>
              <a:t>Circle slit</a:t>
            </a:r>
            <a:endParaRPr lang="en-US" dirty="0">
              <a:solidFill>
                <a:srgbClr val="254061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9B0239F-9DEE-4E0F-BE21-B54EF1E4A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952" y="2997889"/>
            <a:ext cx="3036405" cy="1843531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2D2221C0-5F0E-4E2F-9868-542338E44E30}"/>
              </a:ext>
            </a:extLst>
          </p:cNvPr>
          <p:cNvSpPr txBox="1"/>
          <p:nvPr/>
        </p:nvSpPr>
        <p:spPr>
          <a:xfrm>
            <a:off x="720165" y="1183088"/>
            <a:ext cx="12042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54061"/>
                </a:solidFill>
                <a:latin typeface="+mn-lt"/>
              </a:rPr>
              <a:t>S4 workflow</a:t>
            </a:r>
            <a:endParaRPr lang="en-US" dirty="0">
              <a:solidFill>
                <a:srgbClr val="2540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6472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F851E-D277-932A-4633-D8CD0698C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1C44D9EC-886C-4A7C-8E50-1555BED27E01}"/>
              </a:ext>
            </a:extLst>
          </p:cNvPr>
          <p:cNvSpPr txBox="1"/>
          <p:nvPr/>
        </p:nvSpPr>
        <p:spPr>
          <a:xfrm>
            <a:off x="2241177" y="4292606"/>
            <a:ext cx="4811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+mn-lt"/>
              </a:rPr>
              <a:t>X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38857E-B458-134F-4422-9DC976518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5" y="62425"/>
            <a:ext cx="9039600" cy="553968"/>
          </a:xfrm>
        </p:spPr>
        <p:txBody>
          <a:bodyPr/>
          <a:lstStyle/>
          <a:p>
            <a:pPr algn="ctr" defTabSz="822960">
              <a:buClrTx/>
            </a:pPr>
            <a:r>
              <a:rPr lang="en-US" kern="1200" dirty="0">
                <a:ea typeface="+mn-ea"/>
                <a:cs typeface="+mn-cs"/>
              </a:rPr>
              <a:t>Full scripting: Mirror angular misalignments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C8397-D63C-7691-BB87-3EFDB9376A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6</a:t>
            </a:fld>
            <a:endParaRPr lang="en-GB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7009A60-18FA-43EE-9E6E-57CC3305989B}"/>
              </a:ext>
            </a:extLst>
          </p:cNvPr>
          <p:cNvSpPr/>
          <p:nvPr/>
        </p:nvSpPr>
        <p:spPr>
          <a:xfrm>
            <a:off x="192001" y="712807"/>
            <a:ext cx="87425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+mn-lt"/>
              </a:rPr>
              <a:t>Example on SHADOW4 scripting to get a KB mirror misalignment effect on the beam.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879919-D4B6-4DCC-AB61-0139CE704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18" y="1292507"/>
            <a:ext cx="7966635" cy="10939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502AD6-B983-42C5-84EB-2C5C1970A2AD}"/>
              </a:ext>
            </a:extLst>
          </p:cNvPr>
          <p:cNvSpPr txBox="1"/>
          <p:nvPr/>
        </p:nvSpPr>
        <p:spPr>
          <a:xfrm>
            <a:off x="493059" y="1111370"/>
            <a:ext cx="12042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54061"/>
                </a:solidFill>
                <a:latin typeface="+mn-lt"/>
              </a:rPr>
              <a:t>S4 workflow</a:t>
            </a:r>
            <a:endParaRPr lang="en-US" dirty="0">
              <a:solidFill>
                <a:srgbClr val="25406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F3AFC9-3B4D-4CB5-A06C-7883B5DF5C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983" y="3911666"/>
            <a:ext cx="1231700" cy="55412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AF22F98-F9C8-4A57-971D-82C9535140DC}"/>
              </a:ext>
            </a:extLst>
          </p:cNvPr>
          <p:cNvCxnSpPr>
            <a:cxnSpLocks/>
          </p:cNvCxnSpPr>
          <p:nvPr/>
        </p:nvCxnSpPr>
        <p:spPr>
          <a:xfrm flipV="1">
            <a:off x="2229224" y="3460376"/>
            <a:ext cx="0" cy="645459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BB2D392-2B45-4872-AD5E-3F3DB6AC6780}"/>
              </a:ext>
            </a:extLst>
          </p:cNvPr>
          <p:cNvCxnSpPr>
            <a:cxnSpLocks/>
          </p:cNvCxnSpPr>
          <p:nvPr/>
        </p:nvCxnSpPr>
        <p:spPr>
          <a:xfrm>
            <a:off x="2274047" y="4240306"/>
            <a:ext cx="738094" cy="349623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C4F0511-5B7C-45FA-8E10-0BF95A22E090}"/>
              </a:ext>
            </a:extLst>
          </p:cNvPr>
          <p:cNvCxnSpPr>
            <a:cxnSpLocks/>
          </p:cNvCxnSpPr>
          <p:nvPr/>
        </p:nvCxnSpPr>
        <p:spPr>
          <a:xfrm flipV="1">
            <a:off x="2838824" y="3983318"/>
            <a:ext cx="842682" cy="140446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c 13">
            <a:extLst>
              <a:ext uri="{FF2B5EF4-FFF2-40B4-BE49-F238E27FC236}">
                <a16:creationId xmlns:a16="http://schemas.microsoft.com/office/drawing/2014/main" id="{A07B9E2D-D5B8-45F6-B99C-F0309F94FE3F}"/>
              </a:ext>
            </a:extLst>
          </p:cNvPr>
          <p:cNvSpPr/>
          <p:nvPr/>
        </p:nvSpPr>
        <p:spPr>
          <a:xfrm>
            <a:off x="3203388" y="3783107"/>
            <a:ext cx="197224" cy="430306"/>
          </a:xfrm>
          <a:prstGeom prst="arc">
            <a:avLst>
              <a:gd name="adj1" fmla="val 16200000"/>
              <a:gd name="adj2" fmla="val 13157362"/>
            </a:avLst>
          </a:prstGeom>
          <a:ln>
            <a:solidFill>
              <a:srgbClr val="25406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BB6A8D-A39D-4A3B-8885-774585A3B148}"/>
              </a:ext>
            </a:extLst>
          </p:cNvPr>
          <p:cNvSpPr txBox="1"/>
          <p:nvPr/>
        </p:nvSpPr>
        <p:spPr>
          <a:xfrm>
            <a:off x="3006164" y="3433230"/>
            <a:ext cx="14702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4061"/>
                </a:solidFill>
                <a:latin typeface="+mn-lt"/>
              </a:rPr>
              <a:t>Roll = Rotation Y</a:t>
            </a:r>
            <a:endParaRPr lang="en-US" b="1" dirty="0">
              <a:solidFill>
                <a:srgbClr val="25406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44FB9D3-C3BF-475B-88CD-6E63C799802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20677" y="2912411"/>
            <a:ext cx="1263369" cy="1099294"/>
          </a:xfrm>
          <a:prstGeom prst="rect">
            <a:avLst/>
          </a:prstGeom>
          <a:noFill/>
          <a:ln>
            <a:solidFill>
              <a:srgbClr val="990033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BFBC4B5-22D7-4871-9BEB-94BA9E346E16}"/>
              </a:ext>
            </a:extLst>
          </p:cNvPr>
          <p:cNvSpPr txBox="1"/>
          <p:nvPr/>
        </p:nvSpPr>
        <p:spPr>
          <a:xfrm>
            <a:off x="3642659" y="3829429"/>
            <a:ext cx="4811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+mn-lt"/>
              </a:rPr>
              <a:t>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DAE1BA-DB7D-4FE1-AF69-3B7DA060F126}"/>
              </a:ext>
            </a:extLst>
          </p:cNvPr>
          <p:cNvSpPr txBox="1"/>
          <p:nvPr/>
        </p:nvSpPr>
        <p:spPr>
          <a:xfrm>
            <a:off x="2106707" y="3106276"/>
            <a:ext cx="4811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+mn-lt"/>
              </a:rPr>
              <a:t>Z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AD08CC87-496D-4865-9076-CD4D72E6E2B9}"/>
              </a:ext>
            </a:extLst>
          </p:cNvPr>
          <p:cNvSpPr/>
          <p:nvPr/>
        </p:nvSpPr>
        <p:spPr>
          <a:xfrm>
            <a:off x="2698376" y="4386730"/>
            <a:ext cx="343647" cy="340659"/>
          </a:xfrm>
          <a:prstGeom prst="arc">
            <a:avLst>
              <a:gd name="adj1" fmla="val 16200000"/>
              <a:gd name="adj2" fmla="val 13157362"/>
            </a:avLst>
          </a:prstGeom>
          <a:ln>
            <a:solidFill>
              <a:srgbClr val="990033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820C6D-A238-42AF-BF54-900081041123}"/>
              </a:ext>
            </a:extLst>
          </p:cNvPr>
          <p:cNvSpPr txBox="1"/>
          <p:nvPr/>
        </p:nvSpPr>
        <p:spPr>
          <a:xfrm>
            <a:off x="3015128" y="4434289"/>
            <a:ext cx="16823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  <a:latin typeface="+mn-lt"/>
              </a:rPr>
              <a:t>Pitch = Rotation X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EAFBEDB2-A5CA-491D-B8CC-FDA8894616A3}"/>
              </a:ext>
            </a:extLst>
          </p:cNvPr>
          <p:cNvSpPr/>
          <p:nvPr/>
        </p:nvSpPr>
        <p:spPr>
          <a:xfrm>
            <a:off x="2079812" y="3678519"/>
            <a:ext cx="343647" cy="194235"/>
          </a:xfrm>
          <a:prstGeom prst="arc">
            <a:avLst>
              <a:gd name="adj1" fmla="val 16200000"/>
              <a:gd name="adj2" fmla="val 13157362"/>
            </a:avLst>
          </a:prstGeom>
          <a:ln>
            <a:solidFill>
              <a:srgbClr val="4F81BD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DADDD1-6F1D-45CF-97C6-B82C9BCF6265}"/>
              </a:ext>
            </a:extLst>
          </p:cNvPr>
          <p:cNvSpPr txBox="1"/>
          <p:nvPr/>
        </p:nvSpPr>
        <p:spPr>
          <a:xfrm>
            <a:off x="606611" y="3424265"/>
            <a:ext cx="14702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4F81BD"/>
                </a:solidFill>
                <a:latin typeface="+mn-lt"/>
              </a:rPr>
              <a:t>Yaw = Rotation Z</a:t>
            </a:r>
            <a:endParaRPr lang="en-US" dirty="0">
              <a:solidFill>
                <a:srgbClr val="4F81BD"/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F11C4BE-D424-4B79-9A86-CECFC7F5706E}"/>
              </a:ext>
            </a:extLst>
          </p:cNvPr>
          <p:cNvCxnSpPr>
            <a:cxnSpLocks/>
          </p:cNvCxnSpPr>
          <p:nvPr/>
        </p:nvCxnSpPr>
        <p:spPr>
          <a:xfrm flipH="1">
            <a:off x="5964517" y="2235201"/>
            <a:ext cx="197224" cy="573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FF21E9F8-19D6-4EDE-8B59-E7E2E1C814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326" y="4119146"/>
            <a:ext cx="905803" cy="64955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EAAAF95-DB99-43B0-B232-DA7F68FBEE29}"/>
              </a:ext>
            </a:extLst>
          </p:cNvPr>
          <p:cNvSpPr txBox="1"/>
          <p:nvPr/>
        </p:nvSpPr>
        <p:spPr>
          <a:xfrm>
            <a:off x="328707" y="2710076"/>
            <a:ext cx="29523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54061"/>
                </a:solidFill>
                <a:latin typeface="+mn-lt"/>
              </a:rPr>
              <a:t>Mirror angular misalignment</a:t>
            </a:r>
            <a:endParaRPr lang="en-US" dirty="0">
              <a:solidFill>
                <a:srgbClr val="254061"/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E01F17B-0649-49D8-B1B3-40A3016B46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6710" y="2929402"/>
            <a:ext cx="1754374" cy="654742"/>
          </a:xfrm>
          <a:prstGeom prst="rect">
            <a:avLst/>
          </a:prstGeom>
          <a:ln>
            <a:solidFill>
              <a:srgbClr val="4F81BD"/>
            </a:solidFill>
          </a:ln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B653B83-6E8B-445C-BDD8-FCE424BFB86F}"/>
              </a:ext>
            </a:extLst>
          </p:cNvPr>
          <p:cNvCxnSpPr>
            <a:cxnSpLocks/>
            <a:stCxn id="36" idx="2"/>
          </p:cNvCxnSpPr>
          <p:nvPr/>
        </p:nvCxnSpPr>
        <p:spPr>
          <a:xfrm>
            <a:off x="7483897" y="3584144"/>
            <a:ext cx="0" cy="683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A221881F-9228-481C-AA33-B8EE7FC368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8981" y="4266640"/>
            <a:ext cx="3985373" cy="358106"/>
          </a:xfrm>
          <a:prstGeom prst="rect">
            <a:avLst/>
          </a:prstGeom>
          <a:ln>
            <a:solidFill>
              <a:srgbClr val="4F81BD"/>
            </a:solidFill>
          </a:ln>
        </p:spPr>
      </p:pic>
    </p:spTree>
    <p:extLst>
      <p:ext uri="{BB962C8B-B14F-4D97-AF65-F5344CB8AC3E}">
        <p14:creationId xmlns:p14="http://schemas.microsoft.com/office/powerpoint/2010/main" val="3256646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4" grpId="0" animBg="1"/>
      <p:bldP spid="16" grpId="0"/>
      <p:bldP spid="20" grpId="0"/>
      <p:bldP spid="23" grpId="0"/>
      <p:bldP spid="24" grpId="0" animBg="1"/>
      <p:bldP spid="26" grpId="0"/>
      <p:bldP spid="28" grpId="0" animBg="1"/>
      <p:bldP spid="29" grpId="0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F851E-D277-932A-4633-D8CD0698C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5784AFA-D59F-4350-9A84-06E0469E4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65" y="1513180"/>
            <a:ext cx="4691529" cy="23557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38857E-B458-134F-4422-9DC976518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5" y="62425"/>
            <a:ext cx="9039600" cy="553968"/>
          </a:xfrm>
        </p:spPr>
        <p:txBody>
          <a:bodyPr/>
          <a:lstStyle/>
          <a:p>
            <a:pPr algn="ctr" defTabSz="822960">
              <a:buClrTx/>
            </a:pPr>
            <a:r>
              <a:rPr lang="en-US" kern="1200" dirty="0">
                <a:ea typeface="+mn-ea"/>
                <a:cs typeface="+mn-cs"/>
              </a:rPr>
              <a:t>Full scripting: Mirror angular misalignments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C8397-D63C-7691-BB87-3EFDB9376A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7</a:t>
            </a:fld>
            <a:endParaRPr lang="en-GB" noProof="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7009A60-18FA-43EE-9E6E-57CC3305989B}"/>
              </a:ext>
            </a:extLst>
          </p:cNvPr>
          <p:cNvSpPr/>
          <p:nvPr/>
        </p:nvSpPr>
        <p:spPr>
          <a:xfrm>
            <a:off x="287625" y="1782596"/>
            <a:ext cx="25751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+mn-lt"/>
              </a:rPr>
              <a:t>Full beamline script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920F72-DFEC-46E4-A39B-3DE0D83C6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928" y="1476655"/>
            <a:ext cx="3933825" cy="101025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02A349-4C71-47BF-8470-5B3B9B906821}"/>
              </a:ext>
            </a:extLst>
          </p:cNvPr>
          <p:cNvSpPr/>
          <p:nvPr/>
        </p:nvSpPr>
        <p:spPr>
          <a:xfrm>
            <a:off x="5388543" y="1002667"/>
            <a:ext cx="29127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  <a:latin typeface="+mn-lt"/>
              </a:rPr>
              <a:t>Using a shadow4 beam file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9C4B72B-0262-4E0F-A8B0-966DCFDA37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3659" y="2515721"/>
            <a:ext cx="3491753" cy="2117340"/>
          </a:xfrm>
          <a:prstGeom prst="rect">
            <a:avLst/>
          </a:prstGeom>
          <a:ln>
            <a:solidFill>
              <a:srgbClr val="990033"/>
            </a:solidFill>
          </a:ln>
        </p:spPr>
      </p:pic>
    </p:spTree>
    <p:extLst>
      <p:ext uri="{BB962C8B-B14F-4D97-AF65-F5344CB8AC3E}">
        <p14:creationId xmlns:p14="http://schemas.microsoft.com/office/powerpoint/2010/main" val="1743596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F851E-D277-932A-4633-D8CD0698C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C8397-D63C-7691-BB87-3EFDB9376A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noProof="0" smtClean="0"/>
              <a:t>8</a:t>
            </a:fld>
            <a:endParaRPr lang="en-GB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5165B9C-6AB7-40E6-87AB-3AEB8367E436}"/>
              </a:ext>
            </a:extLst>
          </p:cNvPr>
          <p:cNvSpPr txBox="1">
            <a:spLocks/>
          </p:cNvSpPr>
          <p:nvPr/>
        </p:nvSpPr>
        <p:spPr>
          <a:xfrm>
            <a:off x="1920124" y="2435486"/>
            <a:ext cx="4787499" cy="61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sz="2400" b="1" i="0" u="none" strike="noStrike" cap="none">
                <a:solidFill>
                  <a:srgbClr val="254061"/>
                </a:solidFill>
                <a:latin typeface="Candara" panose="020E0502030303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sz="2500" b="1" i="0" u="none" strike="noStrike" cap="none">
                <a:solidFill>
                  <a:srgbClr val="000000"/>
                </a:solidFill>
                <a:latin typeface="Candara" panose="020E0502030303020204" pitchFamily="34" charset="0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sz="2500" b="1" i="0" u="none" strike="noStrike" cap="none">
                <a:solidFill>
                  <a:srgbClr val="000000"/>
                </a:solidFill>
                <a:latin typeface="Candara" panose="020E0502030303020204" pitchFamily="34" charset="0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sz="2500" b="1" i="0" u="none" strike="noStrike" cap="none">
                <a:solidFill>
                  <a:srgbClr val="000000"/>
                </a:solidFill>
                <a:latin typeface="Candara" panose="020E0502030303020204" pitchFamily="34" charset="0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sz="2500" b="1" i="0" u="none" strike="noStrike" cap="none">
                <a:solidFill>
                  <a:srgbClr val="000000"/>
                </a:solidFill>
                <a:latin typeface="Candara" panose="020E0502030303020204" pitchFamily="34" charset="0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sz="2500" b="1" i="0" u="none" strike="noStrike" cap="none">
                <a:solidFill>
                  <a:srgbClr val="000000"/>
                </a:solidFill>
                <a:latin typeface="Candara" panose="020E0502030303020204" pitchFamily="34" charset="0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sz="2500" b="1" i="0" u="none" strike="noStrike" cap="none">
                <a:solidFill>
                  <a:srgbClr val="000000"/>
                </a:solidFill>
                <a:latin typeface="Candara" panose="020E0502030303020204" pitchFamily="34" charset="0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sz="2500" b="1" i="0" u="none" strike="noStrike" cap="none">
                <a:solidFill>
                  <a:srgbClr val="000000"/>
                </a:solidFill>
                <a:latin typeface="Candara" panose="020E0502030303020204" pitchFamily="34" charset="0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sz="2500" b="1" i="0" u="none" strike="noStrike" cap="none">
                <a:solidFill>
                  <a:srgbClr val="000000"/>
                </a:solidFill>
                <a:latin typeface="Candara" panose="020E0502030303020204" pitchFamily="34" charset="0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28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61127494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Candar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12220</TotalTime>
  <Words>231</Words>
  <Application>Microsoft Office PowerPoint</Application>
  <PresentationFormat>On-screen Show (16:9)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Cambria Math</vt:lpstr>
      <vt:lpstr>Candara</vt:lpstr>
      <vt:lpstr>Wingdings</vt:lpstr>
      <vt:lpstr>Simple Light</vt:lpstr>
      <vt:lpstr>Custom Design</vt:lpstr>
      <vt:lpstr>PowerPoint Presentation</vt:lpstr>
      <vt:lpstr>Hands-on scripting</vt:lpstr>
      <vt:lpstr>Python scripts on OASYS GUI - SHADOW4</vt:lpstr>
      <vt:lpstr>Estimating PI using SHADOW4</vt:lpstr>
      <vt:lpstr>Estimating PI using SHADOW4</vt:lpstr>
      <vt:lpstr>Full scripting: Mirror angular misalignments</vt:lpstr>
      <vt:lpstr>Full scripting: Mirror angular misalignments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XOPPY</dc:title>
  <dc:creator>Juan Reyes Herrera</dc:creator>
  <cp:lastModifiedBy>Juan REYES HERRERA</cp:lastModifiedBy>
  <cp:revision>650</cp:revision>
  <dcterms:modified xsi:type="dcterms:W3CDTF">2026-05-14T10:07:18Z</dcterms:modified>
</cp:coreProperties>
</file>